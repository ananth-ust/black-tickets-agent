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BlackTickets presentation.
BlackTickets is a production-grade event booking platform I built on AWS using microservices architecture and Terraform for infrastructure-as-code.
Today I'll walk you through the complete architecture, design decisions, challenges we faced, and the lessons learned.
The presentation is structured to cover: overview, networking, compute, data layer, security, observability, event-driven architecture, and future roadmap.
Feel free to ask questions at any time, or hold them for the Q&amp;A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BlackTickets solves a real-world problem: a scalable, cloud-native event booking system.
Users can register, log in, browse events, book tickets, and upload event posters.
The five key engineering objectives are:
1. Scalable - we handle variable load using Auto Scaling Groups
2. Secure - WAF, private subnets, no public EC2 instances, Secrets Manager for credentials
3. Highly Available - multi-AZ deployment with load balancers
4. Observable - CloudWatch dashboards with alarms and notifications
5. Production Ready - everything is Terraform-managed with remote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architecture. Let me walk through it left to right.
User traffic enters through AWS WAF which filters malicious requests.
The Public ALB routes to our React/Nginx Frontend running in private subnets.
The Frontend communicates with backend services via a Private Internal ALB.
We have four microservices: Identity, Event, Booking, and Chatbot.
All services connect to a shared PostgreSQL RDS instance.
On the right side, we have our event-driven notification system.
When a booking is created, it publishes to SQS.
Lambda polls SQS and sends the notification via SNS to the user's email.
This decouples the booking operation from the notification delivery, improving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VPC uses a three-tier subnet architecture across two availability zones.
Public Subnets: Host the NAT Gateway and ALB. These are the only resources with internet exposure.
Private App Subnets: EC2 instances running our microservices. No public IPs.
Private DB Subnets: RDS PostgreSQL. Completely isolated from internet.
Why subnet isolation matters:
- Defense in depth: if a public-facing component is compromised, attackers can't directly reach the database
- Least-privilege networking: security groups and route tables enforce strict east-west traffic rules
- Compliance: database isolation is required by most security frameworks
The NAT Gateway allows private EC2 instances to make outbound requests (software updates, API calls) without being directly reachable from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VPC Endpoints, every AWS API call from a private EC2 instance routes through the NAT Gateway — which costs money per GB.
By adding Interface Endpoints for ECR, Secrets Manager, CloudWatch, and SSM, traffic stays within the AWS backbone network.
The S3 Gateway Endpoint is free and routes S3 traffic through AWS's internal network instead of the internet.
Security benefit: Even if someone compromises the EC2 instance, they can't exfiltrate data through the NAT Gateway because our security group rules only allow traffic to specific VPC endpoint services.
Cost benefit: In a busy environment pulling Docker images from ECR frequently, this can save hundreds of dollars per month in NAT Gateway data processing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two Application Load Balancers — a deliberate design choice.
PUBLIC ALB:
- Internet-facing, sits in public subnets
- Only routes traffic to the frontend (React + Nginx)
- Integrates with AWS WAF for DDoS and injection protection
PRIVATE ALB:
- Internal only, not reachable from internet
- Uses path-based routing to direct requests to the correct microservice
- /auth and /users go to Identity Service
- /events goes to Event Service
- /bookings goes to Booking Service
- /chatbot goes to Chatbot Service
Why two ALBs? Security and separation of concerns.
If we had one ALB, we'd need complex routing rules and risk accidentally exposing backend APIs.
The Private ALB is unreachable from the internet — a backend API is only accessible if you first go through the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compute layer uses a combination of Launch Templates, Auto Scaling Groups, and Instance Refresh.
Launch Template: Defines the EC2 configuration — AMI, instance type, security groups, user data script that installs Docker and pulls the latest container images.
Auto Scaling Group:
- Minimum 2 instances (one per AZ for high availability)
- Scales up on CPU &gt; 70% or ALB request count
- Scales in when load drops
Self-Healing: ALB health checks continuously verify instance health. Unhealthy instances are terminated and replaced automatically without human intervention.
Instance Refresh: When we update the Launch Template (new AMI), Instance Refresh does a rolling replacement — taking down one instance at a time and launching a new one, with configurable health check wait time. This gives us zero-downtime deployments without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layer uses Amazon RDS for PostgreSQL managed service.
Connection flow:
1. Application running in Private App Subnet initiates connection
2. Connection uses SSL/TLS — enforced at the parameter group level with rds.force_ssl=1
3. Security Group restricts port 5432 access to only the App Subnet CIDR
4. RDS instance resides in the Private DB Subnet with no public access
Key design decisions:
- Credentials stored in Secrets Manager, not in environment variables or code
- Multi-AZ enabled for automatic failover if the primary instance fails
- Automated backups provide recovery point objective (RPO) of 1 day, with PITR for finer granularity
- No public endpoint — the database is completely isolated from internet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Management is a critical security requirement. Hardcoded credentials in source code is one of the most common vulnerabilities found in cloud applications.
Our approach with AWS Secrets Manager:
1. All sensitive values stored as secrets: DB passwords, JWT signing keys, queue URLs, CloudFront domain
2. EC2 instances have an IAM Role with a policy that allows GetSecretValue only for specific secret ARNs
3. Application retrieves secrets at startup time using the AWS SDK
4. Secrets can be rotated without redeploying the application
5. Every secret access is logged in CloudTrail — full audit trail
The VPC Endpoint for Secrets Manager means retrieval happens over private AWS network, not via NAT Gateway — both cheaper and more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S3 and CloudFront integration handles all static file delivery — primarily event poster images uploaded by admins.
Upload flow:
1. Admin uploads image through the frontend
2. Event Service generates an S3 presigned URL and stores the object in the private bucket
3. The S3 object key is stored in the RDS database
4. When a user views an event, the frontend constructs the CloudFront URL
Security model:
- S3 bucket has Block All Public Access enabled
- Origin Access Control (OAC) creates a secure channel between CloudFront and S3
- S3 bucket policy only allows the specific CloudFront distribution to read objects
- Direct S3 URLs return 403 Forbidden
This is a significant improvement over storing images directly in the database or making the S3 bucket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my favorite parts of the architecture — the asynchronous booking notification system.
Synchronous alternative (what NOT to do):
Booking Service → sends email directly → waits for SMTP response → returns to user
Problem: if email takes 3 seconds, every booking takes 3+ seconds. Email provider outage = booking failure.
Our asynchronous approach:
1. Booking Service creates booking in RDS, publishes event to SQS, immediately returns 200 OK to user
2. Lambda function polls SQS on a schedule
3. Lambda calls SNS to dispatch the email
4. SNS handles retry logic for email delivery
This pattern is called 'fire and forget' — the booking operation completes in milliseconds.
The email is a side effect that happens asynchronously, with full reliability guarantees from SQS.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comprehensive CloudWatch Dashboard with 8 widget panels covering every tier of the application.
What each widget monitors:
ALB Request Rate: Tracks traffic volume. Sudden drops might indicate an issue upstream.
ALB 5XX Error Rate: Backend application errors. This is our primary health indicator.
ASG Instance Count: How many instances are running. Shows scaling events.
EC2 CPU Utilization: Compute load. Spikes trigger scale-out.
RDS CPU &amp; Connections: Database health. Connection pool exhaustion is a common failure mode.
Lambda Invocations + Errors: Notification pipeline health.
SQS Queue Depth: If the queue grows, Lambda can't keep up — triggers alarm.
CloudFront Cache Hit Rate: Low hit rate means more origin requests and higher S3 costs.
The dashboard gives us operational visibility across the entire stack from a single pane of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Alarms ensure we're notified before users notice problems.
Our alarm strategy:
HIGH CPU: Indicates compute stress. May trigger auto-scaling, but if persistent, indicates a code issue.
ALB 5XX: Any 5XX from the backend is a critical alarm. 10+ errors in 5 minutes pages the on-call engineer.
Lambda Errors: Notification pipeline failures. Users won't receive booking confirmations.
SQS Backlog: Lambda can't consume messages fast enough. May need concurrency increase.
RDS Connections: Connection pool exhaustion causes complete service outages. Critical alarm.
Unhealthy Hosts: If ALB can't reach any backend instances, the application is down.
All alarms route to SNS, which sends email and can integrate with PagerDuty or Slack.
We set composite alarms where appropriate — e.g., only alert if BOTH CPU is high AND 5XX errors increase, to reduce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WAF sits in front of our Public ALB and is our first line of defense against web attacks.
We use managed rule sets rather than building custom rules from scratch:
CommonRuleSet: AWS-maintained rules based on OWASP Top 10. Updated automatically.
SQLiRuleSet: Specifically targets SQL injection patterns in all request components.
Rate Limiting: Prevents brute force attacks on the login endpoint and general DDoS.
The SizeRestrictions_BODY incident was a valuable lesson:
We enabled all managed rules at once in BLOCK mode for a quick security win.
Image uploads immediately started failing in production.
WAF logs in CloudWatch showed the SizeRestrictions_BODY rule was the culprit.
We changed the override action to COUNT — requests are still logged, but not blocked.
Best practice: Start every WAF rule in COUNT mode. Monitor logs for 2 weeks. Only switch to BLOCK when you're confident in false positive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CloudTrail is our compliance and forensics tool. Every AWS API call is logged — automatically, with no additional configuration needed at the service level.
Key scenarios where CloudTrail saved us:
1. During development, a Security Group rule was accidentally deleted. CloudTrail showed exactly which IAM user made the API call and when.
2. We use CloudTrail logs to demonstrate compliance — every access to Secrets Manager is logged, satisfying audit requirements.
Storage architecture:
- Logs delivered to S3 with server-side encryption
- S3 bucket versioning and MFA delete prevent tampering
- CloudWatch Logs integration for real-time monitoring and alerting
- Use Athena to run SQL queries across CloudTrail logs for incident investigation
Important: CloudTrail logs data plane events (S3 object access, Lambda invocations) require explicit enablement and incur additional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remote state is essential for any real-world infrastructure project.
Local state was our starting point — but it becomes a problem immediately:
- If your laptop dies, the state file is gone, and Terraform no longer knows what it manages
- Two engineers running apply simultaneously without locking will corrupt the state
- The state file contains sensitive data (resource IDs, some credentials) and shouldn't be in git
Our solution:
S3 Backend: The state file is stored in an S3 bucket with versioning enabled. If state is accidentally corrupted, we can restore a previous version.
DynamoDB Lock: Before any plan or apply, Terraform writes a lock record to DynamoDB. Other engineers see the lock and must wait. This prevents state corruption from concurrent operations.
The backend configuration requires only adding 4-5 lines to your Terraform provider block. Very low implementation cost for a critical reliability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a complete booking request from the user's perspective.
Step 1: User clicks 'Book Ticket' in the browser. HTTPS request to our CloudFront/ALB endpoint.
Step 2: Request hits AWS WAF. SQL injection and malicious pattern checks. &lt; 1ms overhead.
Step 3: Public ALB receives request, terminates TLS. Routes to Frontend target group.
Step 4: React Frontend (served by Nginx) receives the request and proxies it to the Private ALB.
Step 5: Private ALB inspects the path /bookings and routes to Booking Service target group.
Step 6: Booking Service validates the request, applies business rules (is the event sold out?).
Step 7: Booking Service retrieves DB credentials from Secrets Manager (cached after first call).
Step 8: Writes the booking record to RDS PostgreSQL.
Response: 200 OK with booking ID returns back through the same path to the user.
After the synchronous response, the async notification flow runs: SQS → Lambda → SNS → Email.
The user sees 'Booking confirmed!' in &lt; 500ms. Email arrives within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production experience — these were actual issues encountered during development and deployment.
Terraform State Drift: The #1 mistake in IaC projects. A quick console change breaks the Terraform mental model. We enforced a strict policy: if it's not in Terraform, it doesn't exist.
WAF False Positives: This is very common. Always enable WAF rules in COUNT mode first, run for 2 weeks, review logs, then switch to BLOCK. Never go straight to BLOCK in production.
CloudFront OAC: AWS deprecated OAI in favor of OAC. The migration requires understanding the new bucket policy format — the service principal changed from the legacy OAI principal to cloudfront.amazonaws.com.
ASG Health Checks: Docker image pulls can take 60-120 seconds. If the health check fires before the application is ready, the instance is marked unhealthy and terminated — causing a loop. Always set grace period generously.
VPC Endpoint DNS: AWS Interface Endpoints use private DNS by default. After creating the endpoint, instances need a DNS flush or restart to pick up the new private DNS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optimization is a first-class engineering concern in cloud architecture.
Our six major cost optimization strategies:
1. VPC Endpoints: The biggest win for API-heavy workloads. NAT Gateway charges $0.045/GB of processed data. ECR image pulls alone can generate significant monthly costs.
2. CloudFront Caching: S3 charges $0.005-0.023/1000 GET requests by region. A 90% cache hit rate reduces S3 requests by 10x.
3. Auto Scaling: Scaling from 4 to 2 instances during 12 off-peak hours saves ~33% on EC2 costs.
4. Lambda for Notifications: A t3.micro running a notification daemon 24/7 costs ~$8/month. Lambda costs pennies at our booking volume.
5. S3 Lifecycle: Glacier Instant Retrieval is $0.004/GB vs Standard $0.023/GB. CloudTrail logs aren't frequently accessed.
6. Right-sizing: Start small, measure, then scale. Don't pre-provision for peak capacity you don't know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production-ready, but there are clear paths to make it enterprise-grade.
Phase 1 — DNS &amp; TLS: Currently users access the platform via ALB DNS name. Route 53 + ACM gives us a professional domain with automated certificate renewal.
Phase 2 — CI/CD: The current deployment requires manual instance refresh triggers. GitHub Actions can automate the full pipeline: code push → Terraform plan → Docker build → ECR push → Instance Refresh.
Phase 3 — Security Hardening: KMS encryption for database and S3 brings us closer to SOC2 compliance. Secrets rotation automates the operational burden of credential management.
Phase 4 — Advanced Architecture: EventBridge would replace SQS as a more feature-rich event bus. Blue/Green deployments (two separate ASGs) enable instant rollback without the warm-up time of Instance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areas represent the core competencies developed through building BlackTickets.
If I had to highlight the three most important learnings:
1. Security First: Every architectural decision should start with the question 'what's the blast radius if this component is compromised?' Private subnets, Secrets Manager, and WAF aren't overhead — they're fundamental.
2. Observability: In production, the first question when something breaks is always 'what does CloudWatch say?' Building dashboards and alarms upfront means you're never flying blind.
3. Everything as Code: Terraform remote state is the single change that moved this from a hobby project to a production-grade platform. If it's not in code, it doesn't exist, and it can't be reliably reproduced.
The troubleshooting experience with WAF, state drift, and rolling updates is arguably the most valuable — because that's the day-to-day reality of running production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Summary of what we covered:
- Complete microservices architecture on AWS with 20+ services
- Three-tier VPC with subnet isolation and VPC Endpoints
- Dual ALB design for security separation
- Auto Scaling with Instance Refresh for zero-downtime deployments
- RDS PostgreSQL with encryption and private access only
- Secrets Manager for zero hardcoded credentials
- S3 + CloudFront with OAC for secure static delivery
- Event-driven notifications with SQS, Lambda, and SNS
- CloudWatch monitoring with dashboards and alarms
- WAF protection with production troubleshooting experience
- CloudTrail for auditing and compliance
- Terraform with remote state for reliable IaC
I'm happy to take any questions. Feel free to ask about any specific service, design decision, or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029200" y="-1371600"/>
            <a:ext cx="6400800" cy="6400800"/>
          </a:xfrm>
          <a:prstGeom prst="ellipse">
            <a:avLst/>
          </a:prstGeom>
          <a:solidFill>
            <a:srgbClr val="1A3A6B">
              <a:alpha val="25000"/>
            </a:srgbClr>
          </a:solidFill>
          <a:ln/>
        </p:spPr>
      </p:sp>
      <p:sp>
        <p:nvSpPr>
          <p:cNvPr id="3" name="Shape 1"/>
          <p:cNvSpPr/>
          <p:nvPr/>
        </p:nvSpPr>
        <p:spPr>
          <a:xfrm>
            <a:off x="-1828800" y="1828800"/>
            <a:ext cx="4572000" cy="4572000"/>
          </a:xfrm>
          <a:prstGeom prst="ellipse">
            <a:avLst/>
          </a:prstGeom>
          <a:solidFill>
            <a:srgbClr val="2563EB">
              <a:alpha val="15000"/>
            </a:srgbClr>
          </a:solidFill>
          <a:ln/>
        </p:spPr>
      </p:sp>
      <p:sp>
        <p:nvSpPr>
          <p:cNvPr id="4" name="Shape 2"/>
          <p:cNvSpPr/>
          <p:nvPr/>
        </p:nvSpPr>
        <p:spPr>
          <a:xfrm>
            <a:off x="7132320" y="274320"/>
            <a:ext cx="1645920" cy="457200"/>
          </a:xfrm>
          <a:prstGeom prst="roundRect">
            <a:avLst>
              <a:gd name="adj" fmla="val 10000"/>
            </a:avLst>
          </a:prstGeom>
          <a:solidFill>
            <a:srgbClr val="FF9900"/>
          </a:solidFill>
          <a:ln/>
        </p:spPr>
      </p:sp>
      <p:sp>
        <p:nvSpPr>
          <p:cNvPr id="5" name="Text 3"/>
          <p:cNvSpPr/>
          <p:nvPr/>
        </p:nvSpPr>
        <p:spPr>
          <a:xfrm>
            <a:off x="7132320" y="274320"/>
            <a:ext cx="1645920" cy="457200"/>
          </a:xfrm>
          <a:prstGeom prst="rect">
            <a:avLst/>
          </a:prstGeom>
          <a:noFill/>
          <a:ln/>
        </p:spPr>
        <p:txBody>
          <a:bodyPr wrap="square" lIns="0" tIns="0" rIns="0" bIns="0" rtlCol="0" anchor="ctr"/>
          <a:lstStyle/>
          <a:p>
            <a:pPr algn="ctr" indent="0" marL="0">
              <a:buNone/>
            </a:pPr>
            <a:r>
              <a:rPr lang="en-US" sz="900" b="1" dirty="0">
                <a:solidFill>
                  <a:srgbClr val="0A1628"/>
                </a:solidFill>
                <a:latin typeface="Calibri" pitchFamily="34" charset="0"/>
                <a:ea typeface="Calibri" pitchFamily="34" charset="-122"/>
                <a:cs typeface="Calibri" pitchFamily="34" charset="-120"/>
              </a:rPr>
              <a:t>AWS + Terraform</a:t>
            </a:r>
            <a:endParaRPr lang="en-US" sz="900" dirty="0"/>
          </a:p>
        </p:txBody>
      </p:sp>
      <p:sp>
        <p:nvSpPr>
          <p:cNvPr id="6" name="Text 4"/>
          <p:cNvSpPr/>
          <p:nvPr/>
        </p:nvSpPr>
        <p:spPr>
          <a:xfrm>
            <a:off x="548640" y="1280160"/>
            <a:ext cx="8046720" cy="1097280"/>
          </a:xfrm>
          <a:prstGeom prst="rect">
            <a:avLst/>
          </a:prstGeom>
          <a:noFill/>
          <a:ln/>
        </p:spPr>
        <p:txBody>
          <a:bodyPr wrap="square" lIns="0" tIns="0" rIns="0" bIns="0" rtlCol="0" anchor="ctr"/>
          <a:lstStyle/>
          <a:p>
            <a:pPr algn="l" indent="0" marL="0">
              <a:buNone/>
            </a:pPr>
            <a:r>
              <a:rPr lang="en-US" sz="6000" b="1" dirty="0">
                <a:solidFill>
                  <a:srgbClr val="FFFFFF"/>
                </a:solidFill>
                <a:latin typeface="Calibri" pitchFamily="34" charset="0"/>
                <a:ea typeface="Calibri" pitchFamily="34" charset="-122"/>
                <a:cs typeface="Calibri" pitchFamily="34" charset="-120"/>
              </a:rPr>
              <a:t>BlackTickets</a:t>
            </a:r>
            <a:endParaRPr lang="en-US" sz="6000" dirty="0"/>
          </a:p>
        </p:txBody>
      </p:sp>
      <p:sp>
        <p:nvSpPr>
          <p:cNvPr id="7" name="Shape 5"/>
          <p:cNvSpPr/>
          <p:nvPr/>
        </p:nvSpPr>
        <p:spPr>
          <a:xfrm>
            <a:off x="548640" y="2423160"/>
            <a:ext cx="2286000" cy="64008"/>
          </a:xfrm>
          <a:prstGeom prst="rect">
            <a:avLst/>
          </a:prstGeom>
          <a:solidFill>
            <a:srgbClr val="FF9900"/>
          </a:solidFill>
          <a:ln/>
        </p:spPr>
      </p:sp>
      <p:sp>
        <p:nvSpPr>
          <p:cNvPr id="8" name="Text 6"/>
          <p:cNvSpPr/>
          <p:nvPr/>
        </p:nvSpPr>
        <p:spPr>
          <a:xfrm>
            <a:off x="548640" y="2606040"/>
            <a:ext cx="8046720" cy="548640"/>
          </a:xfrm>
          <a:prstGeom prst="rect">
            <a:avLst/>
          </a:prstGeom>
          <a:noFill/>
          <a:ln/>
        </p:spPr>
        <p:txBody>
          <a:bodyPr wrap="square" lIns="0" tIns="0" rIns="0" bIns="0" rtlCol="0" anchor="ctr"/>
          <a:lstStyle/>
          <a:p>
            <a:pPr algn="l" indent="0" marL="0">
              <a:buNone/>
            </a:pPr>
            <a:r>
              <a:rPr lang="en-US" sz="2200" dirty="0">
                <a:solidFill>
                  <a:srgbClr val="BFDBFE"/>
                </a:solidFill>
                <a:latin typeface="Calibri" pitchFamily="34" charset="0"/>
                <a:ea typeface="Calibri" pitchFamily="34" charset="-122"/>
                <a:cs typeface="Calibri" pitchFamily="34" charset="-120"/>
              </a:rPr>
              <a:t>Production-Style AWS Microservices Platform</a:t>
            </a:r>
            <a:endParaRPr lang="en-US" sz="2200" dirty="0"/>
          </a:p>
        </p:txBody>
      </p:sp>
      <p:sp>
        <p:nvSpPr>
          <p:cNvPr id="9" name="Shape 7"/>
          <p:cNvSpPr/>
          <p:nvPr/>
        </p:nvSpPr>
        <p:spPr>
          <a:xfrm>
            <a:off x="548640" y="3383280"/>
            <a:ext cx="2468880" cy="1280160"/>
          </a:xfrm>
          <a:prstGeom prst="roundRect">
            <a:avLst>
              <a:gd name="adj" fmla="val 7143"/>
            </a:avLst>
          </a:prstGeom>
          <a:solidFill>
            <a:srgbClr val="1A3A6B">
              <a:alpha val="60000"/>
            </a:srgbClr>
          </a:solidFill>
          <a:ln w="12700">
            <a:solidFill>
              <a:srgbClr val="2563EB"/>
            </a:solidFill>
            <a:prstDash val="solid"/>
          </a:ln>
        </p:spPr>
      </p:sp>
      <p:pic>
        <p:nvPicPr>
          <p:cNvPr id="10" name="Image 0" descr="preencoded.png">    </p:cNvPr>
          <p:cNvPicPr>
            <a:picLocks noChangeAspect="1"/>
          </p:cNvPicPr>
          <p:nvPr/>
        </p:nvPicPr>
        <p:blipFill>
          <a:blip r:embed="rId1"/>
          <a:stretch>
            <a:fillRect/>
          </a:stretch>
        </p:blipFill>
        <p:spPr>
          <a:xfrm>
            <a:off x="731520" y="3493008"/>
            <a:ext cx="457200" cy="457200"/>
          </a:xfrm>
          <a:prstGeom prst="rect">
            <a:avLst/>
          </a:prstGeom>
        </p:spPr>
      </p:pic>
      <p:sp>
        <p:nvSpPr>
          <p:cNvPr id="11" name="Text 8"/>
          <p:cNvSpPr/>
          <p:nvPr/>
        </p:nvSpPr>
        <p:spPr>
          <a:xfrm>
            <a:off x="1280160" y="3493008"/>
            <a:ext cx="1554480" cy="8229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Microservices</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12" name="Shape 9"/>
          <p:cNvSpPr/>
          <p:nvPr/>
        </p:nvSpPr>
        <p:spPr>
          <a:xfrm>
            <a:off x="3383280" y="3383280"/>
            <a:ext cx="2468880" cy="1280160"/>
          </a:xfrm>
          <a:prstGeom prst="roundRect">
            <a:avLst>
              <a:gd name="adj" fmla="val 7143"/>
            </a:avLst>
          </a:prstGeom>
          <a:solidFill>
            <a:srgbClr val="1A3A6B">
              <a:alpha val="60000"/>
            </a:srgbClr>
          </a:solidFill>
          <a:ln w="12700">
            <a:solidFill>
              <a:srgbClr val="2563EB"/>
            </a:solidFill>
            <a:prstDash val="solid"/>
          </a:ln>
        </p:spPr>
      </p:sp>
      <p:pic>
        <p:nvPicPr>
          <p:cNvPr id="13" name="Image 1" descr="preencoded.png">    </p:cNvPr>
          <p:cNvPicPr>
            <a:picLocks noChangeAspect="1"/>
          </p:cNvPicPr>
          <p:nvPr/>
        </p:nvPicPr>
        <p:blipFill>
          <a:blip r:embed="rId2"/>
          <a:stretch>
            <a:fillRect/>
          </a:stretch>
        </p:blipFill>
        <p:spPr>
          <a:xfrm>
            <a:off x="3566160" y="3493008"/>
            <a:ext cx="457200" cy="457200"/>
          </a:xfrm>
          <a:prstGeom prst="rect">
            <a:avLst/>
          </a:prstGeom>
        </p:spPr>
      </p:pic>
      <p:sp>
        <p:nvSpPr>
          <p:cNvPr id="14" name="Text 10"/>
          <p:cNvSpPr/>
          <p:nvPr/>
        </p:nvSpPr>
        <p:spPr>
          <a:xfrm>
            <a:off x="4114800" y="3493008"/>
            <a:ext cx="1554480" cy="8229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AWS Cloud</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Infrastructure</a:t>
            </a:r>
            <a:endParaRPr lang="en-US" sz="1300" dirty="0"/>
          </a:p>
        </p:txBody>
      </p:sp>
      <p:sp>
        <p:nvSpPr>
          <p:cNvPr id="15" name="Shape 11"/>
          <p:cNvSpPr/>
          <p:nvPr/>
        </p:nvSpPr>
        <p:spPr>
          <a:xfrm>
            <a:off x="6217920" y="3383280"/>
            <a:ext cx="2468880" cy="1280160"/>
          </a:xfrm>
          <a:prstGeom prst="roundRect">
            <a:avLst>
              <a:gd name="adj" fmla="val 7143"/>
            </a:avLst>
          </a:prstGeom>
          <a:solidFill>
            <a:srgbClr val="1A3A6B">
              <a:alpha val="60000"/>
            </a:srgbClr>
          </a:solidFill>
          <a:ln w="12700">
            <a:solidFill>
              <a:srgbClr val="2563EB"/>
            </a:solidFill>
            <a:prstDash val="solid"/>
          </a:ln>
        </p:spPr>
      </p:sp>
      <p:pic>
        <p:nvPicPr>
          <p:cNvPr id="16" name="Image 2" descr="preencoded.png">    </p:cNvPr>
          <p:cNvPicPr>
            <a:picLocks noChangeAspect="1"/>
          </p:cNvPicPr>
          <p:nvPr/>
        </p:nvPicPr>
        <p:blipFill>
          <a:blip r:embed="rId3"/>
          <a:stretch>
            <a:fillRect/>
          </a:stretch>
        </p:blipFill>
        <p:spPr>
          <a:xfrm>
            <a:off x="6400800" y="3493008"/>
            <a:ext cx="457200" cy="457200"/>
          </a:xfrm>
          <a:prstGeom prst="rect">
            <a:avLst/>
          </a:prstGeom>
        </p:spPr>
      </p:pic>
      <p:sp>
        <p:nvSpPr>
          <p:cNvPr id="17" name="Text 12"/>
          <p:cNvSpPr/>
          <p:nvPr/>
        </p:nvSpPr>
        <p:spPr>
          <a:xfrm>
            <a:off x="6949440" y="3493008"/>
            <a:ext cx="1554480" cy="8229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Terraform</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IaC</a:t>
            </a:r>
            <a:endParaRPr lang="en-US" sz="1300" dirty="0"/>
          </a:p>
        </p:txBody>
      </p:sp>
      <p:sp>
        <p:nvSpPr>
          <p:cNvPr id="18" name="Text 13"/>
          <p:cNvSpPr/>
          <p:nvPr/>
        </p:nvSpPr>
        <p:spPr>
          <a:xfrm>
            <a:off x="457200" y="4846320"/>
            <a:ext cx="822960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Cloud Engineering Presentation  |  Technical Review Panel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365760" y="914400"/>
            <a:ext cx="4114800" cy="3931920"/>
          </a:xfrm>
          <a:prstGeom prst="roundRect">
            <a:avLst>
              <a:gd name="adj" fmla="val 2326"/>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548640" y="1051560"/>
            <a:ext cx="3749040" cy="411480"/>
          </a:xfrm>
          <a:prstGeom prst="rect">
            <a:avLst/>
          </a:prstGeom>
          <a:noFill/>
          <a:ln/>
        </p:spPr>
        <p:txBody>
          <a:bodyPr wrap="square" lIns="0" tIns="0" rIns="0" bIns="0" rtlCol="0" anchor="ctr"/>
          <a:lstStyle/>
          <a:p>
            <a:pPr algn="l" indent="0" marL="0">
              <a:buNone/>
            </a:pPr>
            <a:r>
              <a:rPr lang="en-US" sz="1500" b="1" dirty="0">
                <a:solidFill>
                  <a:srgbClr val="0D2149"/>
                </a:solidFill>
                <a:latin typeface="Calibri" pitchFamily="34" charset="0"/>
                <a:ea typeface="Calibri" pitchFamily="34" charset="-122"/>
                <a:cs typeface="Calibri" pitchFamily="34" charset="-120"/>
              </a:rPr>
              <a:t>Business Problem</a:t>
            </a:r>
            <a:endParaRPr lang="en-US" sz="1500" dirty="0"/>
          </a:p>
        </p:txBody>
      </p:sp>
      <p:pic>
        <p:nvPicPr>
          <p:cNvPr id="6" name="Image 0" descr="preencoded.png">    </p:cNvPr>
          <p:cNvPicPr>
            <a:picLocks noChangeAspect="1"/>
          </p:cNvPicPr>
          <p:nvPr/>
        </p:nvPicPr>
        <p:blipFill>
          <a:blip r:embed="rId1"/>
          <a:stretch>
            <a:fillRect/>
          </a:stretch>
        </p:blipFill>
        <p:spPr>
          <a:xfrm>
            <a:off x="594360" y="1572768"/>
            <a:ext cx="256032" cy="256032"/>
          </a:xfrm>
          <a:prstGeom prst="rect">
            <a:avLst/>
          </a:prstGeom>
        </p:spPr>
      </p:pic>
      <p:sp>
        <p:nvSpPr>
          <p:cNvPr id="7" name="Text 4"/>
          <p:cNvSpPr/>
          <p:nvPr/>
        </p:nvSpPr>
        <p:spPr>
          <a:xfrm>
            <a:off x="960120" y="1554480"/>
            <a:ext cx="3291840" cy="292608"/>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Register &amp; Login securely</a:t>
            </a:r>
            <a:endParaRPr lang="en-US" sz="1300" dirty="0"/>
          </a:p>
        </p:txBody>
      </p:sp>
      <p:pic>
        <p:nvPicPr>
          <p:cNvPr id="8" name="Image 1" descr="preencoded.png">    </p:cNvPr>
          <p:cNvPicPr>
            <a:picLocks noChangeAspect="1"/>
          </p:cNvPicPr>
          <p:nvPr/>
        </p:nvPicPr>
        <p:blipFill>
          <a:blip r:embed="rId2"/>
          <a:stretch>
            <a:fillRect/>
          </a:stretch>
        </p:blipFill>
        <p:spPr>
          <a:xfrm>
            <a:off x="594360" y="2048256"/>
            <a:ext cx="256032" cy="256032"/>
          </a:xfrm>
          <a:prstGeom prst="rect">
            <a:avLst/>
          </a:prstGeom>
        </p:spPr>
      </p:pic>
      <p:sp>
        <p:nvSpPr>
          <p:cNvPr id="9" name="Text 5"/>
          <p:cNvSpPr/>
          <p:nvPr/>
        </p:nvSpPr>
        <p:spPr>
          <a:xfrm>
            <a:off x="960120" y="2029968"/>
            <a:ext cx="3291840" cy="292608"/>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Browse upcoming events</a:t>
            </a:r>
            <a:endParaRPr lang="en-US" sz="1300" dirty="0"/>
          </a:p>
        </p:txBody>
      </p:sp>
      <p:pic>
        <p:nvPicPr>
          <p:cNvPr id="10" name="Image 2" descr="preencoded.png">    </p:cNvPr>
          <p:cNvPicPr>
            <a:picLocks noChangeAspect="1"/>
          </p:cNvPicPr>
          <p:nvPr/>
        </p:nvPicPr>
        <p:blipFill>
          <a:blip r:embed="rId3"/>
          <a:stretch>
            <a:fillRect/>
          </a:stretch>
        </p:blipFill>
        <p:spPr>
          <a:xfrm>
            <a:off x="594360" y="2523744"/>
            <a:ext cx="256032" cy="256032"/>
          </a:xfrm>
          <a:prstGeom prst="rect">
            <a:avLst/>
          </a:prstGeom>
        </p:spPr>
      </p:pic>
      <p:sp>
        <p:nvSpPr>
          <p:cNvPr id="11" name="Text 6"/>
          <p:cNvSpPr/>
          <p:nvPr/>
        </p:nvSpPr>
        <p:spPr>
          <a:xfrm>
            <a:off x="960120" y="2505456"/>
            <a:ext cx="3291840" cy="292608"/>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Book tickets online</a:t>
            </a:r>
            <a:endParaRPr lang="en-US" sz="1300" dirty="0"/>
          </a:p>
        </p:txBody>
      </p:sp>
      <p:pic>
        <p:nvPicPr>
          <p:cNvPr id="12" name="Image 3" descr="preencoded.png">    </p:cNvPr>
          <p:cNvPicPr>
            <a:picLocks noChangeAspect="1"/>
          </p:cNvPicPr>
          <p:nvPr/>
        </p:nvPicPr>
        <p:blipFill>
          <a:blip r:embed="rId4"/>
          <a:stretch>
            <a:fillRect/>
          </a:stretch>
        </p:blipFill>
        <p:spPr>
          <a:xfrm>
            <a:off x="594360" y="2999232"/>
            <a:ext cx="256032" cy="256032"/>
          </a:xfrm>
          <a:prstGeom prst="rect">
            <a:avLst/>
          </a:prstGeom>
        </p:spPr>
      </p:pic>
      <p:sp>
        <p:nvSpPr>
          <p:cNvPr id="13" name="Text 7"/>
          <p:cNvSpPr/>
          <p:nvPr/>
        </p:nvSpPr>
        <p:spPr>
          <a:xfrm>
            <a:off x="960120" y="2980944"/>
            <a:ext cx="3291840" cy="292608"/>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Upload event posters</a:t>
            </a:r>
            <a:endParaRPr lang="en-US" sz="1300" dirty="0"/>
          </a:p>
        </p:txBody>
      </p:sp>
      <p:pic>
        <p:nvPicPr>
          <p:cNvPr id="14" name="Image 4" descr="preencoded.png">    </p:cNvPr>
          <p:cNvPicPr>
            <a:picLocks noChangeAspect="1"/>
          </p:cNvPicPr>
          <p:nvPr/>
        </p:nvPicPr>
        <p:blipFill>
          <a:blip r:embed="rId5"/>
          <a:stretch>
            <a:fillRect/>
          </a:stretch>
        </p:blipFill>
        <p:spPr>
          <a:xfrm>
            <a:off x="594360" y="3474720"/>
            <a:ext cx="256032" cy="256032"/>
          </a:xfrm>
          <a:prstGeom prst="rect">
            <a:avLst/>
          </a:prstGeom>
        </p:spPr>
      </p:pic>
      <p:sp>
        <p:nvSpPr>
          <p:cNvPr id="15" name="Text 8"/>
          <p:cNvSpPr/>
          <p:nvPr/>
        </p:nvSpPr>
        <p:spPr>
          <a:xfrm>
            <a:off x="960120" y="3456432"/>
            <a:ext cx="3291840" cy="292608"/>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Receive booking confirmations</a:t>
            </a:r>
            <a:endParaRPr lang="en-US" sz="1300" dirty="0"/>
          </a:p>
        </p:txBody>
      </p:sp>
      <p:sp>
        <p:nvSpPr>
          <p:cNvPr id="16" name="Shape 9"/>
          <p:cNvSpPr/>
          <p:nvPr/>
        </p:nvSpPr>
        <p:spPr>
          <a:xfrm>
            <a:off x="4754880" y="914400"/>
            <a:ext cx="4023360" cy="3931920"/>
          </a:xfrm>
          <a:prstGeom prst="roundRect">
            <a:avLst>
              <a:gd name="adj" fmla="val 2326"/>
            </a:avLst>
          </a:prstGeom>
          <a:solidFill>
            <a:srgbClr val="0D2149"/>
          </a:solidFill>
          <a:ln/>
          <a:effectLst>
            <a:outerShdw sx="100000" sy="100000" kx="0" ky="0" algn="bl" rotWithShape="0" blurRad="127000" dist="25400" dir="2700000">
              <a:srgbClr val="000000">
                <a:alpha val="10000"/>
              </a:srgbClr>
            </a:outerShdw>
          </a:effectLst>
        </p:spPr>
      </p:sp>
      <p:sp>
        <p:nvSpPr>
          <p:cNvPr id="17" name="Text 10"/>
          <p:cNvSpPr/>
          <p:nvPr/>
        </p:nvSpPr>
        <p:spPr>
          <a:xfrm>
            <a:off x="4937760" y="1051560"/>
            <a:ext cx="3657600" cy="411480"/>
          </a:xfrm>
          <a:prstGeom prst="rect">
            <a:avLst/>
          </a:prstGeom>
          <a:noFill/>
          <a:ln/>
        </p:spPr>
        <p:txBody>
          <a:bodyPr wrap="square" lIns="0" tIns="0" rIns="0" bIns="0" rtlCol="0" anchor="ctr"/>
          <a:lstStyle/>
          <a:p>
            <a:pPr algn="l" indent="0" marL="0">
              <a:buNone/>
            </a:pPr>
            <a:r>
              <a:rPr lang="en-US" sz="1500" b="1" dirty="0">
                <a:solidFill>
                  <a:srgbClr val="FF9900"/>
                </a:solidFill>
                <a:latin typeface="Calibri" pitchFamily="34" charset="0"/>
                <a:ea typeface="Calibri" pitchFamily="34" charset="-122"/>
                <a:cs typeface="Calibri" pitchFamily="34" charset="-120"/>
              </a:rPr>
              <a:t>Design Objectives</a:t>
            </a:r>
            <a:endParaRPr lang="en-US" sz="1500" dirty="0"/>
          </a:p>
        </p:txBody>
      </p:sp>
      <p:sp>
        <p:nvSpPr>
          <p:cNvPr id="18" name="Shape 11"/>
          <p:cNvSpPr/>
          <p:nvPr/>
        </p:nvSpPr>
        <p:spPr>
          <a:xfrm>
            <a:off x="4937760" y="1554480"/>
            <a:ext cx="3566160" cy="530352"/>
          </a:xfrm>
          <a:prstGeom prst="roundRect">
            <a:avLst>
              <a:gd name="adj" fmla="val 10345"/>
            </a:avLst>
          </a:prstGeom>
          <a:solidFill>
            <a:srgbClr val="1A3A6B">
              <a:alpha val="70000"/>
            </a:srgbClr>
          </a:solidFill>
          <a:ln w="6350">
            <a:solidFill>
              <a:srgbClr val="2563EB"/>
            </a:solidFill>
            <a:prstDash val="solid"/>
          </a:ln>
        </p:spPr>
      </p:sp>
      <p:sp>
        <p:nvSpPr>
          <p:cNvPr id="19" name="Text 12"/>
          <p:cNvSpPr/>
          <p:nvPr/>
        </p:nvSpPr>
        <p:spPr>
          <a:xfrm>
            <a:off x="5074920" y="1581912"/>
            <a:ext cx="3291840" cy="457200"/>
          </a:xfrm>
          <a:prstGeom prst="rect">
            <a:avLst/>
          </a:prstGeom>
          <a:noFill/>
          <a:ln/>
        </p:spPr>
        <p:txBody>
          <a:bodyPr wrap="square" lIns="50800" tIns="50800" rIns="50800" bIns="5080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Scalable  —  Auto Scaling + Load Balancing</a:t>
            </a:r>
            <a:endParaRPr lang="en-US" sz="1100" dirty="0"/>
          </a:p>
        </p:txBody>
      </p:sp>
      <p:sp>
        <p:nvSpPr>
          <p:cNvPr id="20" name="Shape 13"/>
          <p:cNvSpPr/>
          <p:nvPr/>
        </p:nvSpPr>
        <p:spPr>
          <a:xfrm>
            <a:off x="4937760" y="2194560"/>
            <a:ext cx="3566160" cy="530352"/>
          </a:xfrm>
          <a:prstGeom prst="roundRect">
            <a:avLst>
              <a:gd name="adj" fmla="val 10345"/>
            </a:avLst>
          </a:prstGeom>
          <a:solidFill>
            <a:srgbClr val="1A3A6B">
              <a:alpha val="70000"/>
            </a:srgbClr>
          </a:solidFill>
          <a:ln w="6350">
            <a:solidFill>
              <a:srgbClr val="2563EB"/>
            </a:solidFill>
            <a:prstDash val="solid"/>
          </a:ln>
        </p:spPr>
      </p:sp>
      <p:sp>
        <p:nvSpPr>
          <p:cNvPr id="21" name="Text 14"/>
          <p:cNvSpPr/>
          <p:nvPr/>
        </p:nvSpPr>
        <p:spPr>
          <a:xfrm>
            <a:off x="5074920" y="2221992"/>
            <a:ext cx="3291840" cy="457200"/>
          </a:xfrm>
          <a:prstGeom prst="rect">
            <a:avLst/>
          </a:prstGeom>
          <a:noFill/>
          <a:ln/>
        </p:spPr>
        <p:txBody>
          <a:bodyPr wrap="square" lIns="50800" tIns="50800" rIns="50800" bIns="5080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Secure  —  WAF, Private Subnets, Secrets Manager</a:t>
            </a:r>
            <a:endParaRPr lang="en-US" sz="1100" dirty="0"/>
          </a:p>
        </p:txBody>
      </p:sp>
      <p:sp>
        <p:nvSpPr>
          <p:cNvPr id="22" name="Shape 15"/>
          <p:cNvSpPr/>
          <p:nvPr/>
        </p:nvSpPr>
        <p:spPr>
          <a:xfrm>
            <a:off x="4937760" y="2834640"/>
            <a:ext cx="3566160" cy="530352"/>
          </a:xfrm>
          <a:prstGeom prst="roundRect">
            <a:avLst>
              <a:gd name="adj" fmla="val 10345"/>
            </a:avLst>
          </a:prstGeom>
          <a:solidFill>
            <a:srgbClr val="1A3A6B">
              <a:alpha val="70000"/>
            </a:srgbClr>
          </a:solidFill>
          <a:ln w="6350">
            <a:solidFill>
              <a:srgbClr val="2563EB"/>
            </a:solidFill>
            <a:prstDash val="solid"/>
          </a:ln>
        </p:spPr>
      </p:sp>
      <p:sp>
        <p:nvSpPr>
          <p:cNvPr id="23" name="Text 16"/>
          <p:cNvSpPr/>
          <p:nvPr/>
        </p:nvSpPr>
        <p:spPr>
          <a:xfrm>
            <a:off x="5074920" y="2862072"/>
            <a:ext cx="3291840" cy="457200"/>
          </a:xfrm>
          <a:prstGeom prst="rect">
            <a:avLst/>
          </a:prstGeom>
          <a:noFill/>
          <a:ln/>
        </p:spPr>
        <p:txBody>
          <a:bodyPr wrap="square" lIns="50800" tIns="50800" rIns="50800" bIns="5080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Highly Available  —  Multi-AZ, ALBs, ASG Self-Healing</a:t>
            </a:r>
            <a:endParaRPr lang="en-US" sz="1100" dirty="0"/>
          </a:p>
        </p:txBody>
      </p:sp>
      <p:sp>
        <p:nvSpPr>
          <p:cNvPr id="24" name="Shape 17"/>
          <p:cNvSpPr/>
          <p:nvPr/>
        </p:nvSpPr>
        <p:spPr>
          <a:xfrm>
            <a:off x="4937760" y="3474720"/>
            <a:ext cx="3566160" cy="530352"/>
          </a:xfrm>
          <a:prstGeom prst="roundRect">
            <a:avLst>
              <a:gd name="adj" fmla="val 10345"/>
            </a:avLst>
          </a:prstGeom>
          <a:solidFill>
            <a:srgbClr val="1A3A6B">
              <a:alpha val="70000"/>
            </a:srgbClr>
          </a:solidFill>
          <a:ln w="6350">
            <a:solidFill>
              <a:srgbClr val="2563EB"/>
            </a:solidFill>
            <a:prstDash val="solid"/>
          </a:ln>
        </p:spPr>
      </p:sp>
      <p:sp>
        <p:nvSpPr>
          <p:cNvPr id="25" name="Text 18"/>
          <p:cNvSpPr/>
          <p:nvPr/>
        </p:nvSpPr>
        <p:spPr>
          <a:xfrm>
            <a:off x="5074920" y="3502152"/>
            <a:ext cx="3291840" cy="457200"/>
          </a:xfrm>
          <a:prstGeom prst="rect">
            <a:avLst/>
          </a:prstGeom>
          <a:noFill/>
          <a:ln/>
        </p:spPr>
        <p:txBody>
          <a:bodyPr wrap="square" lIns="50800" tIns="50800" rIns="50800" bIns="5080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Observable  —  CloudWatch Dashboards &amp; Alarms</a:t>
            </a:r>
            <a:endParaRPr lang="en-US" sz="1100" dirty="0"/>
          </a:p>
        </p:txBody>
      </p:sp>
      <p:sp>
        <p:nvSpPr>
          <p:cNvPr id="26" name="Shape 19"/>
          <p:cNvSpPr/>
          <p:nvPr/>
        </p:nvSpPr>
        <p:spPr>
          <a:xfrm>
            <a:off x="4937760" y="4114800"/>
            <a:ext cx="3566160" cy="530352"/>
          </a:xfrm>
          <a:prstGeom prst="roundRect">
            <a:avLst>
              <a:gd name="adj" fmla="val 10345"/>
            </a:avLst>
          </a:prstGeom>
          <a:solidFill>
            <a:srgbClr val="1A3A6B">
              <a:alpha val="70000"/>
            </a:srgbClr>
          </a:solidFill>
          <a:ln w="6350">
            <a:solidFill>
              <a:srgbClr val="2563EB"/>
            </a:solidFill>
            <a:prstDash val="solid"/>
          </a:ln>
        </p:spPr>
      </p:sp>
      <p:sp>
        <p:nvSpPr>
          <p:cNvPr id="27" name="Text 20"/>
          <p:cNvSpPr/>
          <p:nvPr/>
        </p:nvSpPr>
        <p:spPr>
          <a:xfrm>
            <a:off x="5074920" y="4142232"/>
            <a:ext cx="3291840" cy="457200"/>
          </a:xfrm>
          <a:prstGeom prst="rect">
            <a:avLst/>
          </a:prstGeom>
          <a:noFill/>
          <a:ln/>
        </p:spPr>
        <p:txBody>
          <a:bodyPr wrap="square" lIns="50800" tIns="50800" rIns="50800" bIns="5080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Production Ready  —  IaC with Terraform Remote State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Architecture Overview</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65760" y="1051560"/>
            <a:ext cx="1828800" cy="438912"/>
          </a:xfrm>
          <a:prstGeom prst="roundRect">
            <a:avLst>
              <a:gd name="adj" fmla="val 16667"/>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365760" y="1051560"/>
            <a:ext cx="1828800" cy="43891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Internet / Users</a:t>
            </a:r>
            <a:endParaRPr lang="en-US" sz="1000" dirty="0"/>
          </a:p>
        </p:txBody>
      </p:sp>
      <p:sp>
        <p:nvSpPr>
          <p:cNvPr id="6" name="Shape 4"/>
          <p:cNvSpPr/>
          <p:nvPr/>
        </p:nvSpPr>
        <p:spPr>
          <a:xfrm>
            <a:off x="365760" y="1691640"/>
            <a:ext cx="1828800" cy="411480"/>
          </a:xfrm>
          <a:prstGeom prst="roundRect">
            <a:avLst>
              <a:gd name="adj" fmla="val 17778"/>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7" name="Text 5"/>
          <p:cNvSpPr/>
          <p:nvPr/>
        </p:nvSpPr>
        <p:spPr>
          <a:xfrm>
            <a:off x="365760" y="1691640"/>
            <a:ext cx="1828800" cy="4114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AWS WAF</a:t>
            </a:r>
            <a:endParaRPr lang="en-US" sz="1000" dirty="0"/>
          </a:p>
        </p:txBody>
      </p:sp>
      <p:sp>
        <p:nvSpPr>
          <p:cNvPr id="8" name="Shape 6"/>
          <p:cNvSpPr/>
          <p:nvPr/>
        </p:nvSpPr>
        <p:spPr>
          <a:xfrm>
            <a:off x="1207008" y="1481328"/>
            <a:ext cx="0" cy="228600"/>
          </a:xfrm>
          <a:prstGeom prst="line">
            <a:avLst/>
          </a:prstGeom>
          <a:noFill/>
          <a:ln w="25400">
            <a:solidFill>
              <a:srgbClr val="FF9900"/>
            </a:solidFill>
            <a:prstDash val="solid"/>
          </a:ln>
        </p:spPr>
      </p:sp>
      <p:sp>
        <p:nvSpPr>
          <p:cNvPr id="9" name="Shape 7"/>
          <p:cNvSpPr/>
          <p:nvPr/>
        </p:nvSpPr>
        <p:spPr>
          <a:xfrm>
            <a:off x="1152144" y="1682496"/>
            <a:ext cx="109728" cy="73152"/>
          </a:xfrm>
          <a:prstGeom prst="rect">
            <a:avLst/>
          </a:prstGeom>
          <a:solidFill>
            <a:srgbClr val="FF9900"/>
          </a:solidFill>
          <a:ln/>
        </p:spPr>
      </p:sp>
      <p:sp>
        <p:nvSpPr>
          <p:cNvPr id="10" name="Shape 8"/>
          <p:cNvSpPr/>
          <p:nvPr/>
        </p:nvSpPr>
        <p:spPr>
          <a:xfrm>
            <a:off x="365760" y="2286000"/>
            <a:ext cx="1828800" cy="411480"/>
          </a:xfrm>
          <a:prstGeom prst="roundRect">
            <a:avLst>
              <a:gd name="adj" fmla="val 17778"/>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1" name="Text 9"/>
          <p:cNvSpPr/>
          <p:nvPr/>
        </p:nvSpPr>
        <p:spPr>
          <a:xfrm>
            <a:off x="365760" y="2286000"/>
            <a:ext cx="1828800" cy="4114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Public ALB</a:t>
            </a:r>
            <a:endParaRPr lang="en-US" sz="1000" dirty="0"/>
          </a:p>
        </p:txBody>
      </p:sp>
      <p:sp>
        <p:nvSpPr>
          <p:cNvPr id="12" name="Shape 10"/>
          <p:cNvSpPr/>
          <p:nvPr/>
        </p:nvSpPr>
        <p:spPr>
          <a:xfrm>
            <a:off x="1207008" y="2103120"/>
            <a:ext cx="0" cy="228600"/>
          </a:xfrm>
          <a:prstGeom prst="line">
            <a:avLst/>
          </a:prstGeom>
          <a:noFill/>
          <a:ln w="25400">
            <a:solidFill>
              <a:srgbClr val="FF9900"/>
            </a:solidFill>
            <a:prstDash val="solid"/>
          </a:ln>
        </p:spPr>
      </p:sp>
      <p:sp>
        <p:nvSpPr>
          <p:cNvPr id="13" name="Shape 11"/>
          <p:cNvSpPr/>
          <p:nvPr/>
        </p:nvSpPr>
        <p:spPr>
          <a:xfrm>
            <a:off x="1152144" y="2304288"/>
            <a:ext cx="109728" cy="73152"/>
          </a:xfrm>
          <a:prstGeom prst="rect">
            <a:avLst/>
          </a:prstGeom>
          <a:solidFill>
            <a:srgbClr val="FF9900"/>
          </a:solidFill>
          <a:ln/>
        </p:spPr>
      </p:sp>
      <p:sp>
        <p:nvSpPr>
          <p:cNvPr id="14" name="Shape 12"/>
          <p:cNvSpPr/>
          <p:nvPr/>
        </p:nvSpPr>
        <p:spPr>
          <a:xfrm>
            <a:off x="365760" y="2880360"/>
            <a:ext cx="1828800" cy="548640"/>
          </a:xfrm>
          <a:prstGeom prst="roundRect">
            <a:avLst>
              <a:gd name="adj" fmla="val 13333"/>
            </a:avLst>
          </a:prstGeom>
          <a:solidFill>
            <a:srgbClr val="1D4ED8"/>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5" name="Text 13"/>
          <p:cNvSpPr/>
          <p:nvPr/>
        </p:nvSpPr>
        <p:spPr>
          <a:xfrm>
            <a:off x="365760" y="2880360"/>
            <a:ext cx="1828800" cy="54864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Frontend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(React + Nginx)</a:t>
            </a:r>
            <a:endParaRPr lang="en-US" sz="900" dirty="0"/>
          </a:p>
        </p:txBody>
      </p:sp>
      <p:sp>
        <p:nvSpPr>
          <p:cNvPr id="16" name="Shape 14"/>
          <p:cNvSpPr/>
          <p:nvPr/>
        </p:nvSpPr>
        <p:spPr>
          <a:xfrm>
            <a:off x="1207008" y="2697480"/>
            <a:ext cx="0" cy="228600"/>
          </a:xfrm>
          <a:prstGeom prst="line">
            <a:avLst/>
          </a:prstGeom>
          <a:noFill/>
          <a:ln w="25400">
            <a:solidFill>
              <a:srgbClr val="FF9900"/>
            </a:solidFill>
            <a:prstDash val="solid"/>
          </a:ln>
        </p:spPr>
      </p:sp>
      <p:sp>
        <p:nvSpPr>
          <p:cNvPr id="17" name="Shape 15"/>
          <p:cNvSpPr/>
          <p:nvPr/>
        </p:nvSpPr>
        <p:spPr>
          <a:xfrm>
            <a:off x="1152144" y="2898648"/>
            <a:ext cx="109728" cy="73152"/>
          </a:xfrm>
          <a:prstGeom prst="rect">
            <a:avLst/>
          </a:prstGeom>
          <a:solidFill>
            <a:srgbClr val="FF9900"/>
          </a:solidFill>
          <a:ln/>
        </p:spPr>
      </p:sp>
      <p:sp>
        <p:nvSpPr>
          <p:cNvPr id="18" name="Shape 16"/>
          <p:cNvSpPr/>
          <p:nvPr/>
        </p:nvSpPr>
        <p:spPr>
          <a:xfrm>
            <a:off x="365760" y="3657600"/>
            <a:ext cx="1828800" cy="502920"/>
          </a:xfrm>
          <a:prstGeom prst="roundRect">
            <a:avLst>
              <a:gd name="adj" fmla="val 14545"/>
            </a:avLst>
          </a:prstGeom>
          <a:solidFill>
            <a:srgbClr val="4338CA"/>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9" name="Text 17"/>
          <p:cNvSpPr/>
          <p:nvPr/>
        </p:nvSpPr>
        <p:spPr>
          <a:xfrm>
            <a:off x="365760" y="3657600"/>
            <a:ext cx="1828800" cy="50292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Private ALB</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(Internal)</a:t>
            </a:r>
            <a:endParaRPr lang="en-US" sz="900" dirty="0"/>
          </a:p>
        </p:txBody>
      </p:sp>
      <p:sp>
        <p:nvSpPr>
          <p:cNvPr id="20" name="Shape 18"/>
          <p:cNvSpPr/>
          <p:nvPr/>
        </p:nvSpPr>
        <p:spPr>
          <a:xfrm>
            <a:off x="1207008" y="3419856"/>
            <a:ext cx="0" cy="228600"/>
          </a:xfrm>
          <a:prstGeom prst="line">
            <a:avLst/>
          </a:prstGeom>
          <a:noFill/>
          <a:ln w="25400">
            <a:solidFill>
              <a:srgbClr val="FF9900"/>
            </a:solidFill>
            <a:prstDash val="solid"/>
          </a:ln>
        </p:spPr>
      </p:sp>
      <p:sp>
        <p:nvSpPr>
          <p:cNvPr id="21" name="Shape 19"/>
          <p:cNvSpPr/>
          <p:nvPr/>
        </p:nvSpPr>
        <p:spPr>
          <a:xfrm>
            <a:off x="1152144" y="3621024"/>
            <a:ext cx="109728" cy="73152"/>
          </a:xfrm>
          <a:prstGeom prst="rect">
            <a:avLst/>
          </a:prstGeom>
          <a:solidFill>
            <a:srgbClr val="FF9900"/>
          </a:solidFill>
          <a:ln/>
        </p:spPr>
      </p:sp>
      <p:sp>
        <p:nvSpPr>
          <p:cNvPr id="22" name="Shape 20"/>
          <p:cNvSpPr/>
          <p:nvPr/>
        </p:nvSpPr>
        <p:spPr>
          <a:xfrm>
            <a:off x="2194560" y="3904488"/>
            <a:ext cx="457200" cy="0"/>
          </a:xfrm>
          <a:prstGeom prst="line">
            <a:avLst/>
          </a:prstGeom>
          <a:noFill/>
          <a:ln w="19050">
            <a:solidFill>
              <a:srgbClr val="FF9900"/>
            </a:solidFill>
            <a:prstDash val="solid"/>
          </a:ln>
        </p:spPr>
      </p:sp>
      <p:sp>
        <p:nvSpPr>
          <p:cNvPr id="23" name="Shape 21"/>
          <p:cNvSpPr/>
          <p:nvPr/>
        </p:nvSpPr>
        <p:spPr>
          <a:xfrm>
            <a:off x="2651760" y="3547872"/>
            <a:ext cx="1280160" cy="685800"/>
          </a:xfrm>
          <a:prstGeom prst="roundRect">
            <a:avLst>
              <a:gd name="adj" fmla="val 10667"/>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4" name="Text 22"/>
          <p:cNvSpPr/>
          <p:nvPr/>
        </p:nvSpPr>
        <p:spPr>
          <a:xfrm>
            <a:off x="2651760" y="3547872"/>
            <a:ext cx="1280160" cy="68580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Identity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25" name="Shape 23"/>
          <p:cNvSpPr/>
          <p:nvPr/>
        </p:nvSpPr>
        <p:spPr>
          <a:xfrm>
            <a:off x="3291840" y="3547872"/>
            <a:ext cx="0" cy="-411480"/>
          </a:xfrm>
          <a:prstGeom prst="line">
            <a:avLst/>
          </a:prstGeom>
          <a:noFill/>
          <a:ln w="12700">
            <a:solidFill>
              <a:srgbClr val="FF9900"/>
            </a:solidFill>
            <a:prstDash val="solid"/>
          </a:ln>
        </p:spPr>
      </p:sp>
      <p:sp>
        <p:nvSpPr>
          <p:cNvPr id="26" name="Shape 24"/>
          <p:cNvSpPr/>
          <p:nvPr/>
        </p:nvSpPr>
        <p:spPr>
          <a:xfrm>
            <a:off x="4069080" y="3547872"/>
            <a:ext cx="1280160" cy="685800"/>
          </a:xfrm>
          <a:prstGeom prst="roundRect">
            <a:avLst>
              <a:gd name="adj" fmla="val 10667"/>
            </a:avLst>
          </a:prstGeom>
          <a:solidFill>
            <a:srgbClr val="1E3A5F"/>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7" name="Text 25"/>
          <p:cNvSpPr/>
          <p:nvPr/>
        </p:nvSpPr>
        <p:spPr>
          <a:xfrm>
            <a:off x="4069080" y="3547872"/>
            <a:ext cx="1280160" cy="68580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Event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28" name="Shape 26"/>
          <p:cNvSpPr/>
          <p:nvPr/>
        </p:nvSpPr>
        <p:spPr>
          <a:xfrm>
            <a:off x="4709160" y="3547872"/>
            <a:ext cx="0" cy="-411480"/>
          </a:xfrm>
          <a:prstGeom prst="line">
            <a:avLst/>
          </a:prstGeom>
          <a:noFill/>
          <a:ln w="12700">
            <a:solidFill>
              <a:srgbClr val="FF9900"/>
            </a:solidFill>
            <a:prstDash val="solid"/>
          </a:ln>
        </p:spPr>
      </p:sp>
      <p:sp>
        <p:nvSpPr>
          <p:cNvPr id="29" name="Shape 27"/>
          <p:cNvSpPr/>
          <p:nvPr/>
        </p:nvSpPr>
        <p:spPr>
          <a:xfrm>
            <a:off x="5486400" y="3547872"/>
            <a:ext cx="1280160" cy="685800"/>
          </a:xfrm>
          <a:prstGeom prst="roundRect">
            <a:avLst>
              <a:gd name="adj" fmla="val 10667"/>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0" name="Text 28"/>
          <p:cNvSpPr/>
          <p:nvPr/>
        </p:nvSpPr>
        <p:spPr>
          <a:xfrm>
            <a:off x="5486400" y="3547872"/>
            <a:ext cx="1280160" cy="68580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31" name="Shape 29"/>
          <p:cNvSpPr/>
          <p:nvPr/>
        </p:nvSpPr>
        <p:spPr>
          <a:xfrm>
            <a:off x="6126480" y="3547872"/>
            <a:ext cx="0" cy="-411480"/>
          </a:xfrm>
          <a:prstGeom prst="line">
            <a:avLst/>
          </a:prstGeom>
          <a:noFill/>
          <a:ln w="12700">
            <a:solidFill>
              <a:srgbClr val="FF9900"/>
            </a:solidFill>
            <a:prstDash val="solid"/>
          </a:ln>
        </p:spPr>
      </p:sp>
      <p:sp>
        <p:nvSpPr>
          <p:cNvPr id="32" name="Shape 30"/>
          <p:cNvSpPr/>
          <p:nvPr/>
        </p:nvSpPr>
        <p:spPr>
          <a:xfrm>
            <a:off x="6903720" y="3547872"/>
            <a:ext cx="1280160" cy="685800"/>
          </a:xfrm>
          <a:prstGeom prst="roundRect">
            <a:avLst>
              <a:gd name="adj" fmla="val 10667"/>
            </a:avLst>
          </a:prstGeom>
          <a:solidFill>
            <a:srgbClr val="4A1D9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3" name="Text 31"/>
          <p:cNvSpPr/>
          <p:nvPr/>
        </p:nvSpPr>
        <p:spPr>
          <a:xfrm>
            <a:off x="6903720" y="3547872"/>
            <a:ext cx="1280160" cy="68580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Chatbot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34" name="Shape 32"/>
          <p:cNvSpPr/>
          <p:nvPr/>
        </p:nvSpPr>
        <p:spPr>
          <a:xfrm>
            <a:off x="7543800" y="3547872"/>
            <a:ext cx="0" cy="-411480"/>
          </a:xfrm>
          <a:prstGeom prst="line">
            <a:avLst/>
          </a:prstGeom>
          <a:noFill/>
          <a:ln w="12700">
            <a:solidFill>
              <a:srgbClr val="FF9900"/>
            </a:solidFill>
            <a:prstDash val="solid"/>
          </a:ln>
        </p:spPr>
      </p:sp>
      <p:sp>
        <p:nvSpPr>
          <p:cNvPr id="35" name="Shape 33"/>
          <p:cNvSpPr/>
          <p:nvPr/>
        </p:nvSpPr>
        <p:spPr>
          <a:xfrm>
            <a:off x="3200400" y="4462272"/>
            <a:ext cx="2194560" cy="411480"/>
          </a:xfrm>
          <a:prstGeom prst="roundRect">
            <a:avLst>
              <a:gd name="adj" fmla="val 17778"/>
            </a:avLst>
          </a:prstGeom>
          <a:solidFill>
            <a:srgbClr val="1E293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6" name="Text 34"/>
          <p:cNvSpPr/>
          <p:nvPr/>
        </p:nvSpPr>
        <p:spPr>
          <a:xfrm>
            <a:off x="3200400" y="4462272"/>
            <a:ext cx="2194560" cy="4114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RDS PostgreSQL</a:t>
            </a:r>
            <a:endParaRPr lang="en-US" sz="1000" dirty="0"/>
          </a:p>
        </p:txBody>
      </p:sp>
      <p:sp>
        <p:nvSpPr>
          <p:cNvPr id="37" name="Shape 35"/>
          <p:cNvSpPr/>
          <p:nvPr/>
        </p:nvSpPr>
        <p:spPr>
          <a:xfrm>
            <a:off x="4297680" y="4233672"/>
            <a:ext cx="0" cy="228600"/>
          </a:xfrm>
          <a:prstGeom prst="line">
            <a:avLst/>
          </a:prstGeom>
          <a:noFill/>
          <a:ln w="19050">
            <a:solidFill>
              <a:srgbClr val="FF9900"/>
            </a:solidFill>
            <a:prstDash val="solid"/>
          </a:ln>
        </p:spPr>
      </p:sp>
      <p:sp>
        <p:nvSpPr>
          <p:cNvPr id="38" name="Shape 36"/>
          <p:cNvSpPr/>
          <p:nvPr/>
        </p:nvSpPr>
        <p:spPr>
          <a:xfrm>
            <a:off x="6446520" y="1005840"/>
            <a:ext cx="18288" cy="3931920"/>
          </a:xfrm>
          <a:prstGeom prst="rect">
            <a:avLst/>
          </a:prstGeom>
          <a:solidFill>
            <a:srgbClr val="94A3B8">
              <a:alpha val="40000"/>
            </a:srgbClr>
          </a:solidFill>
          <a:ln/>
        </p:spPr>
      </p:sp>
      <p:sp>
        <p:nvSpPr>
          <p:cNvPr id="39" name="Text 37"/>
          <p:cNvSpPr/>
          <p:nvPr/>
        </p:nvSpPr>
        <p:spPr>
          <a:xfrm>
            <a:off x="6492240" y="1005840"/>
            <a:ext cx="2468880" cy="457200"/>
          </a:xfrm>
          <a:prstGeom prst="rect">
            <a:avLst/>
          </a:prstGeom>
          <a:noFill/>
          <a:ln/>
        </p:spPr>
        <p:txBody>
          <a:bodyPr wrap="square" lIns="0" tIns="0" rIns="0" bIns="0"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Event-Driven</a:t>
            </a:r>
            <a:endParaRPr lang="en-US" sz="1000" dirty="0"/>
          </a:p>
          <a:p>
            <a:pPr algn="ctr" indent="0" marL="0">
              <a:buNone/>
            </a:pPr>
            <a:r>
              <a:rPr lang="en-US" sz="1000" b="1" dirty="0">
                <a:solidFill>
                  <a:srgbClr val="FF9900"/>
                </a:solidFill>
                <a:latin typeface="Calibri" pitchFamily="34" charset="0"/>
                <a:ea typeface="Calibri" pitchFamily="34" charset="-122"/>
                <a:cs typeface="Calibri" pitchFamily="34" charset="-120"/>
              </a:rPr>
              <a:t>Notification Flow</a:t>
            </a:r>
            <a:endParaRPr lang="en-US" sz="1000" dirty="0"/>
          </a:p>
        </p:txBody>
      </p:sp>
      <p:sp>
        <p:nvSpPr>
          <p:cNvPr id="40" name="Shape 38"/>
          <p:cNvSpPr/>
          <p:nvPr/>
        </p:nvSpPr>
        <p:spPr>
          <a:xfrm>
            <a:off x="6537960" y="1536192"/>
            <a:ext cx="2286000" cy="475488"/>
          </a:xfrm>
          <a:prstGeom prst="roundRect">
            <a:avLst>
              <a:gd name="adj" fmla="val 15385"/>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41" name="Text 39"/>
          <p:cNvSpPr/>
          <p:nvPr/>
        </p:nvSpPr>
        <p:spPr>
          <a:xfrm>
            <a:off x="6537960" y="1536192"/>
            <a:ext cx="2286000" cy="475488"/>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 Service</a:t>
            </a:r>
            <a:endParaRPr lang="en-US" sz="900" dirty="0"/>
          </a:p>
        </p:txBody>
      </p:sp>
      <p:sp>
        <p:nvSpPr>
          <p:cNvPr id="42" name="Shape 40"/>
          <p:cNvSpPr/>
          <p:nvPr/>
        </p:nvSpPr>
        <p:spPr>
          <a:xfrm>
            <a:off x="7653528" y="1984248"/>
            <a:ext cx="0" cy="228600"/>
          </a:xfrm>
          <a:prstGeom prst="line">
            <a:avLst/>
          </a:prstGeom>
          <a:noFill/>
          <a:ln w="25400">
            <a:solidFill>
              <a:srgbClr val="FF9900"/>
            </a:solidFill>
            <a:prstDash val="solid"/>
          </a:ln>
        </p:spPr>
      </p:sp>
      <p:sp>
        <p:nvSpPr>
          <p:cNvPr id="43" name="Shape 41"/>
          <p:cNvSpPr/>
          <p:nvPr/>
        </p:nvSpPr>
        <p:spPr>
          <a:xfrm>
            <a:off x="7598664" y="2185416"/>
            <a:ext cx="109728" cy="73152"/>
          </a:xfrm>
          <a:prstGeom prst="rect">
            <a:avLst/>
          </a:prstGeom>
          <a:solidFill>
            <a:srgbClr val="FF9900"/>
          </a:solidFill>
          <a:ln/>
        </p:spPr>
      </p:sp>
      <p:sp>
        <p:nvSpPr>
          <p:cNvPr id="44" name="Shape 42"/>
          <p:cNvSpPr/>
          <p:nvPr/>
        </p:nvSpPr>
        <p:spPr>
          <a:xfrm>
            <a:off x="6537960" y="2194560"/>
            <a:ext cx="2286000" cy="475488"/>
          </a:xfrm>
          <a:prstGeom prst="roundRect">
            <a:avLst>
              <a:gd name="adj" fmla="val 15385"/>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45" name="Text 43"/>
          <p:cNvSpPr/>
          <p:nvPr/>
        </p:nvSpPr>
        <p:spPr>
          <a:xfrm>
            <a:off x="6537960" y="2194560"/>
            <a:ext cx="2286000" cy="475488"/>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SQS Queue</a:t>
            </a:r>
            <a:endParaRPr lang="en-US" sz="900" dirty="0"/>
          </a:p>
        </p:txBody>
      </p:sp>
      <p:sp>
        <p:nvSpPr>
          <p:cNvPr id="46" name="Shape 44"/>
          <p:cNvSpPr/>
          <p:nvPr/>
        </p:nvSpPr>
        <p:spPr>
          <a:xfrm>
            <a:off x="7653528" y="2642616"/>
            <a:ext cx="0" cy="228600"/>
          </a:xfrm>
          <a:prstGeom prst="line">
            <a:avLst/>
          </a:prstGeom>
          <a:noFill/>
          <a:ln w="25400">
            <a:solidFill>
              <a:srgbClr val="FF9900"/>
            </a:solidFill>
            <a:prstDash val="solid"/>
          </a:ln>
        </p:spPr>
      </p:sp>
      <p:sp>
        <p:nvSpPr>
          <p:cNvPr id="47" name="Shape 45"/>
          <p:cNvSpPr/>
          <p:nvPr/>
        </p:nvSpPr>
        <p:spPr>
          <a:xfrm>
            <a:off x="7598664" y="2843784"/>
            <a:ext cx="109728" cy="73152"/>
          </a:xfrm>
          <a:prstGeom prst="rect">
            <a:avLst/>
          </a:prstGeom>
          <a:solidFill>
            <a:srgbClr val="FF9900"/>
          </a:solidFill>
          <a:ln/>
        </p:spPr>
      </p:sp>
      <p:sp>
        <p:nvSpPr>
          <p:cNvPr id="48" name="Shape 46"/>
          <p:cNvSpPr/>
          <p:nvPr/>
        </p:nvSpPr>
        <p:spPr>
          <a:xfrm>
            <a:off x="6537960" y="2852928"/>
            <a:ext cx="2286000" cy="475488"/>
          </a:xfrm>
          <a:prstGeom prst="roundRect">
            <a:avLst>
              <a:gd name="adj" fmla="val 15385"/>
            </a:avLst>
          </a:prstGeom>
          <a:solidFill>
            <a:srgbClr val="4A1D9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49" name="Text 47"/>
          <p:cNvSpPr/>
          <p:nvPr/>
        </p:nvSpPr>
        <p:spPr>
          <a:xfrm>
            <a:off x="6537960" y="2852928"/>
            <a:ext cx="2286000" cy="475488"/>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Lambda Function</a:t>
            </a:r>
            <a:endParaRPr lang="en-US" sz="900" dirty="0"/>
          </a:p>
        </p:txBody>
      </p:sp>
      <p:sp>
        <p:nvSpPr>
          <p:cNvPr id="50" name="Shape 48"/>
          <p:cNvSpPr/>
          <p:nvPr/>
        </p:nvSpPr>
        <p:spPr>
          <a:xfrm>
            <a:off x="7653528" y="3300984"/>
            <a:ext cx="0" cy="228600"/>
          </a:xfrm>
          <a:prstGeom prst="line">
            <a:avLst/>
          </a:prstGeom>
          <a:noFill/>
          <a:ln w="25400">
            <a:solidFill>
              <a:srgbClr val="FF9900"/>
            </a:solidFill>
            <a:prstDash val="solid"/>
          </a:ln>
        </p:spPr>
      </p:sp>
      <p:sp>
        <p:nvSpPr>
          <p:cNvPr id="51" name="Shape 49"/>
          <p:cNvSpPr/>
          <p:nvPr/>
        </p:nvSpPr>
        <p:spPr>
          <a:xfrm>
            <a:off x="7598664" y="3502152"/>
            <a:ext cx="109728" cy="73152"/>
          </a:xfrm>
          <a:prstGeom prst="rect">
            <a:avLst/>
          </a:prstGeom>
          <a:solidFill>
            <a:srgbClr val="FF9900"/>
          </a:solidFill>
          <a:ln/>
        </p:spPr>
      </p:sp>
      <p:sp>
        <p:nvSpPr>
          <p:cNvPr id="52" name="Shape 50"/>
          <p:cNvSpPr/>
          <p:nvPr/>
        </p:nvSpPr>
        <p:spPr>
          <a:xfrm>
            <a:off x="6537960" y="3511296"/>
            <a:ext cx="2286000" cy="475488"/>
          </a:xfrm>
          <a:prstGeom prst="roundRect">
            <a:avLst>
              <a:gd name="adj" fmla="val 15385"/>
            </a:avLst>
          </a:prstGeom>
          <a:solidFill>
            <a:srgbClr val="1E3A5F"/>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3" name="Text 51"/>
          <p:cNvSpPr/>
          <p:nvPr/>
        </p:nvSpPr>
        <p:spPr>
          <a:xfrm>
            <a:off x="6537960" y="3511296"/>
            <a:ext cx="2286000" cy="475488"/>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SNS Topic</a:t>
            </a:r>
            <a:endParaRPr lang="en-US" sz="900" dirty="0"/>
          </a:p>
        </p:txBody>
      </p:sp>
      <p:sp>
        <p:nvSpPr>
          <p:cNvPr id="54" name="Shape 52"/>
          <p:cNvSpPr/>
          <p:nvPr/>
        </p:nvSpPr>
        <p:spPr>
          <a:xfrm>
            <a:off x="7653528" y="3959352"/>
            <a:ext cx="0" cy="228600"/>
          </a:xfrm>
          <a:prstGeom prst="line">
            <a:avLst/>
          </a:prstGeom>
          <a:noFill/>
          <a:ln w="25400">
            <a:solidFill>
              <a:srgbClr val="FF9900"/>
            </a:solidFill>
            <a:prstDash val="solid"/>
          </a:ln>
        </p:spPr>
      </p:sp>
      <p:sp>
        <p:nvSpPr>
          <p:cNvPr id="55" name="Shape 53"/>
          <p:cNvSpPr/>
          <p:nvPr/>
        </p:nvSpPr>
        <p:spPr>
          <a:xfrm>
            <a:off x="7598664" y="4160520"/>
            <a:ext cx="109728" cy="73152"/>
          </a:xfrm>
          <a:prstGeom prst="rect">
            <a:avLst/>
          </a:prstGeom>
          <a:solidFill>
            <a:srgbClr val="FF9900"/>
          </a:solidFill>
          <a:ln/>
        </p:spPr>
      </p:sp>
      <p:sp>
        <p:nvSpPr>
          <p:cNvPr id="56" name="Shape 54"/>
          <p:cNvSpPr/>
          <p:nvPr/>
        </p:nvSpPr>
        <p:spPr>
          <a:xfrm>
            <a:off x="6537960" y="4169664"/>
            <a:ext cx="2286000" cy="475488"/>
          </a:xfrm>
          <a:prstGeom prst="roundRect">
            <a:avLst>
              <a:gd name="adj" fmla="val 15385"/>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7" name="Text 55"/>
          <p:cNvSpPr/>
          <p:nvPr/>
        </p:nvSpPr>
        <p:spPr>
          <a:xfrm>
            <a:off x="6537960" y="4169664"/>
            <a:ext cx="2286000" cy="475488"/>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Email Notification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VPC Network Design</a:t>
            </a:r>
            <a:endParaRPr lang="en-US" sz="2800" dirty="0"/>
          </a:p>
        </p:txBody>
      </p:sp>
      <p:sp>
        <p:nvSpPr>
          <p:cNvPr id="4" name="Shape 2"/>
          <p:cNvSpPr/>
          <p:nvPr/>
        </p:nvSpPr>
        <p:spPr>
          <a:xfrm>
            <a:off x="274320" y="960120"/>
            <a:ext cx="8595360" cy="3977640"/>
          </a:xfrm>
          <a:prstGeom prst="roundRect">
            <a:avLst>
              <a:gd name="adj" fmla="val 3448"/>
            </a:avLst>
          </a:prstGeom>
          <a:solidFill>
            <a:srgbClr val="EFF6FF"/>
          </a:solidFill>
          <a:ln w="25400">
            <a:solidFill>
              <a:srgbClr val="2563EB"/>
            </a:solidFill>
            <a:prstDash val="solid"/>
          </a:ln>
        </p:spPr>
      </p:sp>
      <p:sp>
        <p:nvSpPr>
          <p:cNvPr id="5" name="Text 3"/>
          <p:cNvSpPr/>
          <p:nvPr/>
        </p:nvSpPr>
        <p:spPr>
          <a:xfrm>
            <a:off x="457200" y="987552"/>
            <a:ext cx="3657600" cy="347472"/>
          </a:xfrm>
          <a:prstGeom prst="rect">
            <a:avLst/>
          </a:prstGeom>
          <a:noFill/>
          <a:ln/>
        </p:spPr>
        <p:txBody>
          <a:bodyPr wrap="square" lIns="0" tIns="0" rIns="0" bIns="0" rtlCol="0" anchor="ctr"/>
          <a:lstStyle/>
          <a:p>
            <a:pPr indent="0" marL="0">
              <a:buNone/>
            </a:pPr>
            <a:r>
              <a:rPr lang="en-US" sz="1200" b="1" dirty="0">
                <a:solidFill>
                  <a:srgbClr val="1A3A6B"/>
                </a:solidFill>
                <a:latin typeface="Calibri" pitchFamily="34" charset="0"/>
                <a:ea typeface="Calibri" pitchFamily="34" charset="-122"/>
                <a:cs typeface="Calibri" pitchFamily="34" charset="-120"/>
              </a:rPr>
              <a:t>Custom VPC  —  10.0.0.0/16</a:t>
            </a:r>
            <a:endParaRPr lang="en-US" sz="1200" dirty="0"/>
          </a:p>
        </p:txBody>
      </p:sp>
      <p:sp>
        <p:nvSpPr>
          <p:cNvPr id="6" name="Shape 4"/>
          <p:cNvSpPr/>
          <p:nvPr/>
        </p:nvSpPr>
        <p:spPr>
          <a:xfrm>
            <a:off x="3474720" y="1024128"/>
            <a:ext cx="2194560" cy="347472"/>
          </a:xfrm>
          <a:prstGeom prst="roundRect">
            <a:avLst>
              <a:gd name="adj" fmla="val 13158"/>
            </a:avLst>
          </a:prstGeom>
          <a:solidFill>
            <a:srgbClr val="FF9900"/>
          </a:solidFill>
          <a:ln/>
        </p:spPr>
      </p:sp>
      <p:sp>
        <p:nvSpPr>
          <p:cNvPr id="7" name="Text 5"/>
          <p:cNvSpPr/>
          <p:nvPr/>
        </p:nvSpPr>
        <p:spPr>
          <a:xfrm>
            <a:off x="3474720" y="1024128"/>
            <a:ext cx="2194560" cy="347472"/>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Internet Gateway</a:t>
            </a:r>
            <a:endParaRPr lang="en-US" sz="1100" dirty="0"/>
          </a:p>
        </p:txBody>
      </p:sp>
      <p:sp>
        <p:nvSpPr>
          <p:cNvPr id="8" name="Text 6"/>
          <p:cNvSpPr/>
          <p:nvPr/>
        </p:nvSpPr>
        <p:spPr>
          <a:xfrm>
            <a:off x="640080" y="1481328"/>
            <a:ext cx="3657600" cy="256032"/>
          </a:xfrm>
          <a:prstGeom prst="rect">
            <a:avLst/>
          </a:prstGeom>
          <a:noFill/>
          <a:ln/>
        </p:spPr>
        <p:txBody>
          <a:bodyPr wrap="square" lIns="0" tIns="0" rIns="0" bIns="0" rtlCol="0" anchor="ctr"/>
          <a:lstStyle/>
          <a:p>
            <a:pPr algn="ctr" indent="0" marL="0">
              <a:buNone/>
            </a:pPr>
            <a:r>
              <a:rPr lang="en-US" sz="1100" b="1" dirty="0">
                <a:solidFill>
                  <a:srgbClr val="0D2149"/>
                </a:solidFill>
                <a:latin typeface="Calibri" pitchFamily="34" charset="0"/>
                <a:ea typeface="Calibri" pitchFamily="34" charset="-122"/>
                <a:cs typeface="Calibri" pitchFamily="34" charset="-120"/>
              </a:rPr>
              <a:t>AZ-1a</a:t>
            </a:r>
            <a:endParaRPr lang="en-US" sz="1100" dirty="0"/>
          </a:p>
        </p:txBody>
      </p:sp>
      <p:sp>
        <p:nvSpPr>
          <p:cNvPr id="9" name="Text 7"/>
          <p:cNvSpPr/>
          <p:nvPr/>
        </p:nvSpPr>
        <p:spPr>
          <a:xfrm>
            <a:off x="4846320" y="1481328"/>
            <a:ext cx="3657600" cy="256032"/>
          </a:xfrm>
          <a:prstGeom prst="rect">
            <a:avLst/>
          </a:prstGeom>
          <a:noFill/>
          <a:ln/>
        </p:spPr>
        <p:txBody>
          <a:bodyPr wrap="square" lIns="0" tIns="0" rIns="0" bIns="0" rtlCol="0" anchor="ctr"/>
          <a:lstStyle/>
          <a:p>
            <a:pPr algn="ctr" indent="0" marL="0">
              <a:buNone/>
            </a:pPr>
            <a:r>
              <a:rPr lang="en-US" sz="1100" b="1" dirty="0">
                <a:solidFill>
                  <a:srgbClr val="0D2149"/>
                </a:solidFill>
                <a:latin typeface="Calibri" pitchFamily="34" charset="0"/>
                <a:ea typeface="Calibri" pitchFamily="34" charset="-122"/>
                <a:cs typeface="Calibri" pitchFamily="34" charset="-120"/>
              </a:rPr>
              <a:t>AZ-1b</a:t>
            </a:r>
            <a:endParaRPr lang="en-US" sz="1100" dirty="0"/>
          </a:p>
        </p:txBody>
      </p:sp>
      <p:sp>
        <p:nvSpPr>
          <p:cNvPr id="10" name="Text 8"/>
          <p:cNvSpPr/>
          <p:nvPr/>
        </p:nvSpPr>
        <p:spPr>
          <a:xfrm>
            <a:off x="384048" y="1883664"/>
            <a:ext cx="457200" cy="9326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Public Subnets</a:t>
            </a:r>
            <a:endParaRPr lang="en-US" sz="800" dirty="0"/>
          </a:p>
        </p:txBody>
      </p:sp>
      <p:sp>
        <p:nvSpPr>
          <p:cNvPr id="11" name="Shape 9"/>
          <p:cNvSpPr/>
          <p:nvPr/>
        </p:nvSpPr>
        <p:spPr>
          <a:xfrm>
            <a:off x="868680" y="1901952"/>
            <a:ext cx="3749040" cy="822960"/>
          </a:xfrm>
          <a:prstGeom prst="roundRect">
            <a:avLst>
              <a:gd name="adj" fmla="val 8889"/>
            </a:avLst>
          </a:prstGeom>
          <a:solidFill>
            <a:srgbClr val="D1FAE5"/>
          </a:solidFill>
          <a:ln w="12700">
            <a:solidFill>
              <a:srgbClr val="059669"/>
            </a:solidFill>
            <a:prstDash val="solid"/>
          </a:ln>
        </p:spPr>
      </p:sp>
      <p:sp>
        <p:nvSpPr>
          <p:cNvPr id="12" name="Text 10"/>
          <p:cNvSpPr/>
          <p:nvPr/>
        </p:nvSpPr>
        <p:spPr>
          <a:xfrm>
            <a:off x="868680" y="1901952"/>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10.0.1.0/24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NAT Gateway, ALB</a:t>
            </a:r>
            <a:endParaRPr lang="en-US" sz="1000" dirty="0"/>
          </a:p>
        </p:txBody>
      </p:sp>
      <p:sp>
        <p:nvSpPr>
          <p:cNvPr id="13" name="Shape 11"/>
          <p:cNvSpPr/>
          <p:nvPr/>
        </p:nvSpPr>
        <p:spPr>
          <a:xfrm>
            <a:off x="4983480" y="1901952"/>
            <a:ext cx="3749040" cy="822960"/>
          </a:xfrm>
          <a:prstGeom prst="roundRect">
            <a:avLst>
              <a:gd name="adj" fmla="val 8889"/>
            </a:avLst>
          </a:prstGeom>
          <a:solidFill>
            <a:srgbClr val="D1FAE5"/>
          </a:solidFill>
          <a:ln w="12700">
            <a:solidFill>
              <a:srgbClr val="059669"/>
            </a:solidFill>
            <a:prstDash val="solid"/>
          </a:ln>
        </p:spPr>
      </p:sp>
      <p:sp>
        <p:nvSpPr>
          <p:cNvPr id="14" name="Text 12"/>
          <p:cNvSpPr/>
          <p:nvPr/>
        </p:nvSpPr>
        <p:spPr>
          <a:xfrm>
            <a:off x="4983480" y="1901952"/>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10.0.2.0/24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NAT Gateway, ALB</a:t>
            </a:r>
            <a:endParaRPr lang="en-US" sz="1000" dirty="0"/>
          </a:p>
        </p:txBody>
      </p:sp>
      <p:sp>
        <p:nvSpPr>
          <p:cNvPr id="15" name="Text 13"/>
          <p:cNvSpPr/>
          <p:nvPr/>
        </p:nvSpPr>
        <p:spPr>
          <a:xfrm>
            <a:off x="384048" y="2871216"/>
            <a:ext cx="457200" cy="9326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Private App Subnets</a:t>
            </a:r>
            <a:endParaRPr lang="en-US" sz="800" dirty="0"/>
          </a:p>
        </p:txBody>
      </p:sp>
      <p:sp>
        <p:nvSpPr>
          <p:cNvPr id="16" name="Shape 14"/>
          <p:cNvSpPr/>
          <p:nvPr/>
        </p:nvSpPr>
        <p:spPr>
          <a:xfrm>
            <a:off x="868680" y="2889504"/>
            <a:ext cx="3749040" cy="822960"/>
          </a:xfrm>
          <a:prstGeom prst="roundRect">
            <a:avLst>
              <a:gd name="adj" fmla="val 8889"/>
            </a:avLst>
          </a:prstGeom>
          <a:solidFill>
            <a:srgbClr val="DBEAFE"/>
          </a:solidFill>
          <a:ln w="12700">
            <a:solidFill>
              <a:srgbClr val="2563EB"/>
            </a:solidFill>
            <a:prstDash val="solid"/>
          </a:ln>
        </p:spPr>
      </p:sp>
      <p:sp>
        <p:nvSpPr>
          <p:cNvPr id="17" name="Text 15"/>
          <p:cNvSpPr/>
          <p:nvPr/>
        </p:nvSpPr>
        <p:spPr>
          <a:xfrm>
            <a:off x="868680" y="2889504"/>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10.0.3.0/24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EC2 App Servers</a:t>
            </a:r>
            <a:endParaRPr lang="en-US" sz="1000" dirty="0"/>
          </a:p>
        </p:txBody>
      </p:sp>
      <p:sp>
        <p:nvSpPr>
          <p:cNvPr id="18" name="Shape 16"/>
          <p:cNvSpPr/>
          <p:nvPr/>
        </p:nvSpPr>
        <p:spPr>
          <a:xfrm>
            <a:off x="4983480" y="2889504"/>
            <a:ext cx="3749040" cy="822960"/>
          </a:xfrm>
          <a:prstGeom prst="roundRect">
            <a:avLst>
              <a:gd name="adj" fmla="val 8889"/>
            </a:avLst>
          </a:prstGeom>
          <a:solidFill>
            <a:srgbClr val="DBEAFE"/>
          </a:solidFill>
          <a:ln w="12700">
            <a:solidFill>
              <a:srgbClr val="2563EB"/>
            </a:solidFill>
            <a:prstDash val="solid"/>
          </a:ln>
        </p:spPr>
      </p:sp>
      <p:sp>
        <p:nvSpPr>
          <p:cNvPr id="19" name="Text 17"/>
          <p:cNvSpPr/>
          <p:nvPr/>
        </p:nvSpPr>
        <p:spPr>
          <a:xfrm>
            <a:off x="4983480" y="2889504"/>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10.0.4.0/24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EC2 App Servers</a:t>
            </a:r>
            <a:endParaRPr lang="en-US" sz="1000" dirty="0"/>
          </a:p>
        </p:txBody>
      </p:sp>
      <p:sp>
        <p:nvSpPr>
          <p:cNvPr id="20" name="Text 18"/>
          <p:cNvSpPr/>
          <p:nvPr/>
        </p:nvSpPr>
        <p:spPr>
          <a:xfrm>
            <a:off x="384048" y="3858768"/>
            <a:ext cx="457200" cy="9326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Private DB Subnets</a:t>
            </a:r>
            <a:endParaRPr lang="en-US" sz="800" dirty="0"/>
          </a:p>
        </p:txBody>
      </p:sp>
      <p:sp>
        <p:nvSpPr>
          <p:cNvPr id="21" name="Shape 19"/>
          <p:cNvSpPr/>
          <p:nvPr/>
        </p:nvSpPr>
        <p:spPr>
          <a:xfrm>
            <a:off x="868680" y="3877056"/>
            <a:ext cx="3749040" cy="822960"/>
          </a:xfrm>
          <a:prstGeom prst="roundRect">
            <a:avLst>
              <a:gd name="adj" fmla="val 8889"/>
            </a:avLst>
          </a:prstGeom>
          <a:solidFill>
            <a:srgbClr val="FEE2E2"/>
          </a:solidFill>
          <a:ln w="12700">
            <a:solidFill>
              <a:srgbClr val="DC2626"/>
            </a:solidFill>
            <a:prstDash val="solid"/>
          </a:ln>
        </p:spPr>
      </p:sp>
      <p:sp>
        <p:nvSpPr>
          <p:cNvPr id="22" name="Text 20"/>
          <p:cNvSpPr/>
          <p:nvPr/>
        </p:nvSpPr>
        <p:spPr>
          <a:xfrm>
            <a:off x="868680" y="3877056"/>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10.0.5.0/24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RDS Primary</a:t>
            </a:r>
            <a:endParaRPr lang="en-US" sz="1000" dirty="0"/>
          </a:p>
        </p:txBody>
      </p:sp>
      <p:sp>
        <p:nvSpPr>
          <p:cNvPr id="23" name="Shape 21"/>
          <p:cNvSpPr/>
          <p:nvPr/>
        </p:nvSpPr>
        <p:spPr>
          <a:xfrm>
            <a:off x="4983480" y="3877056"/>
            <a:ext cx="3749040" cy="822960"/>
          </a:xfrm>
          <a:prstGeom prst="roundRect">
            <a:avLst>
              <a:gd name="adj" fmla="val 8889"/>
            </a:avLst>
          </a:prstGeom>
          <a:solidFill>
            <a:srgbClr val="FEE2E2"/>
          </a:solidFill>
          <a:ln w="12700">
            <a:solidFill>
              <a:srgbClr val="DC2626"/>
            </a:solidFill>
            <a:prstDash val="solid"/>
          </a:ln>
        </p:spPr>
      </p:sp>
      <p:sp>
        <p:nvSpPr>
          <p:cNvPr id="24" name="Text 22"/>
          <p:cNvSpPr/>
          <p:nvPr/>
        </p:nvSpPr>
        <p:spPr>
          <a:xfrm>
            <a:off x="4983480" y="3877056"/>
            <a:ext cx="3749040" cy="822960"/>
          </a:xfrm>
          <a:prstGeom prst="rect">
            <a:avLst/>
          </a:prstGeom>
          <a:noFill/>
          <a:ln/>
        </p:spPr>
        <p:txBody>
          <a:bodyPr wrap="square" lIns="50800" tIns="50800" rIns="50800" bIns="5080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10.0.6.0/24</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RDS Standby</a:t>
            </a:r>
            <a:endParaRPr lang="en-US" sz="1000" dirty="0"/>
          </a:p>
        </p:txBody>
      </p:sp>
      <p:sp>
        <p:nvSpPr>
          <p:cNvPr id="25" name="Shape 23"/>
          <p:cNvSpPr/>
          <p:nvPr/>
        </p:nvSpPr>
        <p:spPr>
          <a:xfrm>
            <a:off x="365760" y="4617720"/>
            <a:ext cx="3840480" cy="320040"/>
          </a:xfrm>
          <a:prstGeom prst="roundRect">
            <a:avLst>
              <a:gd name="adj" fmla="val 14286"/>
            </a:avLst>
          </a:prstGeom>
          <a:solidFill>
            <a:srgbClr val="FEF3C7"/>
          </a:solidFill>
          <a:ln w="12700">
            <a:solidFill>
              <a:srgbClr val="FF9900"/>
            </a:solidFill>
            <a:prstDash val="solid"/>
          </a:ln>
        </p:spPr>
      </p:sp>
      <p:sp>
        <p:nvSpPr>
          <p:cNvPr id="26" name="Text 24"/>
          <p:cNvSpPr/>
          <p:nvPr/>
        </p:nvSpPr>
        <p:spPr>
          <a:xfrm>
            <a:off x="384048" y="4636008"/>
            <a:ext cx="3803904" cy="28346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NAT Gateway: Private instances access internet without public IPs</a:t>
            </a:r>
            <a:endParaRPr lang="en-US" sz="900" dirty="0"/>
          </a:p>
        </p:txBody>
      </p:sp>
      <p:sp>
        <p:nvSpPr>
          <p:cNvPr id="27" name="Shape 25"/>
          <p:cNvSpPr/>
          <p:nvPr/>
        </p:nvSpPr>
        <p:spPr>
          <a:xfrm>
            <a:off x="4572000" y="4617720"/>
            <a:ext cx="4206240" cy="320040"/>
          </a:xfrm>
          <a:prstGeom prst="roundRect">
            <a:avLst>
              <a:gd name="adj" fmla="val 14286"/>
            </a:avLst>
          </a:prstGeom>
          <a:solidFill>
            <a:srgbClr val="EDE9FE"/>
          </a:solidFill>
          <a:ln w="12700">
            <a:solidFill>
              <a:srgbClr val="7C3AED"/>
            </a:solidFill>
            <a:prstDash val="solid"/>
          </a:ln>
        </p:spPr>
      </p:sp>
      <p:sp>
        <p:nvSpPr>
          <p:cNvPr id="28" name="Text 26"/>
          <p:cNvSpPr/>
          <p:nvPr/>
        </p:nvSpPr>
        <p:spPr>
          <a:xfrm>
            <a:off x="4590288" y="4636008"/>
            <a:ext cx="4169664" cy="28346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Route Tables: Public → IGW | Private App + DB → NAT Gateway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VPC Endpoints</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Text 2"/>
          <p:cNvSpPr/>
          <p:nvPr/>
        </p:nvSpPr>
        <p:spPr>
          <a:xfrm>
            <a:off x="457200" y="987552"/>
            <a:ext cx="8229600" cy="320040"/>
          </a:xfrm>
          <a:prstGeom prst="rect">
            <a:avLst/>
          </a:prstGeom>
          <a:noFill/>
          <a:ln/>
        </p:spPr>
        <p:txBody>
          <a:bodyPr wrap="square" lIns="0" tIns="0" rIns="0" bIns="0" rtlCol="0" anchor="ctr"/>
          <a:lstStyle/>
          <a:p>
            <a:pPr algn="l" indent="0" marL="0">
              <a:buNone/>
            </a:pPr>
            <a:r>
              <a:rPr lang="en-US" sz="1200" dirty="0">
                <a:solidFill>
                  <a:srgbClr val="DBEAFE"/>
                </a:solidFill>
                <a:latin typeface="Calibri" pitchFamily="34" charset="0"/>
                <a:ea typeface="Calibri" pitchFamily="34" charset="-122"/>
                <a:cs typeface="Calibri" pitchFamily="34" charset="-120"/>
              </a:rPr>
              <a:t>Private AWS service connectivity — eliminating NAT costs and improving security</a:t>
            </a:r>
            <a:endParaRPr lang="en-US" sz="1200" dirty="0"/>
          </a:p>
        </p:txBody>
      </p:sp>
      <p:sp>
        <p:nvSpPr>
          <p:cNvPr id="5" name="Shape 3"/>
          <p:cNvSpPr/>
          <p:nvPr/>
        </p:nvSpPr>
        <p:spPr>
          <a:xfrm>
            <a:off x="365760" y="1463040"/>
            <a:ext cx="4114800" cy="658368"/>
          </a:xfrm>
          <a:prstGeom prst="roundRect">
            <a:avLst>
              <a:gd name="adj" fmla="val 11111"/>
            </a:avLst>
          </a:prstGeom>
          <a:solidFill>
            <a:srgbClr val="065F46"/>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6" name="Text 4"/>
          <p:cNvSpPr/>
          <p:nvPr/>
        </p:nvSpPr>
        <p:spPr>
          <a:xfrm>
            <a:off x="475488" y="1517904"/>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S3 Gateway</a:t>
            </a:r>
            <a:endParaRPr lang="en-US" sz="1200" dirty="0"/>
          </a:p>
        </p:txBody>
      </p:sp>
      <p:sp>
        <p:nvSpPr>
          <p:cNvPr id="7" name="Shape 5"/>
          <p:cNvSpPr/>
          <p:nvPr/>
        </p:nvSpPr>
        <p:spPr>
          <a:xfrm>
            <a:off x="475488" y="1801368"/>
            <a:ext cx="685800" cy="201168"/>
          </a:xfrm>
          <a:prstGeom prst="roundRect">
            <a:avLst>
              <a:gd name="adj" fmla="val 18182"/>
            </a:avLst>
          </a:prstGeom>
          <a:solidFill>
            <a:srgbClr val="FF9900"/>
          </a:solidFill>
          <a:ln/>
        </p:spPr>
      </p:sp>
      <p:sp>
        <p:nvSpPr>
          <p:cNvPr id="8" name="Text 6"/>
          <p:cNvSpPr/>
          <p:nvPr/>
        </p:nvSpPr>
        <p:spPr>
          <a:xfrm>
            <a:off x="475488" y="1801368"/>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Gateway</a:t>
            </a:r>
            <a:endParaRPr lang="en-US" sz="750" dirty="0"/>
          </a:p>
        </p:txBody>
      </p:sp>
      <p:sp>
        <p:nvSpPr>
          <p:cNvPr id="9" name="Text 7"/>
          <p:cNvSpPr/>
          <p:nvPr/>
        </p:nvSpPr>
        <p:spPr>
          <a:xfrm>
            <a:off x="1234440" y="1801368"/>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S3 bucket access without NAT</a:t>
            </a:r>
            <a:endParaRPr lang="en-US" sz="950" dirty="0"/>
          </a:p>
        </p:txBody>
      </p:sp>
      <p:sp>
        <p:nvSpPr>
          <p:cNvPr id="10" name="Shape 8"/>
          <p:cNvSpPr/>
          <p:nvPr/>
        </p:nvSpPr>
        <p:spPr>
          <a:xfrm>
            <a:off x="365760" y="2267712"/>
            <a:ext cx="4114800" cy="658368"/>
          </a:xfrm>
          <a:prstGeom prst="roundRect">
            <a:avLst>
              <a:gd name="adj" fmla="val 11111"/>
            </a:avLst>
          </a:prstGeom>
          <a:solidFill>
            <a:srgbClr val="1E3A5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11" name="Text 9"/>
          <p:cNvSpPr/>
          <p:nvPr/>
        </p:nvSpPr>
        <p:spPr>
          <a:xfrm>
            <a:off x="475488" y="2322576"/>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ECR API</a:t>
            </a:r>
            <a:endParaRPr lang="en-US" sz="1200" dirty="0"/>
          </a:p>
        </p:txBody>
      </p:sp>
      <p:sp>
        <p:nvSpPr>
          <p:cNvPr id="12" name="Shape 10"/>
          <p:cNvSpPr/>
          <p:nvPr/>
        </p:nvSpPr>
        <p:spPr>
          <a:xfrm>
            <a:off x="475488" y="2606040"/>
            <a:ext cx="685800" cy="201168"/>
          </a:xfrm>
          <a:prstGeom prst="roundRect">
            <a:avLst>
              <a:gd name="adj" fmla="val 18182"/>
            </a:avLst>
          </a:prstGeom>
          <a:solidFill>
            <a:srgbClr val="0891B2"/>
          </a:solidFill>
          <a:ln/>
        </p:spPr>
      </p:sp>
      <p:sp>
        <p:nvSpPr>
          <p:cNvPr id="13" name="Text 11"/>
          <p:cNvSpPr/>
          <p:nvPr/>
        </p:nvSpPr>
        <p:spPr>
          <a:xfrm>
            <a:off x="475488" y="2606040"/>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14" name="Text 12"/>
          <p:cNvSpPr/>
          <p:nvPr/>
        </p:nvSpPr>
        <p:spPr>
          <a:xfrm>
            <a:off x="1234440" y="2606040"/>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Docker image management API</a:t>
            </a:r>
            <a:endParaRPr lang="en-US" sz="950" dirty="0"/>
          </a:p>
        </p:txBody>
      </p:sp>
      <p:sp>
        <p:nvSpPr>
          <p:cNvPr id="15" name="Shape 13"/>
          <p:cNvSpPr/>
          <p:nvPr/>
        </p:nvSpPr>
        <p:spPr>
          <a:xfrm>
            <a:off x="365760" y="3072384"/>
            <a:ext cx="4114800" cy="658368"/>
          </a:xfrm>
          <a:prstGeom prst="roundRect">
            <a:avLst>
              <a:gd name="adj" fmla="val 11111"/>
            </a:avLst>
          </a:prstGeom>
          <a:solidFill>
            <a:srgbClr val="1E3A5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16" name="Text 14"/>
          <p:cNvSpPr/>
          <p:nvPr/>
        </p:nvSpPr>
        <p:spPr>
          <a:xfrm>
            <a:off x="475488" y="312724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ECR DKR</a:t>
            </a:r>
            <a:endParaRPr lang="en-US" sz="1200" dirty="0"/>
          </a:p>
        </p:txBody>
      </p:sp>
      <p:sp>
        <p:nvSpPr>
          <p:cNvPr id="17" name="Shape 15"/>
          <p:cNvSpPr/>
          <p:nvPr/>
        </p:nvSpPr>
        <p:spPr>
          <a:xfrm>
            <a:off x="475488" y="3410712"/>
            <a:ext cx="685800" cy="201168"/>
          </a:xfrm>
          <a:prstGeom prst="roundRect">
            <a:avLst>
              <a:gd name="adj" fmla="val 18182"/>
            </a:avLst>
          </a:prstGeom>
          <a:solidFill>
            <a:srgbClr val="0891B2"/>
          </a:solidFill>
          <a:ln/>
        </p:spPr>
      </p:sp>
      <p:sp>
        <p:nvSpPr>
          <p:cNvPr id="18" name="Text 16"/>
          <p:cNvSpPr/>
          <p:nvPr/>
        </p:nvSpPr>
        <p:spPr>
          <a:xfrm>
            <a:off x="475488" y="3410712"/>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19" name="Text 17"/>
          <p:cNvSpPr/>
          <p:nvPr/>
        </p:nvSpPr>
        <p:spPr>
          <a:xfrm>
            <a:off x="1234440" y="3410712"/>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Docker image pull traffic</a:t>
            </a:r>
            <a:endParaRPr lang="en-US" sz="950" dirty="0"/>
          </a:p>
        </p:txBody>
      </p:sp>
      <p:sp>
        <p:nvSpPr>
          <p:cNvPr id="20" name="Shape 18"/>
          <p:cNvSpPr/>
          <p:nvPr/>
        </p:nvSpPr>
        <p:spPr>
          <a:xfrm>
            <a:off x="365760" y="3877056"/>
            <a:ext cx="4114800" cy="658368"/>
          </a:xfrm>
          <a:prstGeom prst="roundRect">
            <a:avLst>
              <a:gd name="adj" fmla="val 11111"/>
            </a:avLst>
          </a:prstGeom>
          <a:solidFill>
            <a:srgbClr val="4A1D96"/>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21" name="Text 19"/>
          <p:cNvSpPr/>
          <p:nvPr/>
        </p:nvSpPr>
        <p:spPr>
          <a:xfrm>
            <a:off x="475488" y="393192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Secrets Manager</a:t>
            </a:r>
            <a:endParaRPr lang="en-US" sz="1200" dirty="0"/>
          </a:p>
        </p:txBody>
      </p:sp>
      <p:sp>
        <p:nvSpPr>
          <p:cNvPr id="22" name="Shape 20"/>
          <p:cNvSpPr/>
          <p:nvPr/>
        </p:nvSpPr>
        <p:spPr>
          <a:xfrm>
            <a:off x="475488" y="4215384"/>
            <a:ext cx="685800" cy="201168"/>
          </a:xfrm>
          <a:prstGeom prst="roundRect">
            <a:avLst>
              <a:gd name="adj" fmla="val 18182"/>
            </a:avLst>
          </a:prstGeom>
          <a:solidFill>
            <a:srgbClr val="0891B2"/>
          </a:solidFill>
          <a:ln/>
        </p:spPr>
      </p:sp>
      <p:sp>
        <p:nvSpPr>
          <p:cNvPr id="23" name="Text 21"/>
          <p:cNvSpPr/>
          <p:nvPr/>
        </p:nvSpPr>
        <p:spPr>
          <a:xfrm>
            <a:off x="475488" y="4215384"/>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24" name="Text 22"/>
          <p:cNvSpPr/>
          <p:nvPr/>
        </p:nvSpPr>
        <p:spPr>
          <a:xfrm>
            <a:off x="1234440" y="4215384"/>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Credential retrieval at runtime</a:t>
            </a:r>
            <a:endParaRPr lang="en-US" sz="950" dirty="0"/>
          </a:p>
        </p:txBody>
      </p:sp>
      <p:sp>
        <p:nvSpPr>
          <p:cNvPr id="25" name="Shape 23"/>
          <p:cNvSpPr/>
          <p:nvPr/>
        </p:nvSpPr>
        <p:spPr>
          <a:xfrm>
            <a:off x="4800600" y="1463040"/>
            <a:ext cx="4114800" cy="658368"/>
          </a:xfrm>
          <a:prstGeom prst="roundRect">
            <a:avLst>
              <a:gd name="adj" fmla="val 11111"/>
            </a:avLst>
          </a:prstGeom>
          <a:solidFill>
            <a:srgbClr val="0C4A6E"/>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26" name="Text 24"/>
          <p:cNvSpPr/>
          <p:nvPr/>
        </p:nvSpPr>
        <p:spPr>
          <a:xfrm>
            <a:off x="4910328" y="1517904"/>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CloudWatch Logs</a:t>
            </a:r>
            <a:endParaRPr lang="en-US" sz="1200" dirty="0"/>
          </a:p>
        </p:txBody>
      </p:sp>
      <p:sp>
        <p:nvSpPr>
          <p:cNvPr id="27" name="Shape 25"/>
          <p:cNvSpPr/>
          <p:nvPr/>
        </p:nvSpPr>
        <p:spPr>
          <a:xfrm>
            <a:off x="4910328" y="1801368"/>
            <a:ext cx="685800" cy="201168"/>
          </a:xfrm>
          <a:prstGeom prst="roundRect">
            <a:avLst>
              <a:gd name="adj" fmla="val 18182"/>
            </a:avLst>
          </a:prstGeom>
          <a:solidFill>
            <a:srgbClr val="0891B2"/>
          </a:solidFill>
          <a:ln/>
        </p:spPr>
      </p:sp>
      <p:sp>
        <p:nvSpPr>
          <p:cNvPr id="28" name="Text 26"/>
          <p:cNvSpPr/>
          <p:nvPr/>
        </p:nvSpPr>
        <p:spPr>
          <a:xfrm>
            <a:off x="4910328" y="1801368"/>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29" name="Text 27"/>
          <p:cNvSpPr/>
          <p:nvPr/>
        </p:nvSpPr>
        <p:spPr>
          <a:xfrm>
            <a:off x="5669280" y="1801368"/>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Application log delivery</a:t>
            </a:r>
            <a:endParaRPr lang="en-US" sz="950" dirty="0"/>
          </a:p>
        </p:txBody>
      </p:sp>
      <p:sp>
        <p:nvSpPr>
          <p:cNvPr id="30" name="Shape 28"/>
          <p:cNvSpPr/>
          <p:nvPr/>
        </p:nvSpPr>
        <p:spPr>
          <a:xfrm>
            <a:off x="4800600" y="2267712"/>
            <a:ext cx="4114800" cy="658368"/>
          </a:xfrm>
          <a:prstGeom prst="roundRect">
            <a:avLst>
              <a:gd name="adj" fmla="val 11111"/>
            </a:avLst>
          </a:prstGeom>
          <a:solidFill>
            <a:srgbClr val="713F12"/>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31" name="Text 29"/>
          <p:cNvSpPr/>
          <p:nvPr/>
        </p:nvSpPr>
        <p:spPr>
          <a:xfrm>
            <a:off x="4910328" y="2322576"/>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SSM / SSM Messages</a:t>
            </a:r>
            <a:endParaRPr lang="en-US" sz="1200" dirty="0"/>
          </a:p>
        </p:txBody>
      </p:sp>
      <p:sp>
        <p:nvSpPr>
          <p:cNvPr id="32" name="Shape 30"/>
          <p:cNvSpPr/>
          <p:nvPr/>
        </p:nvSpPr>
        <p:spPr>
          <a:xfrm>
            <a:off x="4910328" y="2606040"/>
            <a:ext cx="685800" cy="201168"/>
          </a:xfrm>
          <a:prstGeom prst="roundRect">
            <a:avLst>
              <a:gd name="adj" fmla="val 18182"/>
            </a:avLst>
          </a:prstGeom>
          <a:solidFill>
            <a:srgbClr val="0891B2"/>
          </a:solidFill>
          <a:ln/>
        </p:spPr>
      </p:sp>
      <p:sp>
        <p:nvSpPr>
          <p:cNvPr id="33" name="Text 31"/>
          <p:cNvSpPr/>
          <p:nvPr/>
        </p:nvSpPr>
        <p:spPr>
          <a:xfrm>
            <a:off x="4910328" y="2606040"/>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34" name="Text 32"/>
          <p:cNvSpPr/>
          <p:nvPr/>
        </p:nvSpPr>
        <p:spPr>
          <a:xfrm>
            <a:off x="5669280" y="2606040"/>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Secure shell session manager</a:t>
            </a:r>
            <a:endParaRPr lang="en-US" sz="950" dirty="0"/>
          </a:p>
        </p:txBody>
      </p:sp>
      <p:sp>
        <p:nvSpPr>
          <p:cNvPr id="35" name="Shape 33"/>
          <p:cNvSpPr/>
          <p:nvPr/>
        </p:nvSpPr>
        <p:spPr>
          <a:xfrm>
            <a:off x="4800600" y="3072384"/>
            <a:ext cx="4114800" cy="658368"/>
          </a:xfrm>
          <a:prstGeom prst="roundRect">
            <a:avLst>
              <a:gd name="adj" fmla="val 11111"/>
            </a:avLst>
          </a:prstGeom>
          <a:solidFill>
            <a:srgbClr val="7C2D12"/>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36" name="Text 34"/>
          <p:cNvSpPr/>
          <p:nvPr/>
        </p:nvSpPr>
        <p:spPr>
          <a:xfrm>
            <a:off x="4910328" y="312724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EC2 Messages</a:t>
            </a:r>
            <a:endParaRPr lang="en-US" sz="1200" dirty="0"/>
          </a:p>
        </p:txBody>
      </p:sp>
      <p:sp>
        <p:nvSpPr>
          <p:cNvPr id="37" name="Shape 35"/>
          <p:cNvSpPr/>
          <p:nvPr/>
        </p:nvSpPr>
        <p:spPr>
          <a:xfrm>
            <a:off x="4910328" y="3410712"/>
            <a:ext cx="685800" cy="201168"/>
          </a:xfrm>
          <a:prstGeom prst="roundRect">
            <a:avLst>
              <a:gd name="adj" fmla="val 18182"/>
            </a:avLst>
          </a:prstGeom>
          <a:solidFill>
            <a:srgbClr val="0891B2"/>
          </a:solidFill>
          <a:ln/>
        </p:spPr>
      </p:sp>
      <p:sp>
        <p:nvSpPr>
          <p:cNvPr id="38" name="Text 36"/>
          <p:cNvSpPr/>
          <p:nvPr/>
        </p:nvSpPr>
        <p:spPr>
          <a:xfrm>
            <a:off x="4910328" y="3410712"/>
            <a:ext cx="6858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Interface</a:t>
            </a:r>
            <a:endParaRPr lang="en-US" sz="750" dirty="0"/>
          </a:p>
        </p:txBody>
      </p:sp>
      <p:sp>
        <p:nvSpPr>
          <p:cNvPr id="39" name="Text 37"/>
          <p:cNvSpPr/>
          <p:nvPr/>
        </p:nvSpPr>
        <p:spPr>
          <a:xfrm>
            <a:off x="5669280" y="3410712"/>
            <a:ext cx="3108960" cy="219456"/>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Systems Manager communication</a:t>
            </a:r>
            <a:endParaRPr lang="en-US" sz="950" dirty="0"/>
          </a:p>
        </p:txBody>
      </p:sp>
      <p:sp>
        <p:nvSpPr>
          <p:cNvPr id="40" name="Shape 38"/>
          <p:cNvSpPr/>
          <p:nvPr/>
        </p:nvSpPr>
        <p:spPr>
          <a:xfrm>
            <a:off x="4800600" y="4526280"/>
            <a:ext cx="4114800" cy="502920"/>
          </a:xfrm>
          <a:prstGeom prst="roundRect">
            <a:avLst>
              <a:gd name="adj" fmla="val 14545"/>
            </a:avLst>
          </a:prstGeom>
          <a:solidFill>
            <a:srgbClr val="1A3A6B"/>
          </a:solidFill>
          <a:ln w="12700">
            <a:solidFill>
              <a:srgbClr val="FF9900"/>
            </a:solidFill>
            <a:prstDash val="solid"/>
          </a:ln>
        </p:spPr>
      </p:sp>
      <p:sp>
        <p:nvSpPr>
          <p:cNvPr id="41" name="Text 39"/>
          <p:cNvSpPr/>
          <p:nvPr/>
        </p:nvSpPr>
        <p:spPr>
          <a:xfrm>
            <a:off x="4846320" y="4544568"/>
            <a:ext cx="4023360" cy="466344"/>
          </a:xfrm>
          <a:prstGeom prst="rect">
            <a:avLst/>
          </a:prstGeom>
          <a:noFill/>
          <a:ln/>
        </p:spPr>
        <p:txBody>
          <a:bodyPr wrap="square" lIns="0" tIns="0" rIns="0" bIns="0" rtlCol="0" anchor="ctr"/>
          <a:lstStyle/>
          <a:p>
            <a:pPr algn="ctr" indent="0" marL="0">
              <a:buNone/>
            </a:pPr>
            <a:r>
              <a:rPr lang="en-US" sz="950" dirty="0">
                <a:solidFill>
                  <a:srgbClr val="FF9900"/>
                </a:solidFill>
                <a:latin typeface="Calibri" pitchFamily="34" charset="0"/>
                <a:ea typeface="Calibri" pitchFamily="34" charset="-122"/>
                <a:cs typeface="Calibri" pitchFamily="34" charset="-120"/>
              </a:rPr>
              <a:t>✦ Reduced NAT costs   ✦ Private AWS connectivity   ✦ No internet traffic for AWS APIs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Load Balancer Design</a:t>
            </a:r>
            <a:endParaRPr lang="en-US" sz="2800" dirty="0"/>
          </a:p>
        </p:txBody>
      </p:sp>
      <p:sp>
        <p:nvSpPr>
          <p:cNvPr id="4" name="Shape 2"/>
          <p:cNvSpPr/>
          <p:nvPr/>
        </p:nvSpPr>
        <p:spPr>
          <a:xfrm>
            <a:off x="365760" y="960120"/>
            <a:ext cx="3931920" cy="3977640"/>
          </a:xfrm>
          <a:prstGeom prst="roundRect">
            <a:avLst>
              <a:gd name="adj" fmla="val 2791"/>
            </a:avLst>
          </a:prstGeom>
          <a:solidFill>
            <a:srgbClr val="F0FDF4"/>
          </a:solidFill>
          <a:ln w="19050">
            <a:solidFill>
              <a:srgbClr val="059669"/>
            </a:solidFill>
            <a:prstDash val="solid"/>
          </a:ln>
          <a:effectLst>
            <a:outerShdw sx="100000" sy="100000" kx="0" ky="0" algn="bl" rotWithShape="0" blurRad="127000" dist="25400" dir="2700000">
              <a:srgbClr val="000000">
                <a:alpha val="10000"/>
              </a:srgbClr>
            </a:outerShdw>
          </a:effectLst>
        </p:spPr>
      </p:sp>
      <p:sp>
        <p:nvSpPr>
          <p:cNvPr id="5" name="Shape 3"/>
          <p:cNvSpPr/>
          <p:nvPr/>
        </p:nvSpPr>
        <p:spPr>
          <a:xfrm>
            <a:off x="457200" y="1024128"/>
            <a:ext cx="3749040" cy="475488"/>
          </a:xfrm>
          <a:prstGeom prst="roundRect">
            <a:avLst>
              <a:gd name="adj" fmla="val 15385"/>
            </a:avLst>
          </a:prstGeom>
          <a:solidFill>
            <a:srgbClr val="059669"/>
          </a:solidFill>
          <a:ln/>
        </p:spPr>
      </p:sp>
      <p:sp>
        <p:nvSpPr>
          <p:cNvPr id="6" name="Text 4"/>
          <p:cNvSpPr/>
          <p:nvPr/>
        </p:nvSpPr>
        <p:spPr>
          <a:xfrm>
            <a:off x="457200" y="1024128"/>
            <a:ext cx="37490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Public Application Load Balancer</a:t>
            </a:r>
            <a:endParaRPr lang="en-US" sz="1300" dirty="0"/>
          </a:p>
        </p:txBody>
      </p:sp>
      <p:sp>
        <p:nvSpPr>
          <p:cNvPr id="7" name="Text 5"/>
          <p:cNvSpPr/>
          <p:nvPr/>
        </p:nvSpPr>
        <p:spPr>
          <a:xfrm>
            <a:off x="594360" y="1600200"/>
            <a:ext cx="3474720" cy="1828800"/>
          </a:xfrm>
          <a:prstGeom prst="rect">
            <a:avLst/>
          </a:prstGeom>
          <a:noFill/>
          <a:ln/>
        </p:spPr>
        <p:txBody>
          <a:bodyPr wrap="square" lIns="50800" tIns="50800" rIns="50800" bIns="5080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Internet-facing (public subnet)</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SSL/TLS termination</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Routes to Frontend Target Group</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Health checks on /</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Integrated with AWS WAF</a:t>
            </a:r>
            <a:endParaRPr lang="en-US" sz="1200" dirty="0"/>
          </a:p>
        </p:txBody>
      </p:sp>
      <p:sp>
        <p:nvSpPr>
          <p:cNvPr id="8" name="Shape 6"/>
          <p:cNvSpPr/>
          <p:nvPr/>
        </p:nvSpPr>
        <p:spPr>
          <a:xfrm>
            <a:off x="914400" y="3566160"/>
            <a:ext cx="2560320" cy="685800"/>
          </a:xfrm>
          <a:prstGeom prst="roundRect">
            <a:avLst>
              <a:gd name="adj" fmla="val 10667"/>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914400" y="3566160"/>
            <a:ext cx="2560320" cy="68580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(React + Nginx)</a:t>
            </a:r>
            <a:endParaRPr lang="en-US" sz="1000" dirty="0"/>
          </a:p>
        </p:txBody>
      </p:sp>
      <p:sp>
        <p:nvSpPr>
          <p:cNvPr id="10" name="Shape 8"/>
          <p:cNvSpPr/>
          <p:nvPr/>
        </p:nvSpPr>
        <p:spPr>
          <a:xfrm>
            <a:off x="2331720" y="3429000"/>
            <a:ext cx="0" cy="137160"/>
          </a:xfrm>
          <a:prstGeom prst="line">
            <a:avLst/>
          </a:prstGeom>
          <a:noFill/>
          <a:ln w="25400">
            <a:solidFill>
              <a:srgbClr val="059669"/>
            </a:solidFill>
            <a:prstDash val="solid"/>
          </a:ln>
        </p:spPr>
      </p:sp>
      <p:sp>
        <p:nvSpPr>
          <p:cNvPr id="11" name="Shape 9"/>
          <p:cNvSpPr/>
          <p:nvPr/>
        </p:nvSpPr>
        <p:spPr>
          <a:xfrm>
            <a:off x="4663440" y="960120"/>
            <a:ext cx="4114800" cy="3977640"/>
          </a:xfrm>
          <a:prstGeom prst="roundRect">
            <a:avLst>
              <a:gd name="adj" fmla="val 2759"/>
            </a:avLst>
          </a:prstGeom>
          <a:solidFill>
            <a:srgbClr val="EFF6FF"/>
          </a:solidFill>
          <a:ln w="19050">
            <a:solidFill>
              <a:srgbClr val="2563EB"/>
            </a:solidFill>
            <a:prstDash val="solid"/>
          </a:ln>
          <a:effectLst>
            <a:outerShdw sx="100000" sy="100000" kx="0" ky="0" algn="bl" rotWithShape="0" blurRad="127000" dist="25400" dir="2700000">
              <a:srgbClr val="000000">
                <a:alpha val="10000"/>
              </a:srgbClr>
            </a:outerShdw>
          </a:effectLst>
        </p:spPr>
      </p:sp>
      <p:sp>
        <p:nvSpPr>
          <p:cNvPr id="12" name="Shape 10"/>
          <p:cNvSpPr/>
          <p:nvPr/>
        </p:nvSpPr>
        <p:spPr>
          <a:xfrm>
            <a:off x="4754880" y="1024128"/>
            <a:ext cx="3931920" cy="475488"/>
          </a:xfrm>
          <a:prstGeom prst="roundRect">
            <a:avLst>
              <a:gd name="adj" fmla="val 15385"/>
            </a:avLst>
          </a:prstGeom>
          <a:solidFill>
            <a:srgbClr val="2563EB"/>
          </a:solidFill>
          <a:ln/>
        </p:spPr>
      </p:sp>
      <p:sp>
        <p:nvSpPr>
          <p:cNvPr id="13" name="Text 11"/>
          <p:cNvSpPr/>
          <p:nvPr/>
        </p:nvSpPr>
        <p:spPr>
          <a:xfrm>
            <a:off x="4754880" y="1024128"/>
            <a:ext cx="39319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Private Internal ALB — Path-Based Routing</a:t>
            </a:r>
            <a:endParaRPr lang="en-US" sz="1200" dirty="0"/>
          </a:p>
        </p:txBody>
      </p:sp>
      <p:sp>
        <p:nvSpPr>
          <p:cNvPr id="14" name="Shape 12"/>
          <p:cNvSpPr/>
          <p:nvPr/>
        </p:nvSpPr>
        <p:spPr>
          <a:xfrm>
            <a:off x="4800600" y="1627632"/>
            <a:ext cx="3840480" cy="512064"/>
          </a:xfrm>
          <a:prstGeom prst="roundRect">
            <a:avLst>
              <a:gd name="adj" fmla="val 10714"/>
            </a:avLst>
          </a:prstGeom>
          <a:solidFill>
            <a:srgbClr val="065F46"/>
          </a:solidFill>
          <a:ln/>
        </p:spPr>
      </p:sp>
      <p:sp>
        <p:nvSpPr>
          <p:cNvPr id="15" name="Text 13"/>
          <p:cNvSpPr/>
          <p:nvPr/>
        </p:nvSpPr>
        <p:spPr>
          <a:xfrm>
            <a:off x="4892040" y="1664208"/>
            <a:ext cx="1371600" cy="429768"/>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/auth/*</a:t>
            </a:r>
            <a:endParaRPr lang="en-US" sz="1100" dirty="0"/>
          </a:p>
        </p:txBody>
      </p:sp>
      <p:sp>
        <p:nvSpPr>
          <p:cNvPr id="16" name="Text 14"/>
          <p:cNvSpPr/>
          <p:nvPr/>
        </p:nvSpPr>
        <p:spPr>
          <a:xfrm>
            <a:off x="6263640" y="1664208"/>
            <a:ext cx="2286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Identity Service</a:t>
            </a:r>
            <a:endParaRPr lang="en-US" sz="1100" dirty="0"/>
          </a:p>
        </p:txBody>
      </p:sp>
      <p:sp>
        <p:nvSpPr>
          <p:cNvPr id="17" name="Shape 15"/>
          <p:cNvSpPr/>
          <p:nvPr/>
        </p:nvSpPr>
        <p:spPr>
          <a:xfrm>
            <a:off x="4800600" y="2249424"/>
            <a:ext cx="3840480" cy="512064"/>
          </a:xfrm>
          <a:prstGeom prst="roundRect">
            <a:avLst>
              <a:gd name="adj" fmla="val 10714"/>
            </a:avLst>
          </a:prstGeom>
          <a:solidFill>
            <a:srgbClr val="065F46"/>
          </a:solidFill>
          <a:ln/>
        </p:spPr>
      </p:sp>
      <p:sp>
        <p:nvSpPr>
          <p:cNvPr id="18" name="Text 16"/>
          <p:cNvSpPr/>
          <p:nvPr/>
        </p:nvSpPr>
        <p:spPr>
          <a:xfrm>
            <a:off x="4892040" y="2286000"/>
            <a:ext cx="1371600" cy="429768"/>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/users/*</a:t>
            </a:r>
            <a:endParaRPr lang="en-US" sz="1100" dirty="0"/>
          </a:p>
        </p:txBody>
      </p:sp>
      <p:sp>
        <p:nvSpPr>
          <p:cNvPr id="19" name="Text 17"/>
          <p:cNvSpPr/>
          <p:nvPr/>
        </p:nvSpPr>
        <p:spPr>
          <a:xfrm>
            <a:off x="6263640" y="2286000"/>
            <a:ext cx="2286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Identity Service</a:t>
            </a:r>
            <a:endParaRPr lang="en-US" sz="1100" dirty="0"/>
          </a:p>
        </p:txBody>
      </p:sp>
      <p:sp>
        <p:nvSpPr>
          <p:cNvPr id="20" name="Shape 18"/>
          <p:cNvSpPr/>
          <p:nvPr/>
        </p:nvSpPr>
        <p:spPr>
          <a:xfrm>
            <a:off x="4800600" y="2871216"/>
            <a:ext cx="3840480" cy="512064"/>
          </a:xfrm>
          <a:prstGeom prst="roundRect">
            <a:avLst>
              <a:gd name="adj" fmla="val 10714"/>
            </a:avLst>
          </a:prstGeom>
          <a:solidFill>
            <a:srgbClr val="1E3A5F"/>
          </a:solidFill>
          <a:ln/>
        </p:spPr>
      </p:sp>
      <p:sp>
        <p:nvSpPr>
          <p:cNvPr id="21" name="Text 19"/>
          <p:cNvSpPr/>
          <p:nvPr/>
        </p:nvSpPr>
        <p:spPr>
          <a:xfrm>
            <a:off x="4892040" y="2907792"/>
            <a:ext cx="1371600" cy="429768"/>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/events/*</a:t>
            </a:r>
            <a:endParaRPr lang="en-US" sz="1100" dirty="0"/>
          </a:p>
        </p:txBody>
      </p:sp>
      <p:sp>
        <p:nvSpPr>
          <p:cNvPr id="22" name="Text 20"/>
          <p:cNvSpPr/>
          <p:nvPr/>
        </p:nvSpPr>
        <p:spPr>
          <a:xfrm>
            <a:off x="6263640" y="2907792"/>
            <a:ext cx="2286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Event Service</a:t>
            </a:r>
            <a:endParaRPr lang="en-US" sz="1100" dirty="0"/>
          </a:p>
        </p:txBody>
      </p:sp>
      <p:sp>
        <p:nvSpPr>
          <p:cNvPr id="23" name="Shape 21"/>
          <p:cNvSpPr/>
          <p:nvPr/>
        </p:nvSpPr>
        <p:spPr>
          <a:xfrm>
            <a:off x="4800600" y="3493008"/>
            <a:ext cx="3840480" cy="512064"/>
          </a:xfrm>
          <a:prstGeom prst="roundRect">
            <a:avLst>
              <a:gd name="adj" fmla="val 10714"/>
            </a:avLst>
          </a:prstGeom>
          <a:solidFill>
            <a:srgbClr val="7C2D12"/>
          </a:solidFill>
          <a:ln/>
        </p:spPr>
      </p:sp>
      <p:sp>
        <p:nvSpPr>
          <p:cNvPr id="24" name="Text 22"/>
          <p:cNvSpPr/>
          <p:nvPr/>
        </p:nvSpPr>
        <p:spPr>
          <a:xfrm>
            <a:off x="4892040" y="3529584"/>
            <a:ext cx="1371600" cy="429768"/>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/bookings/*</a:t>
            </a:r>
            <a:endParaRPr lang="en-US" sz="1100" dirty="0"/>
          </a:p>
        </p:txBody>
      </p:sp>
      <p:sp>
        <p:nvSpPr>
          <p:cNvPr id="25" name="Text 23"/>
          <p:cNvSpPr/>
          <p:nvPr/>
        </p:nvSpPr>
        <p:spPr>
          <a:xfrm>
            <a:off x="6263640" y="3529584"/>
            <a:ext cx="2286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Booking Service</a:t>
            </a:r>
            <a:endParaRPr lang="en-US" sz="1100" dirty="0"/>
          </a:p>
        </p:txBody>
      </p:sp>
      <p:sp>
        <p:nvSpPr>
          <p:cNvPr id="26" name="Shape 24"/>
          <p:cNvSpPr/>
          <p:nvPr/>
        </p:nvSpPr>
        <p:spPr>
          <a:xfrm>
            <a:off x="4800600" y="4114800"/>
            <a:ext cx="3840480" cy="512064"/>
          </a:xfrm>
          <a:prstGeom prst="roundRect">
            <a:avLst>
              <a:gd name="adj" fmla="val 10714"/>
            </a:avLst>
          </a:prstGeom>
          <a:solidFill>
            <a:srgbClr val="4A1D96"/>
          </a:solidFill>
          <a:ln/>
        </p:spPr>
      </p:sp>
      <p:sp>
        <p:nvSpPr>
          <p:cNvPr id="27" name="Text 25"/>
          <p:cNvSpPr/>
          <p:nvPr/>
        </p:nvSpPr>
        <p:spPr>
          <a:xfrm>
            <a:off x="4892040" y="4151376"/>
            <a:ext cx="1371600" cy="429768"/>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/chatbot/*</a:t>
            </a:r>
            <a:endParaRPr lang="en-US" sz="1100" dirty="0"/>
          </a:p>
        </p:txBody>
      </p:sp>
      <p:sp>
        <p:nvSpPr>
          <p:cNvPr id="28" name="Text 26"/>
          <p:cNvSpPr/>
          <p:nvPr/>
        </p:nvSpPr>
        <p:spPr>
          <a:xfrm>
            <a:off x="6263640" y="4151376"/>
            <a:ext cx="2286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Chatbot Service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Auto Scaling &amp; Compute</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65760" y="1143000"/>
            <a:ext cx="2926080" cy="658368"/>
          </a:xfrm>
          <a:prstGeom prst="roundRect">
            <a:avLst>
              <a:gd name="adj" fmla="val 11111"/>
            </a:avLst>
          </a:prstGeom>
          <a:solidFill>
            <a:srgbClr val="1A3A6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365760" y="1143000"/>
            <a:ext cx="292608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Launch Template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AMI + Instance Type + User Data</a:t>
            </a:r>
            <a:endParaRPr lang="en-US" sz="1000" dirty="0"/>
          </a:p>
        </p:txBody>
      </p:sp>
      <p:sp>
        <p:nvSpPr>
          <p:cNvPr id="6" name="Shape 4"/>
          <p:cNvSpPr/>
          <p:nvPr/>
        </p:nvSpPr>
        <p:spPr>
          <a:xfrm>
            <a:off x="1828800" y="1801368"/>
            <a:ext cx="0" cy="256032"/>
          </a:xfrm>
          <a:prstGeom prst="line">
            <a:avLst/>
          </a:prstGeom>
          <a:noFill/>
          <a:ln w="25400">
            <a:solidFill>
              <a:srgbClr val="FF9900"/>
            </a:solidFill>
            <a:prstDash val="solid"/>
          </a:ln>
        </p:spPr>
      </p:sp>
      <p:sp>
        <p:nvSpPr>
          <p:cNvPr id="7" name="Shape 5"/>
          <p:cNvSpPr/>
          <p:nvPr/>
        </p:nvSpPr>
        <p:spPr>
          <a:xfrm>
            <a:off x="365760" y="2057400"/>
            <a:ext cx="2926080" cy="475488"/>
          </a:xfrm>
          <a:prstGeom prst="roundRect">
            <a:avLst>
              <a:gd name="adj" fmla="val 15385"/>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8" name="Text 6"/>
          <p:cNvSpPr/>
          <p:nvPr/>
        </p:nvSpPr>
        <p:spPr>
          <a:xfrm>
            <a:off x="365760" y="2057400"/>
            <a:ext cx="2926080" cy="475488"/>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Auto Scaling Group</a:t>
            </a:r>
            <a:endParaRPr lang="en-US" sz="1100" dirty="0"/>
          </a:p>
        </p:txBody>
      </p:sp>
      <p:sp>
        <p:nvSpPr>
          <p:cNvPr id="9" name="Shape 7"/>
          <p:cNvSpPr/>
          <p:nvPr/>
        </p:nvSpPr>
        <p:spPr>
          <a:xfrm>
            <a:off x="365760" y="2788920"/>
            <a:ext cx="896112" cy="640080"/>
          </a:xfrm>
          <a:prstGeom prst="roundRect">
            <a:avLst>
              <a:gd name="adj" fmla="val 11429"/>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0" name="Text 8"/>
          <p:cNvSpPr/>
          <p:nvPr/>
        </p:nvSpPr>
        <p:spPr>
          <a:xfrm>
            <a:off x="365760" y="2788920"/>
            <a:ext cx="896112" cy="6400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EC2</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Private AZ-1a</a:t>
            </a:r>
            <a:endParaRPr lang="en-US" sz="800" dirty="0"/>
          </a:p>
        </p:txBody>
      </p:sp>
      <p:sp>
        <p:nvSpPr>
          <p:cNvPr id="11" name="Shape 9"/>
          <p:cNvSpPr/>
          <p:nvPr/>
        </p:nvSpPr>
        <p:spPr>
          <a:xfrm>
            <a:off x="813816" y="2532888"/>
            <a:ext cx="0" cy="256032"/>
          </a:xfrm>
          <a:prstGeom prst="line">
            <a:avLst/>
          </a:prstGeom>
          <a:noFill/>
          <a:ln w="15240">
            <a:solidFill>
              <a:srgbClr val="FF9900"/>
            </a:solidFill>
            <a:prstDash val="solid"/>
          </a:ln>
        </p:spPr>
      </p:sp>
      <p:sp>
        <p:nvSpPr>
          <p:cNvPr id="12" name="Shape 10"/>
          <p:cNvSpPr/>
          <p:nvPr/>
        </p:nvSpPr>
        <p:spPr>
          <a:xfrm>
            <a:off x="1389888" y="2788920"/>
            <a:ext cx="896112" cy="640080"/>
          </a:xfrm>
          <a:prstGeom prst="roundRect">
            <a:avLst>
              <a:gd name="adj" fmla="val 11429"/>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1389888" y="2788920"/>
            <a:ext cx="896112" cy="6400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EC2</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Private AZ-1b</a:t>
            </a:r>
            <a:endParaRPr lang="en-US" sz="800" dirty="0"/>
          </a:p>
        </p:txBody>
      </p:sp>
      <p:sp>
        <p:nvSpPr>
          <p:cNvPr id="14" name="Shape 12"/>
          <p:cNvSpPr/>
          <p:nvPr/>
        </p:nvSpPr>
        <p:spPr>
          <a:xfrm>
            <a:off x="1837944" y="2532888"/>
            <a:ext cx="0" cy="256032"/>
          </a:xfrm>
          <a:prstGeom prst="line">
            <a:avLst/>
          </a:prstGeom>
          <a:noFill/>
          <a:ln w="15240">
            <a:solidFill>
              <a:srgbClr val="FF9900"/>
            </a:solidFill>
            <a:prstDash val="solid"/>
          </a:ln>
        </p:spPr>
      </p:sp>
      <p:sp>
        <p:nvSpPr>
          <p:cNvPr id="15" name="Shape 13"/>
          <p:cNvSpPr/>
          <p:nvPr/>
        </p:nvSpPr>
        <p:spPr>
          <a:xfrm>
            <a:off x="2414016" y="2788920"/>
            <a:ext cx="896112" cy="640080"/>
          </a:xfrm>
          <a:prstGeom prst="roundRect">
            <a:avLst>
              <a:gd name="adj" fmla="val 11429"/>
            </a:avLst>
          </a:prstGeom>
          <a:solidFill>
            <a:srgbClr val="374151"/>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6" name="Text 14"/>
          <p:cNvSpPr/>
          <p:nvPr/>
        </p:nvSpPr>
        <p:spPr>
          <a:xfrm>
            <a:off x="2414016" y="2788920"/>
            <a:ext cx="896112" cy="6400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EC2</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(Scale-Out)</a:t>
            </a:r>
            <a:endParaRPr lang="en-US" sz="800" dirty="0"/>
          </a:p>
        </p:txBody>
      </p:sp>
      <p:sp>
        <p:nvSpPr>
          <p:cNvPr id="17" name="Shape 15"/>
          <p:cNvSpPr/>
          <p:nvPr/>
        </p:nvSpPr>
        <p:spPr>
          <a:xfrm>
            <a:off x="2862072" y="2532888"/>
            <a:ext cx="0" cy="256032"/>
          </a:xfrm>
          <a:prstGeom prst="line">
            <a:avLst/>
          </a:prstGeom>
          <a:noFill/>
          <a:ln w="15240">
            <a:solidFill>
              <a:srgbClr val="FF9900"/>
            </a:solidFill>
            <a:prstDash val="solid"/>
          </a:ln>
        </p:spPr>
      </p:sp>
      <p:sp>
        <p:nvSpPr>
          <p:cNvPr id="18" name="Shape 16"/>
          <p:cNvSpPr/>
          <p:nvPr/>
        </p:nvSpPr>
        <p:spPr>
          <a:xfrm>
            <a:off x="365760" y="3703320"/>
            <a:ext cx="2926080" cy="566928"/>
          </a:xfrm>
          <a:prstGeom prst="roundRect">
            <a:avLst>
              <a:gd name="adj" fmla="val 12903"/>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9" name="Text 17"/>
          <p:cNvSpPr/>
          <p:nvPr/>
        </p:nvSpPr>
        <p:spPr>
          <a:xfrm>
            <a:off x="365760" y="3703320"/>
            <a:ext cx="2926080" cy="566928"/>
          </a:xfrm>
          <a:prstGeom prst="rect">
            <a:avLst/>
          </a:prstGeom>
          <a:noFill/>
          <a:ln/>
        </p:spPr>
        <p:txBody>
          <a:bodyPr wrap="square" lIns="50800" tIns="50800" rIns="50800" bIns="5080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Instance Refresh</a:t>
            </a:r>
            <a:endParaRPr lang="en-US" sz="1000" dirty="0"/>
          </a:p>
          <a:p>
            <a:pPr algn="ctr" indent="0" marL="0">
              <a:buNone/>
            </a:pPr>
            <a:r>
              <a:rPr lang="en-US" sz="1000" b="1" dirty="0">
                <a:solidFill>
                  <a:srgbClr val="0A1628"/>
                </a:solidFill>
                <a:latin typeface="Calibri" pitchFamily="34" charset="0"/>
                <a:ea typeface="Calibri" pitchFamily="34" charset="-122"/>
                <a:cs typeface="Calibri" pitchFamily="34" charset="-120"/>
              </a:rPr>
              <a:t>(Rolling Updates)</a:t>
            </a:r>
            <a:endParaRPr lang="en-US" sz="1000" dirty="0"/>
          </a:p>
        </p:txBody>
      </p:sp>
      <p:sp>
        <p:nvSpPr>
          <p:cNvPr id="20" name="Shape 18"/>
          <p:cNvSpPr/>
          <p:nvPr/>
        </p:nvSpPr>
        <p:spPr>
          <a:xfrm>
            <a:off x="1828800" y="3419856"/>
            <a:ext cx="0" cy="283464"/>
          </a:xfrm>
          <a:prstGeom prst="line">
            <a:avLst/>
          </a:prstGeom>
          <a:noFill/>
          <a:ln w="19050">
            <a:solidFill>
              <a:srgbClr val="FF9900"/>
            </a:solidFill>
            <a:prstDash val="solid"/>
          </a:ln>
        </p:spPr>
      </p:sp>
      <p:sp>
        <p:nvSpPr>
          <p:cNvPr id="21" name="Shape 19"/>
          <p:cNvSpPr/>
          <p:nvPr/>
        </p:nvSpPr>
        <p:spPr>
          <a:xfrm>
            <a:off x="3566160" y="1115568"/>
            <a:ext cx="5212080" cy="768096"/>
          </a:xfrm>
          <a:prstGeom prst="roundRect">
            <a:avLst>
              <a:gd name="adj" fmla="val 9524"/>
            </a:avLst>
          </a:prstGeom>
          <a:solidFill>
            <a:srgbClr val="065F46"/>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22" name="Text 20"/>
          <p:cNvSpPr/>
          <p:nvPr/>
        </p:nvSpPr>
        <p:spPr>
          <a:xfrm>
            <a:off x="3703320" y="1152144"/>
            <a:ext cx="493776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Self-Healing</a:t>
            </a:r>
            <a:endParaRPr lang="en-US" sz="1300" dirty="0"/>
          </a:p>
        </p:txBody>
      </p:sp>
      <p:sp>
        <p:nvSpPr>
          <p:cNvPr id="23" name="Text 21"/>
          <p:cNvSpPr/>
          <p:nvPr/>
        </p:nvSpPr>
        <p:spPr>
          <a:xfrm>
            <a:off x="3703320" y="1408176"/>
            <a:ext cx="4983480" cy="365760"/>
          </a:xfrm>
          <a:prstGeom prst="rect">
            <a:avLst/>
          </a:prstGeom>
          <a:noFill/>
          <a:ln/>
        </p:spPr>
        <p:txBody>
          <a:bodyPr wrap="square" lIns="0" tIns="0" rIns="0" bIns="0" rtlCol="0" anchor="ctr"/>
          <a:lstStyle/>
          <a:p>
            <a:pPr indent="0" marL="0">
              <a:buNone/>
            </a:pPr>
            <a:r>
              <a:rPr lang="en-US" sz="1000" dirty="0">
                <a:solidFill>
                  <a:srgbClr val="BFDBFE"/>
                </a:solidFill>
                <a:latin typeface="Calibri" pitchFamily="34" charset="0"/>
                <a:ea typeface="Calibri" pitchFamily="34" charset="-122"/>
                <a:cs typeface="Calibri" pitchFamily="34" charset="-120"/>
              </a:rPr>
              <a:t>Failed instances are automatically replaced. ASG detects unhealthy instances via ALB health checks and launches replacements.</a:t>
            </a:r>
            <a:endParaRPr lang="en-US" sz="1000" dirty="0"/>
          </a:p>
        </p:txBody>
      </p:sp>
      <p:sp>
        <p:nvSpPr>
          <p:cNvPr id="24" name="Shape 22"/>
          <p:cNvSpPr/>
          <p:nvPr/>
        </p:nvSpPr>
        <p:spPr>
          <a:xfrm>
            <a:off x="3566160" y="2029968"/>
            <a:ext cx="5212080" cy="768096"/>
          </a:xfrm>
          <a:prstGeom prst="roundRect">
            <a:avLst>
              <a:gd name="adj" fmla="val 9524"/>
            </a:avLst>
          </a:prstGeom>
          <a:solidFill>
            <a:srgbClr val="1E3A5F"/>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25" name="Text 23"/>
          <p:cNvSpPr/>
          <p:nvPr/>
        </p:nvSpPr>
        <p:spPr>
          <a:xfrm>
            <a:off x="3703320" y="2066544"/>
            <a:ext cx="493776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Elastic Scaling</a:t>
            </a:r>
            <a:endParaRPr lang="en-US" sz="1300" dirty="0"/>
          </a:p>
        </p:txBody>
      </p:sp>
      <p:sp>
        <p:nvSpPr>
          <p:cNvPr id="26" name="Text 24"/>
          <p:cNvSpPr/>
          <p:nvPr/>
        </p:nvSpPr>
        <p:spPr>
          <a:xfrm>
            <a:off x="3703320" y="2322576"/>
            <a:ext cx="4983480" cy="365760"/>
          </a:xfrm>
          <a:prstGeom prst="rect">
            <a:avLst/>
          </a:prstGeom>
          <a:noFill/>
          <a:ln/>
        </p:spPr>
        <p:txBody>
          <a:bodyPr wrap="square" lIns="0" tIns="0" rIns="0" bIns="0" rtlCol="0" anchor="ctr"/>
          <a:lstStyle/>
          <a:p>
            <a:pPr indent="0" marL="0">
              <a:buNone/>
            </a:pPr>
            <a:r>
              <a:rPr lang="en-US" sz="1000" dirty="0">
                <a:solidFill>
                  <a:srgbClr val="BFDBFE"/>
                </a:solidFill>
                <a:latin typeface="Calibri" pitchFamily="34" charset="0"/>
                <a:ea typeface="Calibri" pitchFamily="34" charset="-122"/>
                <a:cs typeface="Calibri" pitchFamily="34" charset="-120"/>
              </a:rPr>
              <a:t>Scale out on high CPU/traffic, scale in during quiet periods. Never over-provision or under-provision.</a:t>
            </a:r>
            <a:endParaRPr lang="en-US" sz="1000" dirty="0"/>
          </a:p>
        </p:txBody>
      </p:sp>
      <p:sp>
        <p:nvSpPr>
          <p:cNvPr id="27" name="Shape 25"/>
          <p:cNvSpPr/>
          <p:nvPr/>
        </p:nvSpPr>
        <p:spPr>
          <a:xfrm>
            <a:off x="3566160" y="2944368"/>
            <a:ext cx="5212080" cy="768096"/>
          </a:xfrm>
          <a:prstGeom prst="roundRect">
            <a:avLst>
              <a:gd name="adj" fmla="val 9524"/>
            </a:avLst>
          </a:prstGeom>
          <a:solidFill>
            <a:srgbClr val="4A1D96"/>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28" name="Text 26"/>
          <p:cNvSpPr/>
          <p:nvPr/>
        </p:nvSpPr>
        <p:spPr>
          <a:xfrm>
            <a:off x="3703320" y="2980944"/>
            <a:ext cx="493776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Rolling Deployments</a:t>
            </a:r>
            <a:endParaRPr lang="en-US" sz="1300" dirty="0"/>
          </a:p>
        </p:txBody>
      </p:sp>
      <p:sp>
        <p:nvSpPr>
          <p:cNvPr id="29" name="Text 27"/>
          <p:cNvSpPr/>
          <p:nvPr/>
        </p:nvSpPr>
        <p:spPr>
          <a:xfrm>
            <a:off x="3703320" y="3236976"/>
            <a:ext cx="4983480" cy="365760"/>
          </a:xfrm>
          <a:prstGeom prst="rect">
            <a:avLst/>
          </a:prstGeom>
          <a:noFill/>
          <a:ln/>
        </p:spPr>
        <p:txBody>
          <a:bodyPr wrap="square" lIns="0" tIns="0" rIns="0" bIns="0" rtlCol="0" anchor="ctr"/>
          <a:lstStyle/>
          <a:p>
            <a:pPr indent="0" marL="0">
              <a:buNone/>
            </a:pPr>
            <a:r>
              <a:rPr lang="en-US" sz="1000" dirty="0">
                <a:solidFill>
                  <a:srgbClr val="BFDBFE"/>
                </a:solidFill>
                <a:latin typeface="Calibri" pitchFamily="34" charset="0"/>
                <a:ea typeface="Calibri" pitchFamily="34" charset="-122"/>
                <a:cs typeface="Calibri" pitchFamily="34" charset="-120"/>
              </a:rPr>
              <a:t>Instance Refresh replaces instances one at a time. Zero downtime deployments without needing a CI/CD pipeline.</a:t>
            </a:r>
            <a:endParaRPr lang="en-US" sz="1000" dirty="0"/>
          </a:p>
        </p:txBody>
      </p:sp>
      <p:sp>
        <p:nvSpPr>
          <p:cNvPr id="30" name="Shape 28"/>
          <p:cNvSpPr/>
          <p:nvPr/>
        </p:nvSpPr>
        <p:spPr>
          <a:xfrm>
            <a:off x="3566160" y="3858768"/>
            <a:ext cx="5212080" cy="768096"/>
          </a:xfrm>
          <a:prstGeom prst="roundRect">
            <a:avLst>
              <a:gd name="adj" fmla="val 9524"/>
            </a:avLst>
          </a:prstGeom>
          <a:solidFill>
            <a:srgbClr val="7C2D12"/>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31" name="Text 29"/>
          <p:cNvSpPr/>
          <p:nvPr/>
        </p:nvSpPr>
        <p:spPr>
          <a:xfrm>
            <a:off x="3703320" y="3895344"/>
            <a:ext cx="493776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Multi-AZ Resilience</a:t>
            </a:r>
            <a:endParaRPr lang="en-US" sz="1300" dirty="0"/>
          </a:p>
        </p:txBody>
      </p:sp>
      <p:sp>
        <p:nvSpPr>
          <p:cNvPr id="32" name="Text 30"/>
          <p:cNvSpPr/>
          <p:nvPr/>
        </p:nvSpPr>
        <p:spPr>
          <a:xfrm>
            <a:off x="3703320" y="4151376"/>
            <a:ext cx="4983480" cy="365760"/>
          </a:xfrm>
          <a:prstGeom prst="rect">
            <a:avLst/>
          </a:prstGeom>
          <a:noFill/>
          <a:ln/>
        </p:spPr>
        <p:txBody>
          <a:bodyPr wrap="square" lIns="0" tIns="0" rIns="0" bIns="0" rtlCol="0" anchor="ctr"/>
          <a:lstStyle/>
          <a:p>
            <a:pPr indent="0" marL="0">
              <a:buNone/>
            </a:pPr>
            <a:r>
              <a:rPr lang="en-US" sz="1000" dirty="0">
                <a:solidFill>
                  <a:srgbClr val="BFDBFE"/>
                </a:solidFill>
                <a:latin typeface="Calibri" pitchFamily="34" charset="0"/>
                <a:ea typeface="Calibri" pitchFamily="34" charset="-122"/>
                <a:cs typeface="Calibri" pitchFamily="34" charset="-120"/>
              </a:rPr>
              <a:t>Instances distributed across two AZs. AZ failure doesn't take down the application.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RDS PostgreSQL Architecture</a:t>
            </a:r>
            <a:endParaRPr lang="en-US" sz="2800" dirty="0"/>
          </a:p>
        </p:txBody>
      </p:sp>
      <p:sp>
        <p:nvSpPr>
          <p:cNvPr id="4" name="Shape 2"/>
          <p:cNvSpPr/>
          <p:nvPr/>
        </p:nvSpPr>
        <p:spPr>
          <a:xfrm>
            <a:off x="457200" y="1051560"/>
            <a:ext cx="3200400" cy="731520"/>
          </a:xfrm>
          <a:prstGeom prst="roundRect">
            <a:avLst>
              <a:gd name="adj" fmla="val 10000"/>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457200" y="1051560"/>
            <a:ext cx="3200400" cy="73152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(EC2 Private Subnet)</a:t>
            </a:r>
            <a:endParaRPr lang="en-US" sz="1100" dirty="0"/>
          </a:p>
        </p:txBody>
      </p:sp>
      <p:sp>
        <p:nvSpPr>
          <p:cNvPr id="6" name="Shape 4"/>
          <p:cNvSpPr/>
          <p:nvPr/>
        </p:nvSpPr>
        <p:spPr>
          <a:xfrm>
            <a:off x="2029968" y="1764792"/>
            <a:ext cx="0" cy="228600"/>
          </a:xfrm>
          <a:prstGeom prst="line">
            <a:avLst/>
          </a:prstGeom>
          <a:noFill/>
          <a:ln w="25400">
            <a:solidFill>
              <a:srgbClr val="2563EB"/>
            </a:solidFill>
            <a:prstDash val="solid"/>
          </a:ln>
        </p:spPr>
      </p:sp>
      <p:sp>
        <p:nvSpPr>
          <p:cNvPr id="7" name="Shape 5"/>
          <p:cNvSpPr/>
          <p:nvPr/>
        </p:nvSpPr>
        <p:spPr>
          <a:xfrm>
            <a:off x="1975104" y="1965960"/>
            <a:ext cx="109728" cy="73152"/>
          </a:xfrm>
          <a:prstGeom prst="rect">
            <a:avLst/>
          </a:prstGeom>
          <a:solidFill>
            <a:srgbClr val="2563EB"/>
          </a:solidFill>
          <a:ln/>
        </p:spPr>
      </p:sp>
      <p:sp>
        <p:nvSpPr>
          <p:cNvPr id="8" name="Shape 6"/>
          <p:cNvSpPr/>
          <p:nvPr/>
        </p:nvSpPr>
        <p:spPr>
          <a:xfrm>
            <a:off x="457200" y="2011680"/>
            <a:ext cx="3200400" cy="731520"/>
          </a:xfrm>
          <a:prstGeom prst="roundRect">
            <a:avLst>
              <a:gd name="adj" fmla="val 10000"/>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457200" y="2011680"/>
            <a:ext cx="3200400" cy="73152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SSL/TLS Encrypted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Connection</a:t>
            </a:r>
            <a:endParaRPr lang="en-US" sz="1100" dirty="0"/>
          </a:p>
        </p:txBody>
      </p:sp>
      <p:sp>
        <p:nvSpPr>
          <p:cNvPr id="10" name="Shape 8"/>
          <p:cNvSpPr/>
          <p:nvPr/>
        </p:nvSpPr>
        <p:spPr>
          <a:xfrm>
            <a:off x="2029968" y="2724912"/>
            <a:ext cx="0" cy="228600"/>
          </a:xfrm>
          <a:prstGeom prst="line">
            <a:avLst/>
          </a:prstGeom>
          <a:noFill/>
          <a:ln w="25400">
            <a:solidFill>
              <a:srgbClr val="2563EB"/>
            </a:solidFill>
            <a:prstDash val="solid"/>
          </a:ln>
        </p:spPr>
      </p:sp>
      <p:sp>
        <p:nvSpPr>
          <p:cNvPr id="11" name="Shape 9"/>
          <p:cNvSpPr/>
          <p:nvPr/>
        </p:nvSpPr>
        <p:spPr>
          <a:xfrm>
            <a:off x="1975104" y="2926080"/>
            <a:ext cx="109728" cy="73152"/>
          </a:xfrm>
          <a:prstGeom prst="rect">
            <a:avLst/>
          </a:prstGeom>
          <a:solidFill>
            <a:srgbClr val="2563EB"/>
          </a:solidFill>
          <a:ln/>
        </p:spPr>
      </p:sp>
      <p:sp>
        <p:nvSpPr>
          <p:cNvPr id="12" name="Shape 10"/>
          <p:cNvSpPr/>
          <p:nvPr/>
        </p:nvSpPr>
        <p:spPr>
          <a:xfrm>
            <a:off x="457200" y="2971800"/>
            <a:ext cx="3200400" cy="731520"/>
          </a:xfrm>
          <a:prstGeom prst="roundRect">
            <a:avLst>
              <a:gd name="adj" fmla="val 10000"/>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457200" y="2971800"/>
            <a:ext cx="3200400" cy="73152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Security Group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(Port 5432 only)</a:t>
            </a:r>
            <a:endParaRPr lang="en-US" sz="1100" dirty="0"/>
          </a:p>
        </p:txBody>
      </p:sp>
      <p:sp>
        <p:nvSpPr>
          <p:cNvPr id="14" name="Shape 12"/>
          <p:cNvSpPr/>
          <p:nvPr/>
        </p:nvSpPr>
        <p:spPr>
          <a:xfrm>
            <a:off x="2029968" y="3685032"/>
            <a:ext cx="0" cy="228600"/>
          </a:xfrm>
          <a:prstGeom prst="line">
            <a:avLst/>
          </a:prstGeom>
          <a:noFill/>
          <a:ln w="25400">
            <a:solidFill>
              <a:srgbClr val="2563EB"/>
            </a:solidFill>
            <a:prstDash val="solid"/>
          </a:ln>
        </p:spPr>
      </p:sp>
      <p:sp>
        <p:nvSpPr>
          <p:cNvPr id="15" name="Shape 13"/>
          <p:cNvSpPr/>
          <p:nvPr/>
        </p:nvSpPr>
        <p:spPr>
          <a:xfrm>
            <a:off x="1975104" y="3886200"/>
            <a:ext cx="109728" cy="73152"/>
          </a:xfrm>
          <a:prstGeom prst="rect">
            <a:avLst/>
          </a:prstGeom>
          <a:solidFill>
            <a:srgbClr val="2563EB"/>
          </a:solidFill>
          <a:ln/>
        </p:spPr>
      </p:sp>
      <p:sp>
        <p:nvSpPr>
          <p:cNvPr id="16" name="Shape 14"/>
          <p:cNvSpPr/>
          <p:nvPr/>
        </p:nvSpPr>
        <p:spPr>
          <a:xfrm>
            <a:off x="457200" y="3931920"/>
            <a:ext cx="3200400" cy="731520"/>
          </a:xfrm>
          <a:prstGeom prst="roundRect">
            <a:avLst>
              <a:gd name="adj" fmla="val 10000"/>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457200" y="3931920"/>
            <a:ext cx="3200400" cy="73152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RDS PostgreSQL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(Private DB Subnet)</a:t>
            </a:r>
            <a:endParaRPr lang="en-US" sz="1100" dirty="0"/>
          </a:p>
        </p:txBody>
      </p:sp>
      <p:sp>
        <p:nvSpPr>
          <p:cNvPr id="18" name="Shape 16"/>
          <p:cNvSpPr/>
          <p:nvPr/>
        </p:nvSpPr>
        <p:spPr>
          <a:xfrm>
            <a:off x="3931920" y="1024128"/>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19" name="Text 17"/>
          <p:cNvSpPr/>
          <p:nvPr/>
        </p:nvSpPr>
        <p:spPr>
          <a:xfrm>
            <a:off x="4069080" y="1078992"/>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Multi-AZ Standby</a:t>
            </a:r>
            <a:endParaRPr lang="en-US" sz="1100" dirty="0"/>
          </a:p>
        </p:txBody>
      </p:sp>
      <p:sp>
        <p:nvSpPr>
          <p:cNvPr id="20" name="Text 18"/>
          <p:cNvSpPr/>
          <p:nvPr/>
        </p:nvSpPr>
        <p:spPr>
          <a:xfrm>
            <a:off x="4069080" y="1353312"/>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Automatic failover to standby replica in separate AZ. RTO &lt; 60 seconds.</a:t>
            </a:r>
            <a:endParaRPr lang="en-US" sz="950" dirty="0"/>
          </a:p>
        </p:txBody>
      </p:sp>
      <p:sp>
        <p:nvSpPr>
          <p:cNvPr id="21" name="Shape 19"/>
          <p:cNvSpPr/>
          <p:nvPr/>
        </p:nvSpPr>
        <p:spPr>
          <a:xfrm>
            <a:off x="6400800" y="1024128"/>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2" name="Text 20"/>
          <p:cNvSpPr/>
          <p:nvPr/>
        </p:nvSpPr>
        <p:spPr>
          <a:xfrm>
            <a:off x="6537960" y="1078992"/>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Automated Backups</a:t>
            </a:r>
            <a:endParaRPr lang="en-US" sz="1100" dirty="0"/>
          </a:p>
        </p:txBody>
      </p:sp>
      <p:sp>
        <p:nvSpPr>
          <p:cNvPr id="23" name="Text 21"/>
          <p:cNvSpPr/>
          <p:nvPr/>
        </p:nvSpPr>
        <p:spPr>
          <a:xfrm>
            <a:off x="6537960" y="1353312"/>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Daily snapshots retained for 7 days. Point-in-time recovery supported.</a:t>
            </a:r>
            <a:endParaRPr lang="en-US" sz="950" dirty="0"/>
          </a:p>
        </p:txBody>
      </p:sp>
      <p:sp>
        <p:nvSpPr>
          <p:cNvPr id="24" name="Shape 22"/>
          <p:cNvSpPr/>
          <p:nvPr/>
        </p:nvSpPr>
        <p:spPr>
          <a:xfrm>
            <a:off x="3931920" y="2139696"/>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5" name="Text 23"/>
          <p:cNvSpPr/>
          <p:nvPr/>
        </p:nvSpPr>
        <p:spPr>
          <a:xfrm>
            <a:off x="4069080" y="2194560"/>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Credentials via Secrets Manager</a:t>
            </a:r>
            <a:endParaRPr lang="en-US" sz="1100" dirty="0"/>
          </a:p>
        </p:txBody>
      </p:sp>
      <p:sp>
        <p:nvSpPr>
          <p:cNvPr id="26" name="Text 24"/>
          <p:cNvSpPr/>
          <p:nvPr/>
        </p:nvSpPr>
        <p:spPr>
          <a:xfrm>
            <a:off x="4069080" y="2468880"/>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DB password never hardcoded. Retrieved at runtime from Secrets Manager.</a:t>
            </a:r>
            <a:endParaRPr lang="en-US" sz="950" dirty="0"/>
          </a:p>
        </p:txBody>
      </p:sp>
      <p:sp>
        <p:nvSpPr>
          <p:cNvPr id="27" name="Shape 25"/>
          <p:cNvSpPr/>
          <p:nvPr/>
        </p:nvSpPr>
        <p:spPr>
          <a:xfrm>
            <a:off x="6400800" y="2139696"/>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8" name="Text 26"/>
          <p:cNvSpPr/>
          <p:nvPr/>
        </p:nvSpPr>
        <p:spPr>
          <a:xfrm>
            <a:off x="6537960" y="2194560"/>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Private Subnet Isolation</a:t>
            </a:r>
            <a:endParaRPr lang="en-US" sz="1100" dirty="0"/>
          </a:p>
        </p:txBody>
      </p:sp>
      <p:sp>
        <p:nvSpPr>
          <p:cNvPr id="29" name="Text 27"/>
          <p:cNvSpPr/>
          <p:nvPr/>
        </p:nvSpPr>
        <p:spPr>
          <a:xfrm>
            <a:off x="6537960" y="2468880"/>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RDS has no public IP. Only reachable from Private App Subnet on port 5432.</a:t>
            </a:r>
            <a:endParaRPr lang="en-US" sz="950" dirty="0"/>
          </a:p>
        </p:txBody>
      </p:sp>
      <p:sp>
        <p:nvSpPr>
          <p:cNvPr id="30" name="Shape 28"/>
          <p:cNvSpPr/>
          <p:nvPr/>
        </p:nvSpPr>
        <p:spPr>
          <a:xfrm>
            <a:off x="3931920" y="3255264"/>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31" name="Text 29"/>
          <p:cNvSpPr/>
          <p:nvPr/>
        </p:nvSpPr>
        <p:spPr>
          <a:xfrm>
            <a:off x="4069080" y="3310128"/>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SSL Enforcement</a:t>
            </a:r>
            <a:endParaRPr lang="en-US" sz="1100" dirty="0"/>
          </a:p>
        </p:txBody>
      </p:sp>
      <p:sp>
        <p:nvSpPr>
          <p:cNvPr id="32" name="Text 30"/>
          <p:cNvSpPr/>
          <p:nvPr/>
        </p:nvSpPr>
        <p:spPr>
          <a:xfrm>
            <a:off x="4069080" y="3584448"/>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rds.force_ssl=1 parameter group. All connections require valid TLS certificate.</a:t>
            </a:r>
            <a:endParaRPr lang="en-US" sz="950" dirty="0"/>
          </a:p>
        </p:txBody>
      </p:sp>
      <p:sp>
        <p:nvSpPr>
          <p:cNvPr id="33" name="Shape 31"/>
          <p:cNvSpPr/>
          <p:nvPr/>
        </p:nvSpPr>
        <p:spPr>
          <a:xfrm>
            <a:off x="6400800" y="3255264"/>
            <a:ext cx="2331720" cy="960120"/>
          </a:xfrm>
          <a:prstGeom prst="roundRect">
            <a:avLst>
              <a:gd name="adj" fmla="val 7619"/>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34" name="Text 32"/>
          <p:cNvSpPr/>
          <p:nvPr/>
        </p:nvSpPr>
        <p:spPr>
          <a:xfrm>
            <a:off x="6537960" y="3310128"/>
            <a:ext cx="2057400" cy="292608"/>
          </a:xfrm>
          <a:prstGeom prst="rect">
            <a:avLst/>
          </a:prstGeom>
          <a:noFill/>
          <a:ln/>
        </p:spPr>
        <p:txBody>
          <a:bodyPr wrap="square" lIns="0" tIns="0" rIns="0" bIns="0" rtlCol="0" anchor="ctr"/>
          <a:lstStyle/>
          <a:p>
            <a:pPr indent="0" marL="0">
              <a:buNone/>
            </a:pPr>
            <a:r>
              <a:rPr lang="en-US" sz="1100" b="1" dirty="0">
                <a:solidFill>
                  <a:srgbClr val="0D2149"/>
                </a:solidFill>
                <a:latin typeface="Calibri" pitchFamily="34" charset="0"/>
                <a:ea typeface="Calibri" pitchFamily="34" charset="-122"/>
                <a:cs typeface="Calibri" pitchFamily="34" charset="-120"/>
              </a:rPr>
              <a:t>Performance Insights</a:t>
            </a:r>
            <a:endParaRPr lang="en-US" sz="1100" dirty="0"/>
          </a:p>
        </p:txBody>
      </p:sp>
      <p:sp>
        <p:nvSpPr>
          <p:cNvPr id="35" name="Text 33"/>
          <p:cNvSpPr/>
          <p:nvPr/>
        </p:nvSpPr>
        <p:spPr>
          <a:xfrm>
            <a:off x="6537960" y="3584448"/>
            <a:ext cx="2057400" cy="502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Query performance monitoring enabled. Identify slow queries in CloudWatch.</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Secrets Management</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474720" y="1371600"/>
            <a:ext cx="2194560" cy="2194560"/>
          </a:xfrm>
          <a:prstGeom prst="ellipse">
            <a:avLst/>
          </a:prstGeom>
          <a:solidFill>
            <a:srgbClr val="1A3A6B"/>
          </a:solidFill>
          <a:ln w="25400">
            <a:solidFill>
              <a:srgbClr val="FF9900"/>
            </a:solidFill>
            <a:prstDash val="solid"/>
          </a:ln>
        </p:spPr>
      </p:sp>
      <p:sp>
        <p:nvSpPr>
          <p:cNvPr id="5" name="Text 3"/>
          <p:cNvSpPr/>
          <p:nvPr/>
        </p:nvSpPr>
        <p:spPr>
          <a:xfrm>
            <a:off x="3474720" y="1371600"/>
            <a:ext cx="2194560" cy="2194560"/>
          </a:xfrm>
          <a:prstGeom prst="rect">
            <a:avLst/>
          </a:prstGeom>
          <a:noFill/>
          <a:ln/>
        </p:spPr>
        <p:txBody>
          <a:bodyPr wrap="square" lIns="0" tIns="0" rIns="0" bIns="0" rtlCol="0" anchor="ctr"/>
          <a:lstStyle/>
          <a:p>
            <a:pPr algn="ctr" indent="0" marL="0">
              <a:buNone/>
            </a:pPr>
            <a:r>
              <a:rPr lang="en-US" sz="1400" b="1" dirty="0">
                <a:solidFill>
                  <a:srgbClr val="FF9900"/>
                </a:solidFill>
                <a:latin typeface="Calibri" pitchFamily="34" charset="0"/>
                <a:ea typeface="Calibri" pitchFamily="34" charset="-122"/>
                <a:cs typeface="Calibri" pitchFamily="34" charset="-120"/>
              </a:rPr>
              <a:t>AWS</a:t>
            </a:r>
            <a:endParaRPr lang="en-US" sz="1400" dirty="0"/>
          </a:p>
          <a:p>
            <a:pPr algn="ctr" indent="0" marL="0">
              <a:buNone/>
            </a:pPr>
            <a:r>
              <a:rPr lang="en-US" sz="1400" b="1" dirty="0">
                <a:solidFill>
                  <a:srgbClr val="FF9900"/>
                </a:solidFill>
                <a:latin typeface="Calibri" pitchFamily="34" charset="0"/>
                <a:ea typeface="Calibri" pitchFamily="34" charset="-122"/>
                <a:cs typeface="Calibri" pitchFamily="34" charset="-120"/>
              </a:rPr>
              <a:t>Secrets</a:t>
            </a:r>
            <a:endParaRPr lang="en-US" sz="1400" dirty="0"/>
          </a:p>
          <a:p>
            <a:pPr algn="ctr" indent="0" marL="0">
              <a:buNone/>
            </a:pPr>
            <a:r>
              <a:rPr lang="en-US" sz="1400" b="1" dirty="0">
                <a:solidFill>
                  <a:srgbClr val="FF9900"/>
                </a:solidFill>
                <a:latin typeface="Calibri" pitchFamily="34" charset="0"/>
                <a:ea typeface="Calibri" pitchFamily="34" charset="-122"/>
                <a:cs typeface="Calibri" pitchFamily="34" charset="-120"/>
              </a:rPr>
              <a:t>Manager</a:t>
            </a:r>
            <a:endParaRPr lang="en-US" sz="1400" dirty="0"/>
          </a:p>
        </p:txBody>
      </p:sp>
      <p:sp>
        <p:nvSpPr>
          <p:cNvPr id="6" name="Shape 4"/>
          <p:cNvSpPr/>
          <p:nvPr/>
        </p:nvSpPr>
        <p:spPr>
          <a:xfrm>
            <a:off x="274320" y="1115568"/>
            <a:ext cx="2926080" cy="475488"/>
          </a:xfrm>
          <a:prstGeom prst="roundRect">
            <a:avLst>
              <a:gd name="adj" fmla="val 11538"/>
            </a:avLst>
          </a:prstGeom>
          <a:solidFill>
            <a:srgbClr val="1A3A6B"/>
          </a:solidFill>
          <a:ln w="10160">
            <a:solidFill>
              <a:srgbClr val="4B5563"/>
            </a:solidFill>
            <a:prstDash val="solid"/>
          </a:ln>
        </p:spPr>
      </p:sp>
      <p:sp>
        <p:nvSpPr>
          <p:cNvPr id="7" name="Text 5"/>
          <p:cNvSpPr/>
          <p:nvPr/>
        </p:nvSpPr>
        <p:spPr>
          <a:xfrm>
            <a:off x="411480" y="116128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DB_PASSWORD</a:t>
            </a:r>
            <a:endParaRPr lang="en-US" sz="1050" dirty="0"/>
          </a:p>
        </p:txBody>
      </p:sp>
      <p:sp>
        <p:nvSpPr>
          <p:cNvPr id="8" name="Text 6"/>
          <p:cNvSpPr/>
          <p:nvPr/>
        </p:nvSpPr>
        <p:spPr>
          <a:xfrm>
            <a:off x="411480" y="134416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PostgreSQL master password</a:t>
            </a:r>
            <a:endParaRPr lang="en-US" sz="900" dirty="0"/>
          </a:p>
        </p:txBody>
      </p:sp>
      <p:sp>
        <p:nvSpPr>
          <p:cNvPr id="9" name="Shape 7"/>
          <p:cNvSpPr/>
          <p:nvPr/>
        </p:nvSpPr>
        <p:spPr>
          <a:xfrm>
            <a:off x="3200400" y="1344168"/>
            <a:ext cx="292608" cy="0"/>
          </a:xfrm>
          <a:prstGeom prst="line">
            <a:avLst/>
          </a:prstGeom>
          <a:noFill/>
          <a:ln w="12700">
            <a:solidFill>
              <a:srgbClr val="FF9900"/>
            </a:solidFill>
            <a:prstDash val="solid"/>
          </a:ln>
        </p:spPr>
      </p:sp>
      <p:sp>
        <p:nvSpPr>
          <p:cNvPr id="10" name="Shape 8"/>
          <p:cNvSpPr/>
          <p:nvPr/>
        </p:nvSpPr>
        <p:spPr>
          <a:xfrm>
            <a:off x="274320" y="1709928"/>
            <a:ext cx="2926080" cy="475488"/>
          </a:xfrm>
          <a:prstGeom prst="roundRect">
            <a:avLst>
              <a:gd name="adj" fmla="val 11538"/>
            </a:avLst>
          </a:prstGeom>
          <a:solidFill>
            <a:srgbClr val="1A3A6B"/>
          </a:solidFill>
          <a:ln w="10160">
            <a:solidFill>
              <a:srgbClr val="4B5563"/>
            </a:solidFill>
            <a:prstDash val="solid"/>
          </a:ln>
        </p:spPr>
      </p:sp>
      <p:sp>
        <p:nvSpPr>
          <p:cNvPr id="11" name="Text 9"/>
          <p:cNvSpPr/>
          <p:nvPr/>
        </p:nvSpPr>
        <p:spPr>
          <a:xfrm>
            <a:off x="411480" y="175564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DB_HOST</a:t>
            </a:r>
            <a:endParaRPr lang="en-US" sz="1050" dirty="0"/>
          </a:p>
        </p:txBody>
      </p:sp>
      <p:sp>
        <p:nvSpPr>
          <p:cNvPr id="12" name="Text 10"/>
          <p:cNvSpPr/>
          <p:nvPr/>
        </p:nvSpPr>
        <p:spPr>
          <a:xfrm>
            <a:off x="411480" y="193852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RDS endpoint URL</a:t>
            </a:r>
            <a:endParaRPr lang="en-US" sz="900" dirty="0"/>
          </a:p>
        </p:txBody>
      </p:sp>
      <p:sp>
        <p:nvSpPr>
          <p:cNvPr id="13" name="Shape 11"/>
          <p:cNvSpPr/>
          <p:nvPr/>
        </p:nvSpPr>
        <p:spPr>
          <a:xfrm>
            <a:off x="3200400" y="1938528"/>
            <a:ext cx="292608" cy="0"/>
          </a:xfrm>
          <a:prstGeom prst="line">
            <a:avLst/>
          </a:prstGeom>
          <a:noFill/>
          <a:ln w="12700">
            <a:solidFill>
              <a:srgbClr val="FF9900"/>
            </a:solidFill>
            <a:prstDash val="solid"/>
          </a:ln>
        </p:spPr>
      </p:sp>
      <p:sp>
        <p:nvSpPr>
          <p:cNvPr id="14" name="Shape 12"/>
          <p:cNvSpPr/>
          <p:nvPr/>
        </p:nvSpPr>
        <p:spPr>
          <a:xfrm>
            <a:off x="274320" y="2304288"/>
            <a:ext cx="2926080" cy="475488"/>
          </a:xfrm>
          <a:prstGeom prst="roundRect">
            <a:avLst>
              <a:gd name="adj" fmla="val 11538"/>
            </a:avLst>
          </a:prstGeom>
          <a:solidFill>
            <a:srgbClr val="1A3A6B"/>
          </a:solidFill>
          <a:ln w="10160">
            <a:solidFill>
              <a:srgbClr val="4B5563"/>
            </a:solidFill>
            <a:prstDash val="solid"/>
          </a:ln>
        </p:spPr>
      </p:sp>
      <p:sp>
        <p:nvSpPr>
          <p:cNvPr id="15" name="Text 13"/>
          <p:cNvSpPr/>
          <p:nvPr/>
        </p:nvSpPr>
        <p:spPr>
          <a:xfrm>
            <a:off x="411480" y="235000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JWT_SECRET</a:t>
            </a:r>
            <a:endParaRPr lang="en-US" sz="1050" dirty="0"/>
          </a:p>
        </p:txBody>
      </p:sp>
      <p:sp>
        <p:nvSpPr>
          <p:cNvPr id="16" name="Text 14"/>
          <p:cNvSpPr/>
          <p:nvPr/>
        </p:nvSpPr>
        <p:spPr>
          <a:xfrm>
            <a:off x="411480" y="253288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Identity service signing key</a:t>
            </a:r>
            <a:endParaRPr lang="en-US" sz="900" dirty="0"/>
          </a:p>
        </p:txBody>
      </p:sp>
      <p:sp>
        <p:nvSpPr>
          <p:cNvPr id="17" name="Shape 15"/>
          <p:cNvSpPr/>
          <p:nvPr/>
        </p:nvSpPr>
        <p:spPr>
          <a:xfrm>
            <a:off x="3200400" y="2532888"/>
            <a:ext cx="292608" cy="0"/>
          </a:xfrm>
          <a:prstGeom prst="line">
            <a:avLst/>
          </a:prstGeom>
          <a:noFill/>
          <a:ln w="12700">
            <a:solidFill>
              <a:srgbClr val="FF9900"/>
            </a:solidFill>
            <a:prstDash val="solid"/>
          </a:ln>
        </p:spPr>
      </p:sp>
      <p:sp>
        <p:nvSpPr>
          <p:cNvPr id="18" name="Shape 16"/>
          <p:cNvSpPr/>
          <p:nvPr/>
        </p:nvSpPr>
        <p:spPr>
          <a:xfrm>
            <a:off x="274320" y="2898648"/>
            <a:ext cx="2926080" cy="475488"/>
          </a:xfrm>
          <a:prstGeom prst="roundRect">
            <a:avLst>
              <a:gd name="adj" fmla="val 11538"/>
            </a:avLst>
          </a:prstGeom>
          <a:solidFill>
            <a:srgbClr val="1A3A6B"/>
          </a:solidFill>
          <a:ln w="10160">
            <a:solidFill>
              <a:srgbClr val="4B5563"/>
            </a:solidFill>
            <a:prstDash val="solid"/>
          </a:ln>
        </p:spPr>
      </p:sp>
      <p:sp>
        <p:nvSpPr>
          <p:cNvPr id="19" name="Text 17"/>
          <p:cNvSpPr/>
          <p:nvPr/>
        </p:nvSpPr>
        <p:spPr>
          <a:xfrm>
            <a:off x="411480" y="294436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SQS_QUEUE_URL</a:t>
            </a:r>
            <a:endParaRPr lang="en-US" sz="1050" dirty="0"/>
          </a:p>
        </p:txBody>
      </p:sp>
      <p:sp>
        <p:nvSpPr>
          <p:cNvPr id="20" name="Text 18"/>
          <p:cNvSpPr/>
          <p:nvPr/>
        </p:nvSpPr>
        <p:spPr>
          <a:xfrm>
            <a:off x="411480" y="312724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Booking notification queue</a:t>
            </a:r>
            <a:endParaRPr lang="en-US" sz="900" dirty="0"/>
          </a:p>
        </p:txBody>
      </p:sp>
      <p:sp>
        <p:nvSpPr>
          <p:cNvPr id="21" name="Shape 19"/>
          <p:cNvSpPr/>
          <p:nvPr/>
        </p:nvSpPr>
        <p:spPr>
          <a:xfrm>
            <a:off x="3200400" y="3127248"/>
            <a:ext cx="292608" cy="0"/>
          </a:xfrm>
          <a:prstGeom prst="line">
            <a:avLst/>
          </a:prstGeom>
          <a:noFill/>
          <a:ln w="12700">
            <a:solidFill>
              <a:srgbClr val="FF9900"/>
            </a:solidFill>
            <a:prstDash val="solid"/>
          </a:ln>
        </p:spPr>
      </p:sp>
      <p:sp>
        <p:nvSpPr>
          <p:cNvPr id="22" name="Shape 20"/>
          <p:cNvSpPr/>
          <p:nvPr/>
        </p:nvSpPr>
        <p:spPr>
          <a:xfrm>
            <a:off x="274320" y="3493008"/>
            <a:ext cx="2926080" cy="475488"/>
          </a:xfrm>
          <a:prstGeom prst="roundRect">
            <a:avLst>
              <a:gd name="adj" fmla="val 11538"/>
            </a:avLst>
          </a:prstGeom>
          <a:solidFill>
            <a:srgbClr val="1A3A6B"/>
          </a:solidFill>
          <a:ln w="10160">
            <a:solidFill>
              <a:srgbClr val="4B5563"/>
            </a:solidFill>
            <a:prstDash val="solid"/>
          </a:ln>
        </p:spPr>
      </p:sp>
      <p:sp>
        <p:nvSpPr>
          <p:cNvPr id="23" name="Text 21"/>
          <p:cNvSpPr/>
          <p:nvPr/>
        </p:nvSpPr>
        <p:spPr>
          <a:xfrm>
            <a:off x="411480" y="353872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CLOUDFRONT_DOMAIN</a:t>
            </a:r>
            <a:endParaRPr lang="en-US" sz="1050" dirty="0"/>
          </a:p>
        </p:txBody>
      </p:sp>
      <p:sp>
        <p:nvSpPr>
          <p:cNvPr id="24" name="Text 22"/>
          <p:cNvSpPr/>
          <p:nvPr/>
        </p:nvSpPr>
        <p:spPr>
          <a:xfrm>
            <a:off x="411480" y="372160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CDN distribution URL</a:t>
            </a:r>
            <a:endParaRPr lang="en-US" sz="900" dirty="0"/>
          </a:p>
        </p:txBody>
      </p:sp>
      <p:sp>
        <p:nvSpPr>
          <p:cNvPr id="25" name="Shape 23"/>
          <p:cNvSpPr/>
          <p:nvPr/>
        </p:nvSpPr>
        <p:spPr>
          <a:xfrm>
            <a:off x="3200400" y="3721608"/>
            <a:ext cx="292608" cy="0"/>
          </a:xfrm>
          <a:prstGeom prst="line">
            <a:avLst/>
          </a:prstGeom>
          <a:noFill/>
          <a:ln w="12700">
            <a:solidFill>
              <a:srgbClr val="FF9900"/>
            </a:solidFill>
            <a:prstDash val="solid"/>
          </a:ln>
        </p:spPr>
      </p:sp>
      <p:sp>
        <p:nvSpPr>
          <p:cNvPr id="26" name="Shape 24"/>
          <p:cNvSpPr/>
          <p:nvPr/>
        </p:nvSpPr>
        <p:spPr>
          <a:xfrm>
            <a:off x="274320" y="4087368"/>
            <a:ext cx="2926080" cy="475488"/>
          </a:xfrm>
          <a:prstGeom prst="roundRect">
            <a:avLst>
              <a:gd name="adj" fmla="val 11538"/>
            </a:avLst>
          </a:prstGeom>
          <a:solidFill>
            <a:srgbClr val="1A3A6B"/>
          </a:solidFill>
          <a:ln w="10160">
            <a:solidFill>
              <a:srgbClr val="4B5563"/>
            </a:solidFill>
            <a:prstDash val="solid"/>
          </a:ln>
        </p:spPr>
      </p:sp>
      <p:sp>
        <p:nvSpPr>
          <p:cNvPr id="27" name="Text 25"/>
          <p:cNvSpPr/>
          <p:nvPr/>
        </p:nvSpPr>
        <p:spPr>
          <a:xfrm>
            <a:off x="411480" y="4133088"/>
            <a:ext cx="2743200" cy="201168"/>
          </a:xfrm>
          <a:prstGeom prst="rect">
            <a:avLst/>
          </a:prstGeom>
          <a:noFill/>
          <a:ln/>
        </p:spPr>
        <p:txBody>
          <a:bodyPr wrap="square" lIns="0" tIns="0" rIns="0" bIns="0" rtlCol="0" anchor="ctr"/>
          <a:lstStyle/>
          <a:p>
            <a:pPr indent="0" marL="0">
              <a:buNone/>
            </a:pPr>
            <a:r>
              <a:rPr lang="en-US" sz="1050" b="1" dirty="0">
                <a:solidFill>
                  <a:srgbClr val="FF9900"/>
                </a:solidFill>
                <a:latin typeface="Courier New" pitchFamily="34" charset="0"/>
                <a:ea typeface="Courier New" pitchFamily="34" charset="-122"/>
                <a:cs typeface="Courier New" pitchFamily="34" charset="-120"/>
              </a:rPr>
              <a:t>APP_CONFIG</a:t>
            </a:r>
            <a:endParaRPr lang="en-US" sz="1050" dirty="0"/>
          </a:p>
        </p:txBody>
      </p:sp>
      <p:sp>
        <p:nvSpPr>
          <p:cNvPr id="28" name="Text 26"/>
          <p:cNvSpPr/>
          <p:nvPr/>
        </p:nvSpPr>
        <p:spPr>
          <a:xfrm>
            <a:off x="411480" y="4315968"/>
            <a:ext cx="27432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Runtime environment config</a:t>
            </a:r>
            <a:endParaRPr lang="en-US" sz="900" dirty="0"/>
          </a:p>
        </p:txBody>
      </p:sp>
      <p:sp>
        <p:nvSpPr>
          <p:cNvPr id="29" name="Shape 27"/>
          <p:cNvSpPr/>
          <p:nvPr/>
        </p:nvSpPr>
        <p:spPr>
          <a:xfrm>
            <a:off x="3200400" y="4315968"/>
            <a:ext cx="292608" cy="0"/>
          </a:xfrm>
          <a:prstGeom prst="line">
            <a:avLst/>
          </a:prstGeom>
          <a:noFill/>
          <a:ln w="12700">
            <a:solidFill>
              <a:srgbClr val="FF9900"/>
            </a:solidFill>
            <a:prstDash val="solid"/>
          </a:ln>
        </p:spPr>
      </p:sp>
      <p:sp>
        <p:nvSpPr>
          <p:cNvPr id="30" name="Shape 28"/>
          <p:cNvSpPr/>
          <p:nvPr/>
        </p:nvSpPr>
        <p:spPr>
          <a:xfrm>
            <a:off x="5943600" y="1115568"/>
            <a:ext cx="2880360" cy="749808"/>
          </a:xfrm>
          <a:prstGeom prst="roundRect">
            <a:avLst>
              <a:gd name="adj" fmla="val 9756"/>
            </a:avLst>
          </a:prstGeom>
          <a:solidFill>
            <a:srgbClr val="1A3A6B"/>
          </a:solidFill>
          <a:ln w="10160">
            <a:solidFill>
              <a:srgbClr val="0891B2"/>
            </a:solidFill>
            <a:prstDash val="solid"/>
          </a:ln>
          <a:effectLst>
            <a:outerShdw sx="100000" sy="100000" kx="0" ky="0" algn="bl" rotWithShape="0" blurRad="127000" dist="25400" dir="2700000">
              <a:srgbClr val="000000">
                <a:alpha val="10000"/>
              </a:srgbClr>
            </a:outerShdw>
          </a:effectLst>
        </p:spPr>
      </p:sp>
      <p:sp>
        <p:nvSpPr>
          <p:cNvPr id="31" name="Text 29"/>
          <p:cNvSpPr/>
          <p:nvPr/>
        </p:nvSpPr>
        <p:spPr>
          <a:xfrm>
            <a:off x="6080760" y="1161288"/>
            <a:ext cx="2606040" cy="256032"/>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No Hardcoded Credentials</a:t>
            </a:r>
            <a:endParaRPr lang="en-US" sz="1100" dirty="0"/>
          </a:p>
        </p:txBody>
      </p:sp>
      <p:sp>
        <p:nvSpPr>
          <p:cNvPr id="32" name="Text 30"/>
          <p:cNvSpPr/>
          <p:nvPr/>
        </p:nvSpPr>
        <p:spPr>
          <a:xfrm>
            <a:off x="6080760" y="1399032"/>
            <a:ext cx="2606040" cy="384048"/>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Zero secrets in source code or config files. Eliminates credential leaks.</a:t>
            </a:r>
            <a:endParaRPr lang="en-US" sz="950" dirty="0"/>
          </a:p>
        </p:txBody>
      </p:sp>
      <p:sp>
        <p:nvSpPr>
          <p:cNvPr id="33" name="Shape 31"/>
          <p:cNvSpPr/>
          <p:nvPr/>
        </p:nvSpPr>
        <p:spPr>
          <a:xfrm>
            <a:off x="5669280" y="1490472"/>
            <a:ext cx="292608" cy="0"/>
          </a:xfrm>
          <a:prstGeom prst="line">
            <a:avLst/>
          </a:prstGeom>
          <a:noFill/>
          <a:ln w="12700">
            <a:solidFill>
              <a:srgbClr val="FF9900"/>
            </a:solidFill>
            <a:prstDash val="solid"/>
          </a:ln>
        </p:spPr>
      </p:sp>
      <p:sp>
        <p:nvSpPr>
          <p:cNvPr id="34" name="Shape 32"/>
          <p:cNvSpPr/>
          <p:nvPr/>
        </p:nvSpPr>
        <p:spPr>
          <a:xfrm>
            <a:off x="5943600" y="2011680"/>
            <a:ext cx="2880360" cy="749808"/>
          </a:xfrm>
          <a:prstGeom prst="roundRect">
            <a:avLst>
              <a:gd name="adj" fmla="val 9756"/>
            </a:avLst>
          </a:prstGeom>
          <a:solidFill>
            <a:srgbClr val="1A3A6B"/>
          </a:solidFill>
          <a:ln w="10160">
            <a:solidFill>
              <a:srgbClr val="0891B2"/>
            </a:solidFill>
            <a:prstDash val="solid"/>
          </a:ln>
          <a:effectLst>
            <a:outerShdw sx="100000" sy="100000" kx="0" ky="0" algn="bl" rotWithShape="0" blurRad="127000" dist="25400" dir="2700000">
              <a:srgbClr val="000000">
                <a:alpha val="10000"/>
              </a:srgbClr>
            </a:outerShdw>
          </a:effectLst>
        </p:spPr>
      </p:sp>
      <p:sp>
        <p:nvSpPr>
          <p:cNvPr id="35" name="Text 33"/>
          <p:cNvSpPr/>
          <p:nvPr/>
        </p:nvSpPr>
        <p:spPr>
          <a:xfrm>
            <a:off x="6080760" y="2057400"/>
            <a:ext cx="2606040" cy="256032"/>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IAM-Controlled Access</a:t>
            </a:r>
            <a:endParaRPr lang="en-US" sz="1100" dirty="0"/>
          </a:p>
        </p:txBody>
      </p:sp>
      <p:sp>
        <p:nvSpPr>
          <p:cNvPr id="36" name="Text 34"/>
          <p:cNvSpPr/>
          <p:nvPr/>
        </p:nvSpPr>
        <p:spPr>
          <a:xfrm>
            <a:off x="6080760" y="2295144"/>
            <a:ext cx="2606040" cy="384048"/>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Only specific EC2 roles can access specific secrets. Audit trail in CloudTrail.</a:t>
            </a:r>
            <a:endParaRPr lang="en-US" sz="950" dirty="0"/>
          </a:p>
        </p:txBody>
      </p:sp>
      <p:sp>
        <p:nvSpPr>
          <p:cNvPr id="37" name="Shape 35"/>
          <p:cNvSpPr/>
          <p:nvPr/>
        </p:nvSpPr>
        <p:spPr>
          <a:xfrm>
            <a:off x="5669280" y="2386584"/>
            <a:ext cx="292608" cy="0"/>
          </a:xfrm>
          <a:prstGeom prst="line">
            <a:avLst/>
          </a:prstGeom>
          <a:noFill/>
          <a:ln w="12700">
            <a:solidFill>
              <a:srgbClr val="FF9900"/>
            </a:solidFill>
            <a:prstDash val="solid"/>
          </a:ln>
        </p:spPr>
      </p:sp>
      <p:sp>
        <p:nvSpPr>
          <p:cNvPr id="38" name="Shape 36"/>
          <p:cNvSpPr/>
          <p:nvPr/>
        </p:nvSpPr>
        <p:spPr>
          <a:xfrm>
            <a:off x="5943600" y="2907792"/>
            <a:ext cx="2880360" cy="749808"/>
          </a:xfrm>
          <a:prstGeom prst="roundRect">
            <a:avLst>
              <a:gd name="adj" fmla="val 9756"/>
            </a:avLst>
          </a:prstGeom>
          <a:solidFill>
            <a:srgbClr val="1A3A6B"/>
          </a:solidFill>
          <a:ln w="10160">
            <a:solidFill>
              <a:srgbClr val="0891B2"/>
            </a:solidFill>
            <a:prstDash val="solid"/>
          </a:ln>
          <a:effectLst>
            <a:outerShdw sx="100000" sy="100000" kx="0" ky="0" algn="bl" rotWithShape="0" blurRad="127000" dist="25400" dir="2700000">
              <a:srgbClr val="000000">
                <a:alpha val="10000"/>
              </a:srgbClr>
            </a:outerShdw>
          </a:effectLst>
        </p:spPr>
      </p:sp>
      <p:sp>
        <p:nvSpPr>
          <p:cNvPr id="39" name="Text 37"/>
          <p:cNvSpPr/>
          <p:nvPr/>
        </p:nvSpPr>
        <p:spPr>
          <a:xfrm>
            <a:off x="6080760" y="2953512"/>
            <a:ext cx="2606040" cy="256032"/>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Automatic Rotation</a:t>
            </a:r>
            <a:endParaRPr lang="en-US" sz="1100" dirty="0"/>
          </a:p>
        </p:txBody>
      </p:sp>
      <p:sp>
        <p:nvSpPr>
          <p:cNvPr id="40" name="Text 38"/>
          <p:cNvSpPr/>
          <p:nvPr/>
        </p:nvSpPr>
        <p:spPr>
          <a:xfrm>
            <a:off x="6080760" y="3191256"/>
            <a:ext cx="2606040" cy="384048"/>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Secrets can rotate on a schedule. Lambda integration for DB password rotation.</a:t>
            </a:r>
            <a:endParaRPr lang="en-US" sz="950" dirty="0"/>
          </a:p>
        </p:txBody>
      </p:sp>
      <p:sp>
        <p:nvSpPr>
          <p:cNvPr id="41" name="Shape 39"/>
          <p:cNvSpPr/>
          <p:nvPr/>
        </p:nvSpPr>
        <p:spPr>
          <a:xfrm>
            <a:off x="5669280" y="3282696"/>
            <a:ext cx="292608" cy="0"/>
          </a:xfrm>
          <a:prstGeom prst="line">
            <a:avLst/>
          </a:prstGeom>
          <a:noFill/>
          <a:ln w="12700">
            <a:solidFill>
              <a:srgbClr val="FF9900"/>
            </a:solidFill>
            <a:prstDash val="solid"/>
          </a:ln>
        </p:spPr>
      </p:sp>
      <p:sp>
        <p:nvSpPr>
          <p:cNvPr id="42" name="Shape 40"/>
          <p:cNvSpPr/>
          <p:nvPr/>
        </p:nvSpPr>
        <p:spPr>
          <a:xfrm>
            <a:off x="5943600" y="3803904"/>
            <a:ext cx="2880360" cy="749808"/>
          </a:xfrm>
          <a:prstGeom prst="roundRect">
            <a:avLst>
              <a:gd name="adj" fmla="val 9756"/>
            </a:avLst>
          </a:prstGeom>
          <a:solidFill>
            <a:srgbClr val="1A3A6B"/>
          </a:solidFill>
          <a:ln w="10160">
            <a:solidFill>
              <a:srgbClr val="0891B2"/>
            </a:solidFill>
            <a:prstDash val="solid"/>
          </a:ln>
          <a:effectLst>
            <a:outerShdw sx="100000" sy="100000" kx="0" ky="0" algn="bl" rotWithShape="0" blurRad="127000" dist="25400" dir="2700000">
              <a:srgbClr val="000000">
                <a:alpha val="10000"/>
              </a:srgbClr>
            </a:outerShdw>
          </a:effectLst>
        </p:spPr>
      </p:sp>
      <p:sp>
        <p:nvSpPr>
          <p:cNvPr id="43" name="Text 41"/>
          <p:cNvSpPr/>
          <p:nvPr/>
        </p:nvSpPr>
        <p:spPr>
          <a:xfrm>
            <a:off x="6080760" y="3849624"/>
            <a:ext cx="2606040" cy="256032"/>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Runtime Retrieval</a:t>
            </a:r>
            <a:endParaRPr lang="en-US" sz="1100" dirty="0"/>
          </a:p>
        </p:txBody>
      </p:sp>
      <p:sp>
        <p:nvSpPr>
          <p:cNvPr id="44" name="Text 42"/>
          <p:cNvSpPr/>
          <p:nvPr/>
        </p:nvSpPr>
        <p:spPr>
          <a:xfrm>
            <a:off x="6080760" y="4087368"/>
            <a:ext cx="2606040" cy="384048"/>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Application calls Secrets Manager on startup via SDK. Credentials stay current.</a:t>
            </a:r>
            <a:endParaRPr lang="en-US" sz="950" dirty="0"/>
          </a:p>
        </p:txBody>
      </p:sp>
      <p:sp>
        <p:nvSpPr>
          <p:cNvPr id="45" name="Shape 43"/>
          <p:cNvSpPr/>
          <p:nvPr/>
        </p:nvSpPr>
        <p:spPr>
          <a:xfrm>
            <a:off x="5669280" y="4178808"/>
            <a:ext cx="292608" cy="0"/>
          </a:xfrm>
          <a:prstGeom prst="line">
            <a:avLst/>
          </a:prstGeom>
          <a:noFill/>
          <a:ln w="12700">
            <a:solidFill>
              <a:srgbClr val="FF990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S3 + CloudFront  —  Static Asset Delivery</a:t>
            </a:r>
            <a:endParaRPr lang="en-US" sz="2800" dirty="0"/>
          </a:p>
        </p:txBody>
      </p:sp>
      <p:sp>
        <p:nvSpPr>
          <p:cNvPr id="4" name="Shape 2"/>
          <p:cNvSpPr/>
          <p:nvPr/>
        </p:nvSpPr>
        <p:spPr>
          <a:xfrm>
            <a:off x="365760" y="1097280"/>
            <a:ext cx="2743200" cy="685800"/>
          </a:xfrm>
          <a:prstGeom prst="roundRect">
            <a:avLst>
              <a:gd name="adj" fmla="val 10667"/>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365760" y="1097280"/>
            <a:ext cx="2743200" cy="68580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Admin uploads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event poster</a:t>
            </a:r>
            <a:endParaRPr lang="en-US" sz="1100" dirty="0"/>
          </a:p>
        </p:txBody>
      </p:sp>
      <p:sp>
        <p:nvSpPr>
          <p:cNvPr id="6" name="Shape 4"/>
          <p:cNvSpPr/>
          <p:nvPr/>
        </p:nvSpPr>
        <p:spPr>
          <a:xfrm>
            <a:off x="1709928" y="1764792"/>
            <a:ext cx="0" cy="228600"/>
          </a:xfrm>
          <a:prstGeom prst="line">
            <a:avLst/>
          </a:prstGeom>
          <a:noFill/>
          <a:ln w="25400">
            <a:solidFill>
              <a:srgbClr val="2563EB"/>
            </a:solidFill>
            <a:prstDash val="solid"/>
          </a:ln>
        </p:spPr>
      </p:sp>
      <p:sp>
        <p:nvSpPr>
          <p:cNvPr id="7" name="Shape 5"/>
          <p:cNvSpPr/>
          <p:nvPr/>
        </p:nvSpPr>
        <p:spPr>
          <a:xfrm>
            <a:off x="1655064" y="1965960"/>
            <a:ext cx="109728" cy="73152"/>
          </a:xfrm>
          <a:prstGeom prst="rect">
            <a:avLst/>
          </a:prstGeom>
          <a:solidFill>
            <a:srgbClr val="2563EB"/>
          </a:solidFill>
          <a:ln/>
        </p:spPr>
      </p:sp>
      <p:sp>
        <p:nvSpPr>
          <p:cNvPr id="8" name="Shape 6"/>
          <p:cNvSpPr/>
          <p:nvPr/>
        </p:nvSpPr>
        <p:spPr>
          <a:xfrm>
            <a:off x="365760" y="2057400"/>
            <a:ext cx="2743200" cy="685800"/>
          </a:xfrm>
          <a:prstGeom prst="roundRect">
            <a:avLst>
              <a:gd name="adj" fmla="val 10667"/>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365760" y="2057400"/>
            <a:ext cx="2743200" cy="68580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Event Service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processes + stores</a:t>
            </a:r>
            <a:endParaRPr lang="en-US" sz="1100" dirty="0"/>
          </a:p>
        </p:txBody>
      </p:sp>
      <p:sp>
        <p:nvSpPr>
          <p:cNvPr id="10" name="Shape 8"/>
          <p:cNvSpPr/>
          <p:nvPr/>
        </p:nvSpPr>
        <p:spPr>
          <a:xfrm>
            <a:off x="1709928" y="2724912"/>
            <a:ext cx="0" cy="228600"/>
          </a:xfrm>
          <a:prstGeom prst="line">
            <a:avLst/>
          </a:prstGeom>
          <a:noFill/>
          <a:ln w="25400">
            <a:solidFill>
              <a:srgbClr val="2563EB"/>
            </a:solidFill>
            <a:prstDash val="solid"/>
          </a:ln>
        </p:spPr>
      </p:sp>
      <p:sp>
        <p:nvSpPr>
          <p:cNvPr id="11" name="Shape 9"/>
          <p:cNvSpPr/>
          <p:nvPr/>
        </p:nvSpPr>
        <p:spPr>
          <a:xfrm>
            <a:off x="1655064" y="2926080"/>
            <a:ext cx="109728" cy="73152"/>
          </a:xfrm>
          <a:prstGeom prst="rect">
            <a:avLst/>
          </a:prstGeom>
          <a:solidFill>
            <a:srgbClr val="2563EB"/>
          </a:solidFill>
          <a:ln/>
        </p:spPr>
      </p:sp>
      <p:sp>
        <p:nvSpPr>
          <p:cNvPr id="12" name="Shape 10"/>
          <p:cNvSpPr/>
          <p:nvPr/>
        </p:nvSpPr>
        <p:spPr>
          <a:xfrm>
            <a:off x="365760" y="3017520"/>
            <a:ext cx="2743200" cy="685800"/>
          </a:xfrm>
          <a:prstGeom prst="roundRect">
            <a:avLst>
              <a:gd name="adj" fmla="val 10667"/>
            </a:avLst>
          </a:prstGeom>
          <a:solidFill>
            <a:srgbClr val="0D2149"/>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365760" y="3017520"/>
            <a:ext cx="2743200" cy="68580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S3 Private Bucket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 public access)</a:t>
            </a:r>
            <a:endParaRPr lang="en-US" sz="1100" dirty="0"/>
          </a:p>
        </p:txBody>
      </p:sp>
      <p:sp>
        <p:nvSpPr>
          <p:cNvPr id="14" name="Shape 12"/>
          <p:cNvSpPr/>
          <p:nvPr/>
        </p:nvSpPr>
        <p:spPr>
          <a:xfrm>
            <a:off x="1709928" y="3685032"/>
            <a:ext cx="0" cy="228600"/>
          </a:xfrm>
          <a:prstGeom prst="line">
            <a:avLst/>
          </a:prstGeom>
          <a:noFill/>
          <a:ln w="25400">
            <a:solidFill>
              <a:srgbClr val="2563EB"/>
            </a:solidFill>
            <a:prstDash val="solid"/>
          </a:ln>
        </p:spPr>
      </p:sp>
      <p:sp>
        <p:nvSpPr>
          <p:cNvPr id="15" name="Shape 13"/>
          <p:cNvSpPr/>
          <p:nvPr/>
        </p:nvSpPr>
        <p:spPr>
          <a:xfrm>
            <a:off x="1655064" y="3886200"/>
            <a:ext cx="109728" cy="73152"/>
          </a:xfrm>
          <a:prstGeom prst="rect">
            <a:avLst/>
          </a:prstGeom>
          <a:solidFill>
            <a:srgbClr val="2563EB"/>
          </a:solidFill>
          <a:ln/>
        </p:spPr>
      </p:sp>
      <p:sp>
        <p:nvSpPr>
          <p:cNvPr id="16" name="Shape 14"/>
          <p:cNvSpPr/>
          <p:nvPr/>
        </p:nvSpPr>
        <p:spPr>
          <a:xfrm>
            <a:off x="365760" y="3977640"/>
            <a:ext cx="2743200" cy="685800"/>
          </a:xfrm>
          <a:prstGeom prst="roundRect">
            <a:avLst>
              <a:gd name="adj" fmla="val 10667"/>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365760" y="3977640"/>
            <a:ext cx="2743200" cy="68580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CloudFront CDN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(OAC enabled)</a:t>
            </a:r>
            <a:endParaRPr lang="en-US" sz="1100" dirty="0"/>
          </a:p>
        </p:txBody>
      </p:sp>
      <p:sp>
        <p:nvSpPr>
          <p:cNvPr id="18" name="Shape 16"/>
          <p:cNvSpPr/>
          <p:nvPr/>
        </p:nvSpPr>
        <p:spPr>
          <a:xfrm>
            <a:off x="365760" y="4663440"/>
            <a:ext cx="2743200" cy="365760"/>
          </a:xfrm>
          <a:prstGeom prst="roundRect">
            <a:avLst>
              <a:gd name="adj" fmla="val 20000"/>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9" name="Text 17"/>
          <p:cNvSpPr/>
          <p:nvPr/>
        </p:nvSpPr>
        <p:spPr>
          <a:xfrm>
            <a:off x="365760" y="4663440"/>
            <a:ext cx="2743200" cy="36576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End User Browser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(Global)</a:t>
            </a:r>
            <a:endParaRPr lang="en-US" sz="1000" dirty="0"/>
          </a:p>
        </p:txBody>
      </p:sp>
      <p:sp>
        <p:nvSpPr>
          <p:cNvPr id="20" name="Shape 18"/>
          <p:cNvSpPr/>
          <p:nvPr/>
        </p:nvSpPr>
        <p:spPr>
          <a:xfrm>
            <a:off x="1709928" y="4645152"/>
            <a:ext cx="0" cy="228600"/>
          </a:xfrm>
          <a:prstGeom prst="line">
            <a:avLst/>
          </a:prstGeom>
          <a:noFill/>
          <a:ln w="25400">
            <a:solidFill>
              <a:srgbClr val="0891B2"/>
            </a:solidFill>
            <a:prstDash val="solid"/>
          </a:ln>
        </p:spPr>
      </p:sp>
      <p:sp>
        <p:nvSpPr>
          <p:cNvPr id="21" name="Shape 19"/>
          <p:cNvSpPr/>
          <p:nvPr/>
        </p:nvSpPr>
        <p:spPr>
          <a:xfrm>
            <a:off x="1655064" y="4846320"/>
            <a:ext cx="109728" cy="73152"/>
          </a:xfrm>
          <a:prstGeom prst="rect">
            <a:avLst/>
          </a:prstGeom>
          <a:solidFill>
            <a:srgbClr val="0891B2"/>
          </a:solidFill>
          <a:ln/>
        </p:spPr>
      </p:sp>
      <p:sp>
        <p:nvSpPr>
          <p:cNvPr id="22" name="Shape 20"/>
          <p:cNvSpPr/>
          <p:nvPr/>
        </p:nvSpPr>
        <p:spPr>
          <a:xfrm>
            <a:off x="3429000" y="1024128"/>
            <a:ext cx="5349240" cy="685800"/>
          </a:xfrm>
          <a:prstGeom prst="roundRect">
            <a:avLst>
              <a:gd name="adj" fmla="val 10667"/>
            </a:avLst>
          </a:prstGeom>
          <a:solidFill>
            <a:srgbClr val="EFF6F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23" name="Text 21"/>
          <p:cNvSpPr/>
          <p:nvPr/>
        </p:nvSpPr>
        <p:spPr>
          <a:xfrm>
            <a:off x="3566160" y="1069848"/>
            <a:ext cx="5074920" cy="256032"/>
          </a:xfrm>
          <a:prstGeom prst="rect">
            <a:avLst/>
          </a:prstGeom>
          <a:noFill/>
          <a:ln/>
        </p:spPr>
        <p:txBody>
          <a:bodyPr wrap="square" lIns="0" tIns="0" rIns="0" bIns="0" rtlCol="0" anchor="ctr"/>
          <a:lstStyle/>
          <a:p>
            <a:pPr indent="0" marL="0">
              <a:buNone/>
            </a:pPr>
            <a:r>
              <a:rPr lang="en-US" sz="1200" b="1" dirty="0">
                <a:solidFill>
                  <a:srgbClr val="0D2149"/>
                </a:solidFill>
                <a:latin typeface="Calibri" pitchFamily="34" charset="0"/>
                <a:ea typeface="Calibri" pitchFamily="34" charset="-122"/>
                <a:cs typeface="Calibri" pitchFamily="34" charset="-120"/>
              </a:rPr>
              <a:t>🔒  Private Bucket</a:t>
            </a:r>
            <a:endParaRPr lang="en-US" sz="1200" dirty="0"/>
          </a:p>
        </p:txBody>
      </p:sp>
      <p:sp>
        <p:nvSpPr>
          <p:cNvPr id="24" name="Text 22"/>
          <p:cNvSpPr/>
          <p:nvPr/>
        </p:nvSpPr>
        <p:spPr>
          <a:xfrm>
            <a:off x="3566160" y="1307592"/>
            <a:ext cx="50749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S3 bucket has Block All Public Access enabled. No direct URL access. Only CloudFront can read objects.</a:t>
            </a:r>
            <a:endParaRPr lang="en-US" sz="1000" dirty="0"/>
          </a:p>
        </p:txBody>
      </p:sp>
      <p:sp>
        <p:nvSpPr>
          <p:cNvPr id="25" name="Shape 23"/>
          <p:cNvSpPr/>
          <p:nvPr/>
        </p:nvSpPr>
        <p:spPr>
          <a:xfrm>
            <a:off x="3429000" y="1828800"/>
            <a:ext cx="5349240" cy="685800"/>
          </a:xfrm>
          <a:prstGeom prst="roundRect">
            <a:avLst>
              <a:gd name="adj" fmla="val 10667"/>
            </a:avLst>
          </a:prstGeom>
          <a:solidFill>
            <a:srgbClr val="EFF6F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26" name="Text 24"/>
          <p:cNvSpPr/>
          <p:nvPr/>
        </p:nvSpPr>
        <p:spPr>
          <a:xfrm>
            <a:off x="3566160" y="1874520"/>
            <a:ext cx="5074920" cy="256032"/>
          </a:xfrm>
          <a:prstGeom prst="rect">
            <a:avLst/>
          </a:prstGeom>
          <a:noFill/>
          <a:ln/>
        </p:spPr>
        <p:txBody>
          <a:bodyPr wrap="square" lIns="0" tIns="0" rIns="0" bIns="0" rtlCol="0" anchor="ctr"/>
          <a:lstStyle/>
          <a:p>
            <a:pPr indent="0" marL="0">
              <a:buNone/>
            </a:pPr>
            <a:r>
              <a:rPr lang="en-US" sz="1200" b="1" dirty="0">
                <a:solidFill>
                  <a:srgbClr val="0D2149"/>
                </a:solidFill>
                <a:latin typeface="Calibri" pitchFamily="34" charset="0"/>
                <a:ea typeface="Calibri" pitchFamily="34" charset="-122"/>
                <a:cs typeface="Calibri" pitchFamily="34" charset="-120"/>
              </a:rPr>
              <a:t>🛡  Origin Access Control</a:t>
            </a:r>
            <a:endParaRPr lang="en-US" sz="1200" dirty="0"/>
          </a:p>
        </p:txBody>
      </p:sp>
      <p:sp>
        <p:nvSpPr>
          <p:cNvPr id="27" name="Text 25"/>
          <p:cNvSpPr/>
          <p:nvPr/>
        </p:nvSpPr>
        <p:spPr>
          <a:xfrm>
            <a:off x="3566160" y="2112264"/>
            <a:ext cx="50749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OAC replaces legacy OAI. S3 bucket policy grants read access exclusively to the CloudFront distribution.</a:t>
            </a:r>
            <a:endParaRPr lang="en-US" sz="1000" dirty="0"/>
          </a:p>
        </p:txBody>
      </p:sp>
      <p:sp>
        <p:nvSpPr>
          <p:cNvPr id="28" name="Shape 26"/>
          <p:cNvSpPr/>
          <p:nvPr/>
        </p:nvSpPr>
        <p:spPr>
          <a:xfrm>
            <a:off x="3429000" y="2633472"/>
            <a:ext cx="5349240" cy="685800"/>
          </a:xfrm>
          <a:prstGeom prst="roundRect">
            <a:avLst>
              <a:gd name="adj" fmla="val 10667"/>
            </a:avLst>
          </a:prstGeom>
          <a:solidFill>
            <a:srgbClr val="EFF6F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29" name="Text 27"/>
          <p:cNvSpPr/>
          <p:nvPr/>
        </p:nvSpPr>
        <p:spPr>
          <a:xfrm>
            <a:off x="3566160" y="2679192"/>
            <a:ext cx="5074920" cy="256032"/>
          </a:xfrm>
          <a:prstGeom prst="rect">
            <a:avLst/>
          </a:prstGeom>
          <a:noFill/>
          <a:ln/>
        </p:spPr>
        <p:txBody>
          <a:bodyPr wrap="square" lIns="0" tIns="0" rIns="0" bIns="0" rtlCol="0" anchor="ctr"/>
          <a:lstStyle/>
          <a:p>
            <a:pPr indent="0" marL="0">
              <a:buNone/>
            </a:pPr>
            <a:r>
              <a:rPr lang="en-US" sz="1200" b="1" dirty="0">
                <a:solidFill>
                  <a:srgbClr val="0D2149"/>
                </a:solidFill>
                <a:latin typeface="Calibri" pitchFamily="34" charset="0"/>
                <a:ea typeface="Calibri" pitchFamily="34" charset="-122"/>
                <a:cs typeface="Calibri" pitchFamily="34" charset="-120"/>
              </a:rPr>
              <a:t>🌍  Global Edge Network</a:t>
            </a:r>
            <a:endParaRPr lang="en-US" sz="1200" dirty="0"/>
          </a:p>
        </p:txBody>
      </p:sp>
      <p:sp>
        <p:nvSpPr>
          <p:cNvPr id="30" name="Text 28"/>
          <p:cNvSpPr/>
          <p:nvPr/>
        </p:nvSpPr>
        <p:spPr>
          <a:xfrm>
            <a:off x="3566160" y="2916936"/>
            <a:ext cx="50749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CloudFront serves assets from 450+ edge locations worldwide. Low latency for users globally.</a:t>
            </a:r>
            <a:endParaRPr lang="en-US" sz="1000" dirty="0"/>
          </a:p>
        </p:txBody>
      </p:sp>
      <p:sp>
        <p:nvSpPr>
          <p:cNvPr id="31" name="Shape 29"/>
          <p:cNvSpPr/>
          <p:nvPr/>
        </p:nvSpPr>
        <p:spPr>
          <a:xfrm>
            <a:off x="3429000" y="3438144"/>
            <a:ext cx="5349240" cy="685800"/>
          </a:xfrm>
          <a:prstGeom prst="roundRect">
            <a:avLst>
              <a:gd name="adj" fmla="val 10667"/>
            </a:avLst>
          </a:prstGeom>
          <a:solidFill>
            <a:srgbClr val="EFF6F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32" name="Text 30"/>
          <p:cNvSpPr/>
          <p:nvPr/>
        </p:nvSpPr>
        <p:spPr>
          <a:xfrm>
            <a:off x="3566160" y="3483864"/>
            <a:ext cx="5074920" cy="256032"/>
          </a:xfrm>
          <a:prstGeom prst="rect">
            <a:avLst/>
          </a:prstGeom>
          <a:noFill/>
          <a:ln/>
        </p:spPr>
        <p:txBody>
          <a:bodyPr wrap="square" lIns="0" tIns="0" rIns="0" bIns="0" rtlCol="0" anchor="ctr"/>
          <a:lstStyle/>
          <a:p>
            <a:pPr indent="0" marL="0">
              <a:buNone/>
            </a:pPr>
            <a:r>
              <a:rPr lang="en-US" sz="1200" b="1" dirty="0">
                <a:solidFill>
                  <a:srgbClr val="0D2149"/>
                </a:solidFill>
                <a:latin typeface="Calibri" pitchFamily="34" charset="0"/>
                <a:ea typeface="Calibri" pitchFamily="34" charset="-122"/>
                <a:cs typeface="Calibri" pitchFamily="34" charset="-120"/>
              </a:rPr>
              <a:t>⚡  Aggressive Caching</a:t>
            </a:r>
            <a:endParaRPr lang="en-US" sz="1200" dirty="0"/>
          </a:p>
        </p:txBody>
      </p:sp>
      <p:sp>
        <p:nvSpPr>
          <p:cNvPr id="33" name="Text 31"/>
          <p:cNvSpPr/>
          <p:nvPr/>
        </p:nvSpPr>
        <p:spPr>
          <a:xfrm>
            <a:off x="3566160" y="3721608"/>
            <a:ext cx="50749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Event poster images cached at edge with long TTL (24h+). Reduces S3 bandwidth and improves load time.</a:t>
            </a:r>
            <a:endParaRPr lang="en-US" sz="1000" dirty="0"/>
          </a:p>
        </p:txBody>
      </p:sp>
      <p:sp>
        <p:nvSpPr>
          <p:cNvPr id="34" name="Shape 32"/>
          <p:cNvSpPr/>
          <p:nvPr/>
        </p:nvSpPr>
        <p:spPr>
          <a:xfrm>
            <a:off x="3429000" y="4242816"/>
            <a:ext cx="5349240" cy="685800"/>
          </a:xfrm>
          <a:prstGeom prst="roundRect">
            <a:avLst>
              <a:gd name="adj" fmla="val 10667"/>
            </a:avLst>
          </a:prstGeom>
          <a:solidFill>
            <a:srgbClr val="EFF6FF"/>
          </a:solidFill>
          <a:ln w="10160">
            <a:solidFill>
              <a:srgbClr val="2563EB"/>
            </a:solidFill>
            <a:prstDash val="solid"/>
          </a:ln>
          <a:effectLst>
            <a:outerShdw sx="100000" sy="100000" kx="0" ky="0" algn="bl" rotWithShape="0" blurRad="127000" dist="25400" dir="2700000">
              <a:srgbClr val="000000">
                <a:alpha val="10000"/>
              </a:srgbClr>
            </a:outerShdw>
          </a:effectLst>
        </p:spPr>
      </p:sp>
      <p:sp>
        <p:nvSpPr>
          <p:cNvPr id="35" name="Text 33"/>
          <p:cNvSpPr/>
          <p:nvPr/>
        </p:nvSpPr>
        <p:spPr>
          <a:xfrm>
            <a:off x="3566160" y="4288536"/>
            <a:ext cx="5074920" cy="256032"/>
          </a:xfrm>
          <a:prstGeom prst="rect">
            <a:avLst/>
          </a:prstGeom>
          <a:noFill/>
          <a:ln/>
        </p:spPr>
        <p:txBody>
          <a:bodyPr wrap="square" lIns="0" tIns="0" rIns="0" bIns="0" rtlCol="0" anchor="ctr"/>
          <a:lstStyle/>
          <a:p>
            <a:pPr indent="0" marL="0">
              <a:buNone/>
            </a:pPr>
            <a:r>
              <a:rPr lang="en-US" sz="1200" b="1" dirty="0">
                <a:solidFill>
                  <a:srgbClr val="0D2149"/>
                </a:solidFill>
                <a:latin typeface="Calibri" pitchFamily="34" charset="0"/>
                <a:ea typeface="Calibri" pitchFamily="34" charset="-122"/>
                <a:cs typeface="Calibri" pitchFamily="34" charset="-120"/>
              </a:rPr>
              <a:t>🔑  Signed URLs (future)</a:t>
            </a:r>
            <a:endParaRPr lang="en-US" sz="1200" dirty="0"/>
          </a:p>
        </p:txBody>
      </p:sp>
      <p:sp>
        <p:nvSpPr>
          <p:cNvPr id="36" name="Text 34"/>
          <p:cNvSpPr/>
          <p:nvPr/>
        </p:nvSpPr>
        <p:spPr>
          <a:xfrm>
            <a:off x="3566160" y="4526280"/>
            <a:ext cx="50749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Can restrict access to authenticated users only using CloudFront signed URLs or cookies.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Event-Driven Booking Notifications</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65760" y="1078992"/>
            <a:ext cx="3200400" cy="621792"/>
          </a:xfrm>
          <a:prstGeom prst="roundRect">
            <a:avLst>
              <a:gd name="adj" fmla="val 11765"/>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365760" y="1078992"/>
            <a:ext cx="3200400" cy="62179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Booking Service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creates booking</a:t>
            </a:r>
            <a:endParaRPr lang="en-US" sz="1000" dirty="0"/>
          </a:p>
        </p:txBody>
      </p:sp>
      <p:sp>
        <p:nvSpPr>
          <p:cNvPr id="6" name="Shape 4"/>
          <p:cNvSpPr/>
          <p:nvPr/>
        </p:nvSpPr>
        <p:spPr>
          <a:xfrm>
            <a:off x="1938528" y="1682496"/>
            <a:ext cx="0" cy="228600"/>
          </a:xfrm>
          <a:prstGeom prst="line">
            <a:avLst/>
          </a:prstGeom>
          <a:noFill/>
          <a:ln w="25400">
            <a:solidFill>
              <a:srgbClr val="FF9900"/>
            </a:solidFill>
            <a:prstDash val="solid"/>
          </a:ln>
        </p:spPr>
      </p:sp>
      <p:sp>
        <p:nvSpPr>
          <p:cNvPr id="7" name="Shape 5"/>
          <p:cNvSpPr/>
          <p:nvPr/>
        </p:nvSpPr>
        <p:spPr>
          <a:xfrm>
            <a:off x="1883664" y="1883664"/>
            <a:ext cx="109728" cy="73152"/>
          </a:xfrm>
          <a:prstGeom prst="rect">
            <a:avLst/>
          </a:prstGeom>
          <a:solidFill>
            <a:srgbClr val="FF9900"/>
          </a:solidFill>
          <a:ln/>
        </p:spPr>
      </p:sp>
      <p:sp>
        <p:nvSpPr>
          <p:cNvPr id="8" name="Shape 6"/>
          <p:cNvSpPr/>
          <p:nvPr/>
        </p:nvSpPr>
        <p:spPr>
          <a:xfrm>
            <a:off x="365760" y="1828800"/>
            <a:ext cx="3200400" cy="621792"/>
          </a:xfrm>
          <a:prstGeom prst="roundRect">
            <a:avLst>
              <a:gd name="adj" fmla="val 11765"/>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365760" y="1828800"/>
            <a:ext cx="3200400" cy="62179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SQS Queue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BookingNotificationQueue</a:t>
            </a:r>
            <a:endParaRPr lang="en-US" sz="1000" dirty="0"/>
          </a:p>
        </p:txBody>
      </p:sp>
      <p:sp>
        <p:nvSpPr>
          <p:cNvPr id="10" name="Shape 8"/>
          <p:cNvSpPr/>
          <p:nvPr/>
        </p:nvSpPr>
        <p:spPr>
          <a:xfrm>
            <a:off x="1938528" y="2432304"/>
            <a:ext cx="0" cy="228600"/>
          </a:xfrm>
          <a:prstGeom prst="line">
            <a:avLst/>
          </a:prstGeom>
          <a:noFill/>
          <a:ln w="25400">
            <a:solidFill>
              <a:srgbClr val="FF9900"/>
            </a:solidFill>
            <a:prstDash val="solid"/>
          </a:ln>
        </p:spPr>
      </p:sp>
      <p:sp>
        <p:nvSpPr>
          <p:cNvPr id="11" name="Shape 9"/>
          <p:cNvSpPr/>
          <p:nvPr/>
        </p:nvSpPr>
        <p:spPr>
          <a:xfrm>
            <a:off x="1883664" y="2633472"/>
            <a:ext cx="109728" cy="73152"/>
          </a:xfrm>
          <a:prstGeom prst="rect">
            <a:avLst/>
          </a:prstGeom>
          <a:solidFill>
            <a:srgbClr val="FF9900"/>
          </a:solidFill>
          <a:ln/>
        </p:spPr>
      </p:sp>
      <p:sp>
        <p:nvSpPr>
          <p:cNvPr id="12" name="Shape 10"/>
          <p:cNvSpPr/>
          <p:nvPr/>
        </p:nvSpPr>
        <p:spPr>
          <a:xfrm>
            <a:off x="365760" y="2578608"/>
            <a:ext cx="3200400" cy="621792"/>
          </a:xfrm>
          <a:prstGeom prst="roundRect">
            <a:avLst>
              <a:gd name="adj" fmla="val 11765"/>
            </a:avLst>
          </a:prstGeom>
          <a:solidFill>
            <a:srgbClr val="4A1D9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365760" y="2578608"/>
            <a:ext cx="3200400" cy="62179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λ  Lambda Function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PollsQueue + Processes</a:t>
            </a:r>
            <a:endParaRPr lang="en-US" sz="1000" dirty="0"/>
          </a:p>
        </p:txBody>
      </p:sp>
      <p:sp>
        <p:nvSpPr>
          <p:cNvPr id="14" name="Shape 12"/>
          <p:cNvSpPr/>
          <p:nvPr/>
        </p:nvSpPr>
        <p:spPr>
          <a:xfrm>
            <a:off x="1938528" y="3182112"/>
            <a:ext cx="0" cy="228600"/>
          </a:xfrm>
          <a:prstGeom prst="line">
            <a:avLst/>
          </a:prstGeom>
          <a:noFill/>
          <a:ln w="25400">
            <a:solidFill>
              <a:srgbClr val="FF9900"/>
            </a:solidFill>
            <a:prstDash val="solid"/>
          </a:ln>
        </p:spPr>
      </p:sp>
      <p:sp>
        <p:nvSpPr>
          <p:cNvPr id="15" name="Shape 13"/>
          <p:cNvSpPr/>
          <p:nvPr/>
        </p:nvSpPr>
        <p:spPr>
          <a:xfrm>
            <a:off x="1883664" y="3383280"/>
            <a:ext cx="109728" cy="73152"/>
          </a:xfrm>
          <a:prstGeom prst="rect">
            <a:avLst/>
          </a:prstGeom>
          <a:solidFill>
            <a:srgbClr val="FF9900"/>
          </a:solidFill>
          <a:ln/>
        </p:spPr>
      </p:sp>
      <p:sp>
        <p:nvSpPr>
          <p:cNvPr id="16" name="Shape 14"/>
          <p:cNvSpPr/>
          <p:nvPr/>
        </p:nvSpPr>
        <p:spPr>
          <a:xfrm>
            <a:off x="365760" y="3328416"/>
            <a:ext cx="3200400" cy="621792"/>
          </a:xfrm>
          <a:prstGeom prst="roundRect">
            <a:avLst>
              <a:gd name="adj" fmla="val 11765"/>
            </a:avLst>
          </a:prstGeom>
          <a:solidFill>
            <a:srgbClr val="1E3A5F"/>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365760" y="3328416"/>
            <a:ext cx="3200400" cy="62179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SNS Topic</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BookingNotifications</a:t>
            </a:r>
            <a:endParaRPr lang="en-US" sz="1000" dirty="0"/>
          </a:p>
        </p:txBody>
      </p:sp>
      <p:sp>
        <p:nvSpPr>
          <p:cNvPr id="18" name="Shape 16"/>
          <p:cNvSpPr/>
          <p:nvPr/>
        </p:nvSpPr>
        <p:spPr>
          <a:xfrm>
            <a:off x="1938528" y="3931920"/>
            <a:ext cx="0" cy="228600"/>
          </a:xfrm>
          <a:prstGeom prst="line">
            <a:avLst/>
          </a:prstGeom>
          <a:noFill/>
          <a:ln w="25400">
            <a:solidFill>
              <a:srgbClr val="FF9900"/>
            </a:solidFill>
            <a:prstDash val="solid"/>
          </a:ln>
        </p:spPr>
      </p:sp>
      <p:sp>
        <p:nvSpPr>
          <p:cNvPr id="19" name="Shape 17"/>
          <p:cNvSpPr/>
          <p:nvPr/>
        </p:nvSpPr>
        <p:spPr>
          <a:xfrm>
            <a:off x="1883664" y="4133088"/>
            <a:ext cx="109728" cy="73152"/>
          </a:xfrm>
          <a:prstGeom prst="rect">
            <a:avLst/>
          </a:prstGeom>
          <a:solidFill>
            <a:srgbClr val="FF9900"/>
          </a:solidFill>
          <a:ln/>
        </p:spPr>
      </p:sp>
      <p:sp>
        <p:nvSpPr>
          <p:cNvPr id="20" name="Shape 18"/>
          <p:cNvSpPr/>
          <p:nvPr/>
        </p:nvSpPr>
        <p:spPr>
          <a:xfrm>
            <a:off x="365760" y="4078224"/>
            <a:ext cx="3200400" cy="621792"/>
          </a:xfrm>
          <a:prstGeom prst="roundRect">
            <a:avLst>
              <a:gd name="adj" fmla="val 11765"/>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1" name="Text 19"/>
          <p:cNvSpPr/>
          <p:nvPr/>
        </p:nvSpPr>
        <p:spPr>
          <a:xfrm>
            <a:off x="365760" y="4078224"/>
            <a:ext cx="3200400" cy="621792"/>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Email Notification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Customer receives confirmation</a:t>
            </a:r>
            <a:endParaRPr lang="en-US" sz="1000" dirty="0"/>
          </a:p>
        </p:txBody>
      </p:sp>
      <p:sp>
        <p:nvSpPr>
          <p:cNvPr id="22" name="Shape 20"/>
          <p:cNvSpPr/>
          <p:nvPr/>
        </p:nvSpPr>
        <p:spPr>
          <a:xfrm>
            <a:off x="3931920" y="1051560"/>
            <a:ext cx="4846320" cy="4160520"/>
          </a:xfrm>
          <a:prstGeom prst="roundRect">
            <a:avLst>
              <a:gd name="adj" fmla="val 2637"/>
            </a:avLst>
          </a:prstGeom>
          <a:solidFill>
            <a:srgbClr val="1A3A6B">
              <a:alpha val="80000"/>
            </a:srgbClr>
          </a:solidFill>
          <a:ln w="12700">
            <a:solidFill>
              <a:srgbClr val="0891B2"/>
            </a:solidFill>
            <a:prstDash val="solid"/>
          </a:ln>
        </p:spPr>
      </p:sp>
      <p:sp>
        <p:nvSpPr>
          <p:cNvPr id="23" name="Text 21"/>
          <p:cNvSpPr/>
          <p:nvPr/>
        </p:nvSpPr>
        <p:spPr>
          <a:xfrm>
            <a:off x="4114800" y="1143000"/>
            <a:ext cx="4572000" cy="384048"/>
          </a:xfrm>
          <a:prstGeom prst="rect">
            <a:avLst/>
          </a:prstGeom>
          <a:noFill/>
          <a:ln/>
        </p:spPr>
        <p:txBody>
          <a:bodyPr wrap="square" lIns="0" tIns="0" rIns="0" bIns="0" rtlCol="0" anchor="ctr"/>
          <a:lstStyle/>
          <a:p>
            <a:pPr indent="0" marL="0">
              <a:buNone/>
            </a:pPr>
            <a:r>
              <a:rPr lang="en-US" sz="1600" b="1" dirty="0">
                <a:solidFill>
                  <a:srgbClr val="FF9900"/>
                </a:solidFill>
                <a:latin typeface="Calibri" pitchFamily="34" charset="0"/>
                <a:ea typeface="Calibri" pitchFamily="34" charset="-122"/>
                <a:cs typeface="Calibri" pitchFamily="34" charset="-120"/>
              </a:rPr>
              <a:t>Why Event-Driven?</a:t>
            </a:r>
            <a:endParaRPr lang="en-US" sz="1600" dirty="0"/>
          </a:p>
        </p:txBody>
      </p:sp>
      <p:sp>
        <p:nvSpPr>
          <p:cNvPr id="24" name="Shape 22"/>
          <p:cNvSpPr/>
          <p:nvPr/>
        </p:nvSpPr>
        <p:spPr>
          <a:xfrm>
            <a:off x="4069080" y="1627632"/>
            <a:ext cx="4526280" cy="749808"/>
          </a:xfrm>
          <a:prstGeom prst="roundRect">
            <a:avLst>
              <a:gd name="adj" fmla="val 7317"/>
            </a:avLst>
          </a:prstGeom>
          <a:solidFill>
            <a:srgbClr val="0A1628">
              <a:alpha val="70000"/>
            </a:srgbClr>
          </a:solidFill>
          <a:ln w="6350">
            <a:solidFill>
              <a:srgbClr val="2563EB"/>
            </a:solidFill>
            <a:prstDash val="solid"/>
          </a:ln>
        </p:spPr>
      </p:sp>
      <p:sp>
        <p:nvSpPr>
          <p:cNvPr id="25" name="Text 23"/>
          <p:cNvSpPr/>
          <p:nvPr/>
        </p:nvSpPr>
        <p:spPr>
          <a:xfrm>
            <a:off x="4206240" y="1673352"/>
            <a:ext cx="425196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Decoupling</a:t>
            </a:r>
            <a:endParaRPr lang="en-US" sz="1200" dirty="0"/>
          </a:p>
        </p:txBody>
      </p:sp>
      <p:sp>
        <p:nvSpPr>
          <p:cNvPr id="26" name="Text 24"/>
          <p:cNvSpPr/>
          <p:nvPr/>
        </p:nvSpPr>
        <p:spPr>
          <a:xfrm>
            <a:off x="4206240" y="1911096"/>
            <a:ext cx="4251960" cy="384048"/>
          </a:xfrm>
          <a:prstGeom prst="rect">
            <a:avLst/>
          </a:prstGeom>
          <a:noFill/>
          <a:ln/>
        </p:spPr>
        <p:txBody>
          <a:bodyPr wrap="square" lIns="0" tIns="0" rIns="0" bIns="0" rtlCol="0" anchor="ctr"/>
          <a:lstStyle/>
          <a:p>
            <a:pPr indent="0" marL="0">
              <a:buNone/>
            </a:pPr>
            <a:r>
              <a:rPr lang="en-US" sz="950" dirty="0">
                <a:solidFill>
                  <a:srgbClr val="BFDBFE"/>
                </a:solidFill>
                <a:latin typeface="Calibri" pitchFamily="34" charset="0"/>
                <a:ea typeface="Calibri" pitchFamily="34" charset="-122"/>
                <a:cs typeface="Calibri" pitchFamily="34" charset="-120"/>
              </a:rPr>
              <a:t>Booking Service doesn't wait for email delivery. It publishes to SQS and continues. A slow email provider doesn't slow booking creation.</a:t>
            </a:r>
            <a:endParaRPr lang="en-US" sz="950" dirty="0"/>
          </a:p>
        </p:txBody>
      </p:sp>
      <p:sp>
        <p:nvSpPr>
          <p:cNvPr id="27" name="Shape 25"/>
          <p:cNvSpPr/>
          <p:nvPr/>
        </p:nvSpPr>
        <p:spPr>
          <a:xfrm>
            <a:off x="4069080" y="2496312"/>
            <a:ext cx="4526280" cy="749808"/>
          </a:xfrm>
          <a:prstGeom prst="roundRect">
            <a:avLst>
              <a:gd name="adj" fmla="val 7317"/>
            </a:avLst>
          </a:prstGeom>
          <a:solidFill>
            <a:srgbClr val="0A1628">
              <a:alpha val="70000"/>
            </a:srgbClr>
          </a:solidFill>
          <a:ln w="6350">
            <a:solidFill>
              <a:srgbClr val="2563EB"/>
            </a:solidFill>
            <a:prstDash val="solid"/>
          </a:ln>
        </p:spPr>
      </p:sp>
      <p:sp>
        <p:nvSpPr>
          <p:cNvPr id="28" name="Text 26"/>
          <p:cNvSpPr/>
          <p:nvPr/>
        </p:nvSpPr>
        <p:spPr>
          <a:xfrm>
            <a:off x="4206240" y="2542032"/>
            <a:ext cx="425196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Reliability</a:t>
            </a:r>
            <a:endParaRPr lang="en-US" sz="1200" dirty="0"/>
          </a:p>
        </p:txBody>
      </p:sp>
      <p:sp>
        <p:nvSpPr>
          <p:cNvPr id="29" name="Text 27"/>
          <p:cNvSpPr/>
          <p:nvPr/>
        </p:nvSpPr>
        <p:spPr>
          <a:xfrm>
            <a:off x="4206240" y="2779776"/>
            <a:ext cx="4251960" cy="384048"/>
          </a:xfrm>
          <a:prstGeom prst="rect">
            <a:avLst/>
          </a:prstGeom>
          <a:noFill/>
          <a:ln/>
        </p:spPr>
        <p:txBody>
          <a:bodyPr wrap="square" lIns="0" tIns="0" rIns="0" bIns="0" rtlCol="0" anchor="ctr"/>
          <a:lstStyle/>
          <a:p>
            <a:pPr indent="0" marL="0">
              <a:buNone/>
            </a:pPr>
            <a:r>
              <a:rPr lang="en-US" sz="950" dirty="0">
                <a:solidFill>
                  <a:srgbClr val="BFDBFE"/>
                </a:solidFill>
                <a:latin typeface="Calibri" pitchFamily="34" charset="0"/>
                <a:ea typeface="Calibri" pitchFamily="34" charset="-122"/>
                <a:cs typeface="Calibri" pitchFamily="34" charset="-120"/>
              </a:rPr>
              <a:t>If Lambda fails, SQS retains the message. The notification will be delivered when Lambda recovers. Message delivery guarantee.</a:t>
            </a:r>
            <a:endParaRPr lang="en-US" sz="950" dirty="0"/>
          </a:p>
        </p:txBody>
      </p:sp>
      <p:sp>
        <p:nvSpPr>
          <p:cNvPr id="30" name="Shape 28"/>
          <p:cNvSpPr/>
          <p:nvPr/>
        </p:nvSpPr>
        <p:spPr>
          <a:xfrm>
            <a:off x="4069080" y="3364992"/>
            <a:ext cx="4526280" cy="749808"/>
          </a:xfrm>
          <a:prstGeom prst="roundRect">
            <a:avLst>
              <a:gd name="adj" fmla="val 7317"/>
            </a:avLst>
          </a:prstGeom>
          <a:solidFill>
            <a:srgbClr val="0A1628">
              <a:alpha val="70000"/>
            </a:srgbClr>
          </a:solidFill>
          <a:ln w="6350">
            <a:solidFill>
              <a:srgbClr val="2563EB"/>
            </a:solidFill>
            <a:prstDash val="solid"/>
          </a:ln>
        </p:spPr>
      </p:sp>
      <p:sp>
        <p:nvSpPr>
          <p:cNvPr id="31" name="Text 29"/>
          <p:cNvSpPr/>
          <p:nvPr/>
        </p:nvSpPr>
        <p:spPr>
          <a:xfrm>
            <a:off x="4206240" y="3410712"/>
            <a:ext cx="425196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Scalability</a:t>
            </a:r>
            <a:endParaRPr lang="en-US" sz="1200" dirty="0"/>
          </a:p>
        </p:txBody>
      </p:sp>
      <p:sp>
        <p:nvSpPr>
          <p:cNvPr id="32" name="Text 30"/>
          <p:cNvSpPr/>
          <p:nvPr/>
        </p:nvSpPr>
        <p:spPr>
          <a:xfrm>
            <a:off x="4206240" y="3648456"/>
            <a:ext cx="4251960" cy="384048"/>
          </a:xfrm>
          <a:prstGeom prst="rect">
            <a:avLst/>
          </a:prstGeom>
          <a:noFill/>
          <a:ln/>
        </p:spPr>
        <p:txBody>
          <a:bodyPr wrap="square" lIns="0" tIns="0" rIns="0" bIns="0" rtlCol="0" anchor="ctr"/>
          <a:lstStyle/>
          <a:p>
            <a:pPr indent="0" marL="0">
              <a:buNone/>
            </a:pPr>
            <a:r>
              <a:rPr lang="en-US" sz="950" dirty="0">
                <a:solidFill>
                  <a:srgbClr val="BFDBFE"/>
                </a:solidFill>
                <a:latin typeface="Calibri" pitchFamily="34" charset="0"/>
                <a:ea typeface="Calibri" pitchFamily="34" charset="-122"/>
                <a:cs typeface="Calibri" pitchFamily="34" charset="-120"/>
              </a:rPr>
              <a:t>SQS queues handle traffic spikes gracefully. Lambda scales with queue depth. Thousands of concurrent bookings work seamlessly.</a:t>
            </a:r>
            <a:endParaRPr lang="en-US" sz="950" dirty="0"/>
          </a:p>
        </p:txBody>
      </p:sp>
      <p:sp>
        <p:nvSpPr>
          <p:cNvPr id="33" name="Shape 31"/>
          <p:cNvSpPr/>
          <p:nvPr/>
        </p:nvSpPr>
        <p:spPr>
          <a:xfrm>
            <a:off x="4069080" y="4233672"/>
            <a:ext cx="4526280" cy="749808"/>
          </a:xfrm>
          <a:prstGeom prst="roundRect">
            <a:avLst>
              <a:gd name="adj" fmla="val 7317"/>
            </a:avLst>
          </a:prstGeom>
          <a:solidFill>
            <a:srgbClr val="0A1628">
              <a:alpha val="70000"/>
            </a:srgbClr>
          </a:solidFill>
          <a:ln w="6350">
            <a:solidFill>
              <a:srgbClr val="2563EB"/>
            </a:solidFill>
            <a:prstDash val="solid"/>
          </a:ln>
        </p:spPr>
      </p:sp>
      <p:sp>
        <p:nvSpPr>
          <p:cNvPr id="34" name="Text 32"/>
          <p:cNvSpPr/>
          <p:nvPr/>
        </p:nvSpPr>
        <p:spPr>
          <a:xfrm>
            <a:off x="4206240" y="4279392"/>
            <a:ext cx="425196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Observability</a:t>
            </a:r>
            <a:endParaRPr lang="en-US" sz="1200" dirty="0"/>
          </a:p>
        </p:txBody>
      </p:sp>
      <p:sp>
        <p:nvSpPr>
          <p:cNvPr id="35" name="Text 33"/>
          <p:cNvSpPr/>
          <p:nvPr/>
        </p:nvSpPr>
        <p:spPr>
          <a:xfrm>
            <a:off x="4206240" y="4517136"/>
            <a:ext cx="4251960" cy="384048"/>
          </a:xfrm>
          <a:prstGeom prst="rect">
            <a:avLst/>
          </a:prstGeom>
          <a:noFill/>
          <a:ln/>
        </p:spPr>
        <p:txBody>
          <a:bodyPr wrap="square" lIns="0" tIns="0" rIns="0" bIns="0" rtlCol="0" anchor="ctr"/>
          <a:lstStyle/>
          <a:p>
            <a:pPr indent="0" marL="0">
              <a:buNone/>
            </a:pPr>
            <a:r>
              <a:rPr lang="en-US" sz="950" dirty="0">
                <a:solidFill>
                  <a:srgbClr val="BFDBFE"/>
                </a:solidFill>
                <a:latin typeface="Calibri" pitchFamily="34" charset="0"/>
                <a:ea typeface="Calibri" pitchFamily="34" charset="-122"/>
                <a:cs typeface="Calibri" pitchFamily="34" charset="-120"/>
              </a:rPr>
              <a:t>Each step is observable independently. CloudWatch tracks queue depth, Lambda errors, and SNS delivery rates separately.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CloudWatch Monitoring Dashboard</a:t>
            </a:r>
            <a:endParaRPr lang="en-US" sz="2800" dirty="0"/>
          </a:p>
        </p:txBody>
      </p:sp>
      <p:sp>
        <p:nvSpPr>
          <p:cNvPr id="4" name="Shape 2"/>
          <p:cNvSpPr/>
          <p:nvPr/>
        </p:nvSpPr>
        <p:spPr>
          <a:xfrm>
            <a:off x="320040" y="960120"/>
            <a:ext cx="8503920" cy="3931920"/>
          </a:xfrm>
          <a:prstGeom prst="roundRect">
            <a:avLst>
              <a:gd name="adj" fmla="val 2326"/>
            </a:avLst>
          </a:prstGeom>
          <a:solidFill>
            <a:srgbClr val="1A2332"/>
          </a:solidFill>
          <a:ln w="12700">
            <a:solidFill>
              <a:srgbClr val="2D3748"/>
            </a:solidFill>
            <a:prstDash val="solid"/>
          </a:ln>
        </p:spPr>
      </p:sp>
      <p:sp>
        <p:nvSpPr>
          <p:cNvPr id="5" name="Text 3"/>
          <p:cNvSpPr/>
          <p:nvPr/>
        </p:nvSpPr>
        <p:spPr>
          <a:xfrm>
            <a:off x="457200" y="1005840"/>
            <a:ext cx="5486400" cy="347472"/>
          </a:xfrm>
          <a:prstGeom prst="rect">
            <a:avLst/>
          </a:prstGeom>
          <a:noFill/>
          <a:ln/>
        </p:spPr>
        <p:txBody>
          <a:bodyPr wrap="square" lIns="0" tIns="0" rIns="0" bIns="0" rtlCol="0" anchor="ctr"/>
          <a:lstStyle/>
          <a:p>
            <a:pPr indent="0" marL="0">
              <a:buNone/>
            </a:pPr>
            <a:r>
              <a:rPr lang="en-US" sz="1100" b="1" dirty="0">
                <a:solidFill>
                  <a:srgbClr val="94A3B8"/>
                </a:solidFill>
                <a:latin typeface="Calibri" pitchFamily="34" charset="0"/>
                <a:ea typeface="Calibri" pitchFamily="34" charset="-122"/>
                <a:cs typeface="Calibri" pitchFamily="34" charset="-120"/>
              </a:rPr>
              <a:t>BlackTickets — Operations Dashboard</a:t>
            </a:r>
            <a:endParaRPr lang="en-US" sz="1100" dirty="0"/>
          </a:p>
        </p:txBody>
      </p:sp>
      <p:sp>
        <p:nvSpPr>
          <p:cNvPr id="6" name="Text 4"/>
          <p:cNvSpPr/>
          <p:nvPr/>
        </p:nvSpPr>
        <p:spPr>
          <a:xfrm>
            <a:off x="7498080" y="1005840"/>
            <a:ext cx="1097280" cy="347472"/>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 LIVE</a:t>
            </a:r>
            <a:endParaRPr lang="en-US" sz="1100" dirty="0"/>
          </a:p>
        </p:txBody>
      </p:sp>
      <p:sp>
        <p:nvSpPr>
          <p:cNvPr id="7" name="Shape 5"/>
          <p:cNvSpPr/>
          <p:nvPr/>
        </p:nvSpPr>
        <p:spPr>
          <a:xfrm>
            <a:off x="457200" y="1444752"/>
            <a:ext cx="1920240" cy="1463040"/>
          </a:xfrm>
          <a:prstGeom prst="roundRect">
            <a:avLst>
              <a:gd name="adj" fmla="val 4375"/>
            </a:avLst>
          </a:prstGeom>
          <a:solidFill>
            <a:srgbClr val="1E293B"/>
          </a:solidFill>
          <a:ln w="12700">
            <a:solidFill>
              <a:srgbClr val="2563EB"/>
            </a:solidFill>
            <a:prstDash val="solid"/>
          </a:ln>
        </p:spPr>
      </p:sp>
      <p:sp>
        <p:nvSpPr>
          <p:cNvPr id="8" name="Shape 6"/>
          <p:cNvSpPr/>
          <p:nvPr/>
        </p:nvSpPr>
        <p:spPr>
          <a:xfrm>
            <a:off x="566928" y="2478024"/>
            <a:ext cx="137160" cy="201168"/>
          </a:xfrm>
          <a:prstGeom prst="rect">
            <a:avLst/>
          </a:prstGeom>
          <a:solidFill>
            <a:srgbClr val="2563EB">
              <a:alpha val="80000"/>
            </a:srgbClr>
          </a:solidFill>
          <a:ln/>
        </p:spPr>
      </p:sp>
      <p:sp>
        <p:nvSpPr>
          <p:cNvPr id="9" name="Shape 7"/>
          <p:cNvSpPr/>
          <p:nvPr/>
        </p:nvSpPr>
        <p:spPr>
          <a:xfrm>
            <a:off x="768096" y="2327148"/>
            <a:ext cx="137160" cy="352044"/>
          </a:xfrm>
          <a:prstGeom prst="rect">
            <a:avLst/>
          </a:prstGeom>
          <a:solidFill>
            <a:srgbClr val="2563EB">
              <a:alpha val="80000"/>
            </a:srgbClr>
          </a:solidFill>
          <a:ln/>
        </p:spPr>
      </p:sp>
      <p:sp>
        <p:nvSpPr>
          <p:cNvPr id="10" name="Shape 8"/>
          <p:cNvSpPr/>
          <p:nvPr/>
        </p:nvSpPr>
        <p:spPr>
          <a:xfrm>
            <a:off x="969264" y="2427732"/>
            <a:ext cx="137160" cy="251460"/>
          </a:xfrm>
          <a:prstGeom prst="rect">
            <a:avLst/>
          </a:prstGeom>
          <a:solidFill>
            <a:srgbClr val="2563EB">
              <a:alpha val="80000"/>
            </a:srgbClr>
          </a:solidFill>
          <a:ln/>
        </p:spPr>
      </p:sp>
      <p:sp>
        <p:nvSpPr>
          <p:cNvPr id="11" name="Shape 9"/>
          <p:cNvSpPr/>
          <p:nvPr/>
        </p:nvSpPr>
        <p:spPr>
          <a:xfrm>
            <a:off x="1170432" y="2226564"/>
            <a:ext cx="137160" cy="452628"/>
          </a:xfrm>
          <a:prstGeom prst="rect">
            <a:avLst/>
          </a:prstGeom>
          <a:solidFill>
            <a:srgbClr val="2563EB">
              <a:alpha val="80000"/>
            </a:srgbClr>
          </a:solidFill>
          <a:ln/>
        </p:spPr>
      </p:sp>
      <p:sp>
        <p:nvSpPr>
          <p:cNvPr id="12" name="Shape 10"/>
          <p:cNvSpPr/>
          <p:nvPr/>
        </p:nvSpPr>
        <p:spPr>
          <a:xfrm>
            <a:off x="1371600" y="2377440"/>
            <a:ext cx="137160" cy="301752"/>
          </a:xfrm>
          <a:prstGeom prst="rect">
            <a:avLst/>
          </a:prstGeom>
          <a:solidFill>
            <a:srgbClr val="2563EB">
              <a:alpha val="80000"/>
            </a:srgbClr>
          </a:solidFill>
          <a:ln/>
        </p:spPr>
      </p:sp>
      <p:sp>
        <p:nvSpPr>
          <p:cNvPr id="13" name="Shape 11"/>
          <p:cNvSpPr/>
          <p:nvPr/>
        </p:nvSpPr>
        <p:spPr>
          <a:xfrm>
            <a:off x="1572768" y="2276856"/>
            <a:ext cx="137160" cy="402336"/>
          </a:xfrm>
          <a:prstGeom prst="rect">
            <a:avLst/>
          </a:prstGeom>
          <a:solidFill>
            <a:srgbClr val="2563EB">
              <a:alpha val="80000"/>
            </a:srgbClr>
          </a:solidFill>
          <a:ln/>
        </p:spPr>
      </p:sp>
      <p:sp>
        <p:nvSpPr>
          <p:cNvPr id="14" name="Shape 12"/>
          <p:cNvSpPr/>
          <p:nvPr/>
        </p:nvSpPr>
        <p:spPr>
          <a:xfrm>
            <a:off x="1773936" y="2427732"/>
            <a:ext cx="137160" cy="251460"/>
          </a:xfrm>
          <a:prstGeom prst="rect">
            <a:avLst/>
          </a:prstGeom>
          <a:solidFill>
            <a:srgbClr val="2563EB">
              <a:alpha val="80000"/>
            </a:srgbClr>
          </a:solidFill>
          <a:ln/>
        </p:spPr>
      </p:sp>
      <p:sp>
        <p:nvSpPr>
          <p:cNvPr id="15" name="Shape 13"/>
          <p:cNvSpPr/>
          <p:nvPr/>
        </p:nvSpPr>
        <p:spPr>
          <a:xfrm>
            <a:off x="1975104" y="2327148"/>
            <a:ext cx="137160" cy="352044"/>
          </a:xfrm>
          <a:prstGeom prst="rect">
            <a:avLst/>
          </a:prstGeom>
          <a:solidFill>
            <a:srgbClr val="2563EB">
              <a:alpha val="80000"/>
            </a:srgbClr>
          </a:solidFill>
          <a:ln/>
        </p:spPr>
      </p:sp>
      <p:sp>
        <p:nvSpPr>
          <p:cNvPr id="16" name="Text 14"/>
          <p:cNvSpPr/>
          <p:nvPr/>
        </p:nvSpPr>
        <p:spPr>
          <a:xfrm>
            <a:off x="530352" y="153619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ALB Request Rate</a:t>
            </a:r>
            <a:endParaRPr lang="en-US" sz="900" dirty="0"/>
          </a:p>
        </p:txBody>
      </p:sp>
      <p:sp>
        <p:nvSpPr>
          <p:cNvPr id="17" name="Text 15"/>
          <p:cNvSpPr/>
          <p:nvPr/>
        </p:nvSpPr>
        <p:spPr>
          <a:xfrm>
            <a:off x="530352" y="183794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RequestCount / 5min</a:t>
            </a:r>
            <a:endParaRPr lang="en-US" sz="750" dirty="0"/>
          </a:p>
        </p:txBody>
      </p:sp>
      <p:sp>
        <p:nvSpPr>
          <p:cNvPr id="18" name="Shape 16"/>
          <p:cNvSpPr/>
          <p:nvPr/>
        </p:nvSpPr>
        <p:spPr>
          <a:xfrm>
            <a:off x="2542032" y="1444752"/>
            <a:ext cx="1920240" cy="1463040"/>
          </a:xfrm>
          <a:prstGeom prst="roundRect">
            <a:avLst>
              <a:gd name="adj" fmla="val 4375"/>
            </a:avLst>
          </a:prstGeom>
          <a:solidFill>
            <a:srgbClr val="1E293B"/>
          </a:solidFill>
          <a:ln w="12700">
            <a:solidFill>
              <a:srgbClr val="DC2626"/>
            </a:solidFill>
            <a:prstDash val="solid"/>
          </a:ln>
        </p:spPr>
      </p:sp>
      <p:sp>
        <p:nvSpPr>
          <p:cNvPr id="19" name="Shape 17"/>
          <p:cNvSpPr/>
          <p:nvPr/>
        </p:nvSpPr>
        <p:spPr>
          <a:xfrm>
            <a:off x="2651760" y="2478024"/>
            <a:ext cx="137160" cy="201168"/>
          </a:xfrm>
          <a:prstGeom prst="rect">
            <a:avLst/>
          </a:prstGeom>
          <a:solidFill>
            <a:srgbClr val="DC2626">
              <a:alpha val="80000"/>
            </a:srgbClr>
          </a:solidFill>
          <a:ln/>
        </p:spPr>
      </p:sp>
      <p:sp>
        <p:nvSpPr>
          <p:cNvPr id="20" name="Shape 18"/>
          <p:cNvSpPr/>
          <p:nvPr/>
        </p:nvSpPr>
        <p:spPr>
          <a:xfrm>
            <a:off x="2852928" y="2327148"/>
            <a:ext cx="137160" cy="352044"/>
          </a:xfrm>
          <a:prstGeom prst="rect">
            <a:avLst/>
          </a:prstGeom>
          <a:solidFill>
            <a:srgbClr val="DC2626">
              <a:alpha val="80000"/>
            </a:srgbClr>
          </a:solidFill>
          <a:ln/>
        </p:spPr>
      </p:sp>
      <p:sp>
        <p:nvSpPr>
          <p:cNvPr id="21" name="Shape 19"/>
          <p:cNvSpPr/>
          <p:nvPr/>
        </p:nvSpPr>
        <p:spPr>
          <a:xfrm>
            <a:off x="3054096" y="2427732"/>
            <a:ext cx="137160" cy="251460"/>
          </a:xfrm>
          <a:prstGeom prst="rect">
            <a:avLst/>
          </a:prstGeom>
          <a:solidFill>
            <a:srgbClr val="DC2626">
              <a:alpha val="80000"/>
            </a:srgbClr>
          </a:solidFill>
          <a:ln/>
        </p:spPr>
      </p:sp>
      <p:sp>
        <p:nvSpPr>
          <p:cNvPr id="22" name="Shape 20"/>
          <p:cNvSpPr/>
          <p:nvPr/>
        </p:nvSpPr>
        <p:spPr>
          <a:xfrm>
            <a:off x="3255264" y="2226564"/>
            <a:ext cx="137160" cy="452628"/>
          </a:xfrm>
          <a:prstGeom prst="rect">
            <a:avLst/>
          </a:prstGeom>
          <a:solidFill>
            <a:srgbClr val="DC2626">
              <a:alpha val="80000"/>
            </a:srgbClr>
          </a:solidFill>
          <a:ln/>
        </p:spPr>
      </p:sp>
      <p:sp>
        <p:nvSpPr>
          <p:cNvPr id="23" name="Shape 21"/>
          <p:cNvSpPr/>
          <p:nvPr/>
        </p:nvSpPr>
        <p:spPr>
          <a:xfrm>
            <a:off x="3456432" y="2377440"/>
            <a:ext cx="137160" cy="301752"/>
          </a:xfrm>
          <a:prstGeom prst="rect">
            <a:avLst/>
          </a:prstGeom>
          <a:solidFill>
            <a:srgbClr val="DC2626">
              <a:alpha val="80000"/>
            </a:srgbClr>
          </a:solidFill>
          <a:ln/>
        </p:spPr>
      </p:sp>
      <p:sp>
        <p:nvSpPr>
          <p:cNvPr id="24" name="Shape 22"/>
          <p:cNvSpPr/>
          <p:nvPr/>
        </p:nvSpPr>
        <p:spPr>
          <a:xfrm>
            <a:off x="3657600" y="2276856"/>
            <a:ext cx="137160" cy="402336"/>
          </a:xfrm>
          <a:prstGeom prst="rect">
            <a:avLst/>
          </a:prstGeom>
          <a:solidFill>
            <a:srgbClr val="DC2626">
              <a:alpha val="80000"/>
            </a:srgbClr>
          </a:solidFill>
          <a:ln/>
        </p:spPr>
      </p:sp>
      <p:sp>
        <p:nvSpPr>
          <p:cNvPr id="25" name="Shape 23"/>
          <p:cNvSpPr/>
          <p:nvPr/>
        </p:nvSpPr>
        <p:spPr>
          <a:xfrm>
            <a:off x="3858768" y="2427732"/>
            <a:ext cx="137160" cy="251460"/>
          </a:xfrm>
          <a:prstGeom prst="rect">
            <a:avLst/>
          </a:prstGeom>
          <a:solidFill>
            <a:srgbClr val="DC2626">
              <a:alpha val="80000"/>
            </a:srgbClr>
          </a:solidFill>
          <a:ln/>
        </p:spPr>
      </p:sp>
      <p:sp>
        <p:nvSpPr>
          <p:cNvPr id="26" name="Shape 24"/>
          <p:cNvSpPr/>
          <p:nvPr/>
        </p:nvSpPr>
        <p:spPr>
          <a:xfrm>
            <a:off x="4059936" y="2327148"/>
            <a:ext cx="137160" cy="352044"/>
          </a:xfrm>
          <a:prstGeom prst="rect">
            <a:avLst/>
          </a:prstGeom>
          <a:solidFill>
            <a:srgbClr val="DC2626">
              <a:alpha val="80000"/>
            </a:srgbClr>
          </a:solidFill>
          <a:ln/>
        </p:spPr>
      </p:sp>
      <p:sp>
        <p:nvSpPr>
          <p:cNvPr id="27" name="Text 25"/>
          <p:cNvSpPr/>
          <p:nvPr/>
        </p:nvSpPr>
        <p:spPr>
          <a:xfrm>
            <a:off x="2615184" y="153619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ALB 5XX Error Rate</a:t>
            </a:r>
            <a:endParaRPr lang="en-US" sz="900" dirty="0"/>
          </a:p>
        </p:txBody>
      </p:sp>
      <p:sp>
        <p:nvSpPr>
          <p:cNvPr id="28" name="Text 26"/>
          <p:cNvSpPr/>
          <p:nvPr/>
        </p:nvSpPr>
        <p:spPr>
          <a:xfrm>
            <a:off x="2615184" y="183794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HTTPCode_ELB_5XX_Count</a:t>
            </a:r>
            <a:endParaRPr lang="en-US" sz="750" dirty="0"/>
          </a:p>
        </p:txBody>
      </p:sp>
      <p:sp>
        <p:nvSpPr>
          <p:cNvPr id="29" name="Shape 27"/>
          <p:cNvSpPr/>
          <p:nvPr/>
        </p:nvSpPr>
        <p:spPr>
          <a:xfrm>
            <a:off x="4626864" y="1444752"/>
            <a:ext cx="1920240" cy="1463040"/>
          </a:xfrm>
          <a:prstGeom prst="roundRect">
            <a:avLst>
              <a:gd name="adj" fmla="val 4375"/>
            </a:avLst>
          </a:prstGeom>
          <a:solidFill>
            <a:srgbClr val="1E293B"/>
          </a:solidFill>
          <a:ln w="12700">
            <a:solidFill>
              <a:srgbClr val="065F46"/>
            </a:solidFill>
            <a:prstDash val="solid"/>
          </a:ln>
        </p:spPr>
      </p:sp>
      <p:sp>
        <p:nvSpPr>
          <p:cNvPr id="30" name="Shape 28"/>
          <p:cNvSpPr/>
          <p:nvPr/>
        </p:nvSpPr>
        <p:spPr>
          <a:xfrm>
            <a:off x="4736592" y="2478024"/>
            <a:ext cx="137160" cy="201168"/>
          </a:xfrm>
          <a:prstGeom prst="rect">
            <a:avLst/>
          </a:prstGeom>
          <a:solidFill>
            <a:srgbClr val="065F46">
              <a:alpha val="80000"/>
            </a:srgbClr>
          </a:solidFill>
          <a:ln/>
        </p:spPr>
      </p:sp>
      <p:sp>
        <p:nvSpPr>
          <p:cNvPr id="31" name="Shape 29"/>
          <p:cNvSpPr/>
          <p:nvPr/>
        </p:nvSpPr>
        <p:spPr>
          <a:xfrm>
            <a:off x="4937760" y="2327148"/>
            <a:ext cx="137160" cy="352044"/>
          </a:xfrm>
          <a:prstGeom prst="rect">
            <a:avLst/>
          </a:prstGeom>
          <a:solidFill>
            <a:srgbClr val="065F46">
              <a:alpha val="80000"/>
            </a:srgbClr>
          </a:solidFill>
          <a:ln/>
        </p:spPr>
      </p:sp>
      <p:sp>
        <p:nvSpPr>
          <p:cNvPr id="32" name="Shape 30"/>
          <p:cNvSpPr/>
          <p:nvPr/>
        </p:nvSpPr>
        <p:spPr>
          <a:xfrm>
            <a:off x="5138928" y="2427732"/>
            <a:ext cx="137160" cy="251460"/>
          </a:xfrm>
          <a:prstGeom prst="rect">
            <a:avLst/>
          </a:prstGeom>
          <a:solidFill>
            <a:srgbClr val="065F46">
              <a:alpha val="80000"/>
            </a:srgbClr>
          </a:solidFill>
          <a:ln/>
        </p:spPr>
      </p:sp>
      <p:sp>
        <p:nvSpPr>
          <p:cNvPr id="33" name="Shape 31"/>
          <p:cNvSpPr/>
          <p:nvPr/>
        </p:nvSpPr>
        <p:spPr>
          <a:xfrm>
            <a:off x="5340096" y="2226564"/>
            <a:ext cx="137160" cy="452628"/>
          </a:xfrm>
          <a:prstGeom prst="rect">
            <a:avLst/>
          </a:prstGeom>
          <a:solidFill>
            <a:srgbClr val="065F46">
              <a:alpha val="80000"/>
            </a:srgbClr>
          </a:solidFill>
          <a:ln/>
        </p:spPr>
      </p:sp>
      <p:sp>
        <p:nvSpPr>
          <p:cNvPr id="34" name="Shape 32"/>
          <p:cNvSpPr/>
          <p:nvPr/>
        </p:nvSpPr>
        <p:spPr>
          <a:xfrm>
            <a:off x="5541264" y="2377440"/>
            <a:ext cx="137160" cy="301752"/>
          </a:xfrm>
          <a:prstGeom prst="rect">
            <a:avLst/>
          </a:prstGeom>
          <a:solidFill>
            <a:srgbClr val="065F46">
              <a:alpha val="80000"/>
            </a:srgbClr>
          </a:solidFill>
          <a:ln/>
        </p:spPr>
      </p:sp>
      <p:sp>
        <p:nvSpPr>
          <p:cNvPr id="35" name="Shape 33"/>
          <p:cNvSpPr/>
          <p:nvPr/>
        </p:nvSpPr>
        <p:spPr>
          <a:xfrm>
            <a:off x="5742432" y="2276856"/>
            <a:ext cx="137160" cy="402336"/>
          </a:xfrm>
          <a:prstGeom prst="rect">
            <a:avLst/>
          </a:prstGeom>
          <a:solidFill>
            <a:srgbClr val="065F46">
              <a:alpha val="80000"/>
            </a:srgbClr>
          </a:solidFill>
          <a:ln/>
        </p:spPr>
      </p:sp>
      <p:sp>
        <p:nvSpPr>
          <p:cNvPr id="36" name="Shape 34"/>
          <p:cNvSpPr/>
          <p:nvPr/>
        </p:nvSpPr>
        <p:spPr>
          <a:xfrm>
            <a:off x="5943600" y="2427732"/>
            <a:ext cx="137160" cy="251460"/>
          </a:xfrm>
          <a:prstGeom prst="rect">
            <a:avLst/>
          </a:prstGeom>
          <a:solidFill>
            <a:srgbClr val="065F46">
              <a:alpha val="80000"/>
            </a:srgbClr>
          </a:solidFill>
          <a:ln/>
        </p:spPr>
      </p:sp>
      <p:sp>
        <p:nvSpPr>
          <p:cNvPr id="37" name="Shape 35"/>
          <p:cNvSpPr/>
          <p:nvPr/>
        </p:nvSpPr>
        <p:spPr>
          <a:xfrm>
            <a:off x="6144768" y="2327148"/>
            <a:ext cx="137160" cy="352044"/>
          </a:xfrm>
          <a:prstGeom prst="rect">
            <a:avLst/>
          </a:prstGeom>
          <a:solidFill>
            <a:srgbClr val="065F46">
              <a:alpha val="80000"/>
            </a:srgbClr>
          </a:solidFill>
          <a:ln/>
        </p:spPr>
      </p:sp>
      <p:sp>
        <p:nvSpPr>
          <p:cNvPr id="38" name="Text 36"/>
          <p:cNvSpPr/>
          <p:nvPr/>
        </p:nvSpPr>
        <p:spPr>
          <a:xfrm>
            <a:off x="4700016" y="153619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ASG Instance Count</a:t>
            </a:r>
            <a:endParaRPr lang="en-US" sz="900" dirty="0"/>
          </a:p>
        </p:txBody>
      </p:sp>
      <p:sp>
        <p:nvSpPr>
          <p:cNvPr id="39" name="Text 37"/>
          <p:cNvSpPr/>
          <p:nvPr/>
        </p:nvSpPr>
        <p:spPr>
          <a:xfrm>
            <a:off x="4700016" y="183794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GroupInServiceInstances</a:t>
            </a:r>
            <a:endParaRPr lang="en-US" sz="750" dirty="0"/>
          </a:p>
        </p:txBody>
      </p:sp>
      <p:sp>
        <p:nvSpPr>
          <p:cNvPr id="40" name="Shape 38"/>
          <p:cNvSpPr/>
          <p:nvPr/>
        </p:nvSpPr>
        <p:spPr>
          <a:xfrm>
            <a:off x="6711696" y="1444752"/>
            <a:ext cx="1920240" cy="1463040"/>
          </a:xfrm>
          <a:prstGeom prst="roundRect">
            <a:avLst>
              <a:gd name="adj" fmla="val 4375"/>
            </a:avLst>
          </a:prstGeom>
          <a:solidFill>
            <a:srgbClr val="1E293B"/>
          </a:solidFill>
          <a:ln w="12700">
            <a:solidFill>
              <a:srgbClr val="7C2D12"/>
            </a:solidFill>
            <a:prstDash val="solid"/>
          </a:ln>
        </p:spPr>
      </p:sp>
      <p:sp>
        <p:nvSpPr>
          <p:cNvPr id="41" name="Shape 39"/>
          <p:cNvSpPr/>
          <p:nvPr/>
        </p:nvSpPr>
        <p:spPr>
          <a:xfrm>
            <a:off x="6821424" y="2478024"/>
            <a:ext cx="137160" cy="201168"/>
          </a:xfrm>
          <a:prstGeom prst="rect">
            <a:avLst/>
          </a:prstGeom>
          <a:solidFill>
            <a:srgbClr val="7C2D12">
              <a:alpha val="80000"/>
            </a:srgbClr>
          </a:solidFill>
          <a:ln/>
        </p:spPr>
      </p:sp>
      <p:sp>
        <p:nvSpPr>
          <p:cNvPr id="42" name="Shape 40"/>
          <p:cNvSpPr/>
          <p:nvPr/>
        </p:nvSpPr>
        <p:spPr>
          <a:xfrm>
            <a:off x="7022592" y="2327148"/>
            <a:ext cx="137160" cy="352044"/>
          </a:xfrm>
          <a:prstGeom prst="rect">
            <a:avLst/>
          </a:prstGeom>
          <a:solidFill>
            <a:srgbClr val="7C2D12">
              <a:alpha val="80000"/>
            </a:srgbClr>
          </a:solidFill>
          <a:ln/>
        </p:spPr>
      </p:sp>
      <p:sp>
        <p:nvSpPr>
          <p:cNvPr id="43" name="Shape 41"/>
          <p:cNvSpPr/>
          <p:nvPr/>
        </p:nvSpPr>
        <p:spPr>
          <a:xfrm>
            <a:off x="7223760" y="2427732"/>
            <a:ext cx="137160" cy="251460"/>
          </a:xfrm>
          <a:prstGeom prst="rect">
            <a:avLst/>
          </a:prstGeom>
          <a:solidFill>
            <a:srgbClr val="7C2D12">
              <a:alpha val="80000"/>
            </a:srgbClr>
          </a:solidFill>
          <a:ln/>
        </p:spPr>
      </p:sp>
      <p:sp>
        <p:nvSpPr>
          <p:cNvPr id="44" name="Shape 42"/>
          <p:cNvSpPr/>
          <p:nvPr/>
        </p:nvSpPr>
        <p:spPr>
          <a:xfrm>
            <a:off x="7424928" y="2226564"/>
            <a:ext cx="137160" cy="452628"/>
          </a:xfrm>
          <a:prstGeom prst="rect">
            <a:avLst/>
          </a:prstGeom>
          <a:solidFill>
            <a:srgbClr val="7C2D12">
              <a:alpha val="80000"/>
            </a:srgbClr>
          </a:solidFill>
          <a:ln/>
        </p:spPr>
      </p:sp>
      <p:sp>
        <p:nvSpPr>
          <p:cNvPr id="45" name="Shape 43"/>
          <p:cNvSpPr/>
          <p:nvPr/>
        </p:nvSpPr>
        <p:spPr>
          <a:xfrm>
            <a:off x="7626096" y="2377440"/>
            <a:ext cx="137160" cy="301752"/>
          </a:xfrm>
          <a:prstGeom prst="rect">
            <a:avLst/>
          </a:prstGeom>
          <a:solidFill>
            <a:srgbClr val="7C2D12">
              <a:alpha val="80000"/>
            </a:srgbClr>
          </a:solidFill>
          <a:ln/>
        </p:spPr>
      </p:sp>
      <p:sp>
        <p:nvSpPr>
          <p:cNvPr id="46" name="Shape 44"/>
          <p:cNvSpPr/>
          <p:nvPr/>
        </p:nvSpPr>
        <p:spPr>
          <a:xfrm>
            <a:off x="7827264" y="2276856"/>
            <a:ext cx="137160" cy="402336"/>
          </a:xfrm>
          <a:prstGeom prst="rect">
            <a:avLst/>
          </a:prstGeom>
          <a:solidFill>
            <a:srgbClr val="7C2D12">
              <a:alpha val="80000"/>
            </a:srgbClr>
          </a:solidFill>
          <a:ln/>
        </p:spPr>
      </p:sp>
      <p:sp>
        <p:nvSpPr>
          <p:cNvPr id="47" name="Shape 45"/>
          <p:cNvSpPr/>
          <p:nvPr/>
        </p:nvSpPr>
        <p:spPr>
          <a:xfrm>
            <a:off x="8028432" y="2427732"/>
            <a:ext cx="137160" cy="251460"/>
          </a:xfrm>
          <a:prstGeom prst="rect">
            <a:avLst/>
          </a:prstGeom>
          <a:solidFill>
            <a:srgbClr val="7C2D12">
              <a:alpha val="80000"/>
            </a:srgbClr>
          </a:solidFill>
          <a:ln/>
        </p:spPr>
      </p:sp>
      <p:sp>
        <p:nvSpPr>
          <p:cNvPr id="48" name="Shape 46"/>
          <p:cNvSpPr/>
          <p:nvPr/>
        </p:nvSpPr>
        <p:spPr>
          <a:xfrm>
            <a:off x="8229600" y="2327148"/>
            <a:ext cx="137160" cy="352044"/>
          </a:xfrm>
          <a:prstGeom prst="rect">
            <a:avLst/>
          </a:prstGeom>
          <a:solidFill>
            <a:srgbClr val="7C2D12">
              <a:alpha val="80000"/>
            </a:srgbClr>
          </a:solidFill>
          <a:ln/>
        </p:spPr>
      </p:sp>
      <p:sp>
        <p:nvSpPr>
          <p:cNvPr id="49" name="Text 47"/>
          <p:cNvSpPr/>
          <p:nvPr/>
        </p:nvSpPr>
        <p:spPr>
          <a:xfrm>
            <a:off x="6784848" y="153619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EC2 CPU Utilization</a:t>
            </a:r>
            <a:endParaRPr lang="en-US" sz="900" dirty="0"/>
          </a:p>
        </p:txBody>
      </p:sp>
      <p:sp>
        <p:nvSpPr>
          <p:cNvPr id="50" name="Text 48"/>
          <p:cNvSpPr/>
          <p:nvPr/>
        </p:nvSpPr>
        <p:spPr>
          <a:xfrm>
            <a:off x="6784848" y="183794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CPUUtilization (%)</a:t>
            </a:r>
            <a:endParaRPr lang="en-US" sz="750" dirty="0"/>
          </a:p>
        </p:txBody>
      </p:sp>
      <p:sp>
        <p:nvSpPr>
          <p:cNvPr id="51" name="Shape 49"/>
          <p:cNvSpPr/>
          <p:nvPr/>
        </p:nvSpPr>
        <p:spPr>
          <a:xfrm>
            <a:off x="457200" y="3090672"/>
            <a:ext cx="1920240" cy="1463040"/>
          </a:xfrm>
          <a:prstGeom prst="roundRect">
            <a:avLst>
              <a:gd name="adj" fmla="val 4375"/>
            </a:avLst>
          </a:prstGeom>
          <a:solidFill>
            <a:srgbClr val="1E293B"/>
          </a:solidFill>
          <a:ln w="12700">
            <a:solidFill>
              <a:srgbClr val="0D2149"/>
            </a:solidFill>
            <a:prstDash val="solid"/>
          </a:ln>
        </p:spPr>
      </p:sp>
      <p:sp>
        <p:nvSpPr>
          <p:cNvPr id="52" name="Shape 50"/>
          <p:cNvSpPr/>
          <p:nvPr/>
        </p:nvSpPr>
        <p:spPr>
          <a:xfrm>
            <a:off x="566928" y="4123944"/>
            <a:ext cx="137160" cy="201168"/>
          </a:xfrm>
          <a:prstGeom prst="rect">
            <a:avLst/>
          </a:prstGeom>
          <a:solidFill>
            <a:srgbClr val="0D2149">
              <a:alpha val="80000"/>
            </a:srgbClr>
          </a:solidFill>
          <a:ln/>
        </p:spPr>
      </p:sp>
      <p:sp>
        <p:nvSpPr>
          <p:cNvPr id="53" name="Shape 51"/>
          <p:cNvSpPr/>
          <p:nvPr/>
        </p:nvSpPr>
        <p:spPr>
          <a:xfrm>
            <a:off x="768096" y="3973068"/>
            <a:ext cx="137160" cy="352044"/>
          </a:xfrm>
          <a:prstGeom prst="rect">
            <a:avLst/>
          </a:prstGeom>
          <a:solidFill>
            <a:srgbClr val="0D2149">
              <a:alpha val="80000"/>
            </a:srgbClr>
          </a:solidFill>
          <a:ln/>
        </p:spPr>
      </p:sp>
      <p:sp>
        <p:nvSpPr>
          <p:cNvPr id="54" name="Shape 52"/>
          <p:cNvSpPr/>
          <p:nvPr/>
        </p:nvSpPr>
        <p:spPr>
          <a:xfrm>
            <a:off x="969264" y="4073652"/>
            <a:ext cx="137160" cy="251460"/>
          </a:xfrm>
          <a:prstGeom prst="rect">
            <a:avLst/>
          </a:prstGeom>
          <a:solidFill>
            <a:srgbClr val="0D2149">
              <a:alpha val="80000"/>
            </a:srgbClr>
          </a:solidFill>
          <a:ln/>
        </p:spPr>
      </p:sp>
      <p:sp>
        <p:nvSpPr>
          <p:cNvPr id="55" name="Shape 53"/>
          <p:cNvSpPr/>
          <p:nvPr/>
        </p:nvSpPr>
        <p:spPr>
          <a:xfrm>
            <a:off x="1170432" y="3872484"/>
            <a:ext cx="137160" cy="452628"/>
          </a:xfrm>
          <a:prstGeom prst="rect">
            <a:avLst/>
          </a:prstGeom>
          <a:solidFill>
            <a:srgbClr val="0D2149">
              <a:alpha val="80000"/>
            </a:srgbClr>
          </a:solidFill>
          <a:ln/>
        </p:spPr>
      </p:sp>
      <p:sp>
        <p:nvSpPr>
          <p:cNvPr id="56" name="Shape 54"/>
          <p:cNvSpPr/>
          <p:nvPr/>
        </p:nvSpPr>
        <p:spPr>
          <a:xfrm>
            <a:off x="1371600" y="4023360"/>
            <a:ext cx="137160" cy="301752"/>
          </a:xfrm>
          <a:prstGeom prst="rect">
            <a:avLst/>
          </a:prstGeom>
          <a:solidFill>
            <a:srgbClr val="0D2149">
              <a:alpha val="80000"/>
            </a:srgbClr>
          </a:solidFill>
          <a:ln/>
        </p:spPr>
      </p:sp>
      <p:sp>
        <p:nvSpPr>
          <p:cNvPr id="57" name="Shape 55"/>
          <p:cNvSpPr/>
          <p:nvPr/>
        </p:nvSpPr>
        <p:spPr>
          <a:xfrm>
            <a:off x="1572768" y="3922776"/>
            <a:ext cx="137160" cy="402336"/>
          </a:xfrm>
          <a:prstGeom prst="rect">
            <a:avLst/>
          </a:prstGeom>
          <a:solidFill>
            <a:srgbClr val="0D2149">
              <a:alpha val="80000"/>
            </a:srgbClr>
          </a:solidFill>
          <a:ln/>
        </p:spPr>
      </p:sp>
      <p:sp>
        <p:nvSpPr>
          <p:cNvPr id="58" name="Shape 56"/>
          <p:cNvSpPr/>
          <p:nvPr/>
        </p:nvSpPr>
        <p:spPr>
          <a:xfrm>
            <a:off x="1773936" y="4073652"/>
            <a:ext cx="137160" cy="251460"/>
          </a:xfrm>
          <a:prstGeom prst="rect">
            <a:avLst/>
          </a:prstGeom>
          <a:solidFill>
            <a:srgbClr val="0D2149">
              <a:alpha val="80000"/>
            </a:srgbClr>
          </a:solidFill>
          <a:ln/>
        </p:spPr>
      </p:sp>
      <p:sp>
        <p:nvSpPr>
          <p:cNvPr id="59" name="Shape 57"/>
          <p:cNvSpPr/>
          <p:nvPr/>
        </p:nvSpPr>
        <p:spPr>
          <a:xfrm>
            <a:off x="1975104" y="3973068"/>
            <a:ext cx="137160" cy="352044"/>
          </a:xfrm>
          <a:prstGeom prst="rect">
            <a:avLst/>
          </a:prstGeom>
          <a:solidFill>
            <a:srgbClr val="0D2149">
              <a:alpha val="80000"/>
            </a:srgbClr>
          </a:solidFill>
          <a:ln/>
        </p:spPr>
      </p:sp>
      <p:sp>
        <p:nvSpPr>
          <p:cNvPr id="60" name="Text 58"/>
          <p:cNvSpPr/>
          <p:nvPr/>
        </p:nvSpPr>
        <p:spPr>
          <a:xfrm>
            <a:off x="530352" y="318211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RDS CPU &amp; Connections</a:t>
            </a:r>
            <a:endParaRPr lang="en-US" sz="900" dirty="0"/>
          </a:p>
        </p:txBody>
      </p:sp>
      <p:sp>
        <p:nvSpPr>
          <p:cNvPr id="61" name="Text 59"/>
          <p:cNvSpPr/>
          <p:nvPr/>
        </p:nvSpPr>
        <p:spPr>
          <a:xfrm>
            <a:off x="530352" y="348386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DatabaseConnections</a:t>
            </a:r>
            <a:endParaRPr lang="en-US" sz="750" dirty="0"/>
          </a:p>
        </p:txBody>
      </p:sp>
      <p:sp>
        <p:nvSpPr>
          <p:cNvPr id="62" name="Shape 60"/>
          <p:cNvSpPr/>
          <p:nvPr/>
        </p:nvSpPr>
        <p:spPr>
          <a:xfrm>
            <a:off x="2542032" y="3090672"/>
            <a:ext cx="1920240" cy="1463040"/>
          </a:xfrm>
          <a:prstGeom prst="roundRect">
            <a:avLst>
              <a:gd name="adj" fmla="val 4375"/>
            </a:avLst>
          </a:prstGeom>
          <a:solidFill>
            <a:srgbClr val="1E293B"/>
          </a:solidFill>
          <a:ln w="12700">
            <a:solidFill>
              <a:srgbClr val="7C3AED"/>
            </a:solidFill>
            <a:prstDash val="solid"/>
          </a:ln>
        </p:spPr>
      </p:sp>
      <p:sp>
        <p:nvSpPr>
          <p:cNvPr id="63" name="Shape 61"/>
          <p:cNvSpPr/>
          <p:nvPr/>
        </p:nvSpPr>
        <p:spPr>
          <a:xfrm>
            <a:off x="2651760" y="4123944"/>
            <a:ext cx="137160" cy="201168"/>
          </a:xfrm>
          <a:prstGeom prst="rect">
            <a:avLst/>
          </a:prstGeom>
          <a:solidFill>
            <a:srgbClr val="7C3AED">
              <a:alpha val="80000"/>
            </a:srgbClr>
          </a:solidFill>
          <a:ln/>
        </p:spPr>
      </p:sp>
      <p:sp>
        <p:nvSpPr>
          <p:cNvPr id="64" name="Shape 62"/>
          <p:cNvSpPr/>
          <p:nvPr/>
        </p:nvSpPr>
        <p:spPr>
          <a:xfrm>
            <a:off x="2852928" y="3973068"/>
            <a:ext cx="137160" cy="352044"/>
          </a:xfrm>
          <a:prstGeom prst="rect">
            <a:avLst/>
          </a:prstGeom>
          <a:solidFill>
            <a:srgbClr val="7C3AED">
              <a:alpha val="80000"/>
            </a:srgbClr>
          </a:solidFill>
          <a:ln/>
        </p:spPr>
      </p:sp>
      <p:sp>
        <p:nvSpPr>
          <p:cNvPr id="65" name="Shape 63"/>
          <p:cNvSpPr/>
          <p:nvPr/>
        </p:nvSpPr>
        <p:spPr>
          <a:xfrm>
            <a:off x="3054096" y="4073652"/>
            <a:ext cx="137160" cy="251460"/>
          </a:xfrm>
          <a:prstGeom prst="rect">
            <a:avLst/>
          </a:prstGeom>
          <a:solidFill>
            <a:srgbClr val="7C3AED">
              <a:alpha val="80000"/>
            </a:srgbClr>
          </a:solidFill>
          <a:ln/>
        </p:spPr>
      </p:sp>
      <p:sp>
        <p:nvSpPr>
          <p:cNvPr id="66" name="Shape 64"/>
          <p:cNvSpPr/>
          <p:nvPr/>
        </p:nvSpPr>
        <p:spPr>
          <a:xfrm>
            <a:off x="3255264" y="3872484"/>
            <a:ext cx="137160" cy="452628"/>
          </a:xfrm>
          <a:prstGeom prst="rect">
            <a:avLst/>
          </a:prstGeom>
          <a:solidFill>
            <a:srgbClr val="7C3AED">
              <a:alpha val="80000"/>
            </a:srgbClr>
          </a:solidFill>
          <a:ln/>
        </p:spPr>
      </p:sp>
      <p:sp>
        <p:nvSpPr>
          <p:cNvPr id="67" name="Shape 65"/>
          <p:cNvSpPr/>
          <p:nvPr/>
        </p:nvSpPr>
        <p:spPr>
          <a:xfrm>
            <a:off x="3456432" y="4023360"/>
            <a:ext cx="137160" cy="301752"/>
          </a:xfrm>
          <a:prstGeom prst="rect">
            <a:avLst/>
          </a:prstGeom>
          <a:solidFill>
            <a:srgbClr val="7C3AED">
              <a:alpha val="80000"/>
            </a:srgbClr>
          </a:solidFill>
          <a:ln/>
        </p:spPr>
      </p:sp>
      <p:sp>
        <p:nvSpPr>
          <p:cNvPr id="68" name="Shape 66"/>
          <p:cNvSpPr/>
          <p:nvPr/>
        </p:nvSpPr>
        <p:spPr>
          <a:xfrm>
            <a:off x="3657600" y="3922776"/>
            <a:ext cx="137160" cy="402336"/>
          </a:xfrm>
          <a:prstGeom prst="rect">
            <a:avLst/>
          </a:prstGeom>
          <a:solidFill>
            <a:srgbClr val="7C3AED">
              <a:alpha val="80000"/>
            </a:srgbClr>
          </a:solidFill>
          <a:ln/>
        </p:spPr>
      </p:sp>
      <p:sp>
        <p:nvSpPr>
          <p:cNvPr id="69" name="Shape 67"/>
          <p:cNvSpPr/>
          <p:nvPr/>
        </p:nvSpPr>
        <p:spPr>
          <a:xfrm>
            <a:off x="3858768" y="4073652"/>
            <a:ext cx="137160" cy="251460"/>
          </a:xfrm>
          <a:prstGeom prst="rect">
            <a:avLst/>
          </a:prstGeom>
          <a:solidFill>
            <a:srgbClr val="7C3AED">
              <a:alpha val="80000"/>
            </a:srgbClr>
          </a:solidFill>
          <a:ln/>
        </p:spPr>
      </p:sp>
      <p:sp>
        <p:nvSpPr>
          <p:cNvPr id="70" name="Shape 68"/>
          <p:cNvSpPr/>
          <p:nvPr/>
        </p:nvSpPr>
        <p:spPr>
          <a:xfrm>
            <a:off x="4059936" y="3973068"/>
            <a:ext cx="137160" cy="352044"/>
          </a:xfrm>
          <a:prstGeom prst="rect">
            <a:avLst/>
          </a:prstGeom>
          <a:solidFill>
            <a:srgbClr val="7C3AED">
              <a:alpha val="80000"/>
            </a:srgbClr>
          </a:solidFill>
          <a:ln/>
        </p:spPr>
      </p:sp>
      <p:sp>
        <p:nvSpPr>
          <p:cNvPr id="71" name="Text 69"/>
          <p:cNvSpPr/>
          <p:nvPr/>
        </p:nvSpPr>
        <p:spPr>
          <a:xfrm>
            <a:off x="2615184" y="318211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Lambda Invocations</a:t>
            </a:r>
            <a:endParaRPr lang="en-US" sz="900" dirty="0"/>
          </a:p>
        </p:txBody>
      </p:sp>
      <p:sp>
        <p:nvSpPr>
          <p:cNvPr id="72" name="Text 70"/>
          <p:cNvSpPr/>
          <p:nvPr/>
        </p:nvSpPr>
        <p:spPr>
          <a:xfrm>
            <a:off x="2615184" y="348386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Invocations + Errors</a:t>
            </a:r>
            <a:endParaRPr lang="en-US" sz="750" dirty="0"/>
          </a:p>
        </p:txBody>
      </p:sp>
      <p:sp>
        <p:nvSpPr>
          <p:cNvPr id="73" name="Shape 71"/>
          <p:cNvSpPr/>
          <p:nvPr/>
        </p:nvSpPr>
        <p:spPr>
          <a:xfrm>
            <a:off x="4626864" y="3090672"/>
            <a:ext cx="1920240" cy="1463040"/>
          </a:xfrm>
          <a:prstGeom prst="roundRect">
            <a:avLst>
              <a:gd name="adj" fmla="val 4375"/>
            </a:avLst>
          </a:prstGeom>
          <a:solidFill>
            <a:srgbClr val="1E293B"/>
          </a:solidFill>
          <a:ln w="12700">
            <a:solidFill>
              <a:srgbClr val="0891B2"/>
            </a:solidFill>
            <a:prstDash val="solid"/>
          </a:ln>
        </p:spPr>
      </p:sp>
      <p:sp>
        <p:nvSpPr>
          <p:cNvPr id="74" name="Shape 72"/>
          <p:cNvSpPr/>
          <p:nvPr/>
        </p:nvSpPr>
        <p:spPr>
          <a:xfrm>
            <a:off x="4736592" y="4123944"/>
            <a:ext cx="137160" cy="201168"/>
          </a:xfrm>
          <a:prstGeom prst="rect">
            <a:avLst/>
          </a:prstGeom>
          <a:solidFill>
            <a:srgbClr val="0891B2">
              <a:alpha val="80000"/>
            </a:srgbClr>
          </a:solidFill>
          <a:ln/>
        </p:spPr>
      </p:sp>
      <p:sp>
        <p:nvSpPr>
          <p:cNvPr id="75" name="Shape 73"/>
          <p:cNvSpPr/>
          <p:nvPr/>
        </p:nvSpPr>
        <p:spPr>
          <a:xfrm>
            <a:off x="4937760" y="3973068"/>
            <a:ext cx="137160" cy="352044"/>
          </a:xfrm>
          <a:prstGeom prst="rect">
            <a:avLst/>
          </a:prstGeom>
          <a:solidFill>
            <a:srgbClr val="0891B2">
              <a:alpha val="80000"/>
            </a:srgbClr>
          </a:solidFill>
          <a:ln/>
        </p:spPr>
      </p:sp>
      <p:sp>
        <p:nvSpPr>
          <p:cNvPr id="76" name="Shape 74"/>
          <p:cNvSpPr/>
          <p:nvPr/>
        </p:nvSpPr>
        <p:spPr>
          <a:xfrm>
            <a:off x="5138928" y="4073652"/>
            <a:ext cx="137160" cy="251460"/>
          </a:xfrm>
          <a:prstGeom prst="rect">
            <a:avLst/>
          </a:prstGeom>
          <a:solidFill>
            <a:srgbClr val="0891B2">
              <a:alpha val="80000"/>
            </a:srgbClr>
          </a:solidFill>
          <a:ln/>
        </p:spPr>
      </p:sp>
      <p:sp>
        <p:nvSpPr>
          <p:cNvPr id="77" name="Shape 75"/>
          <p:cNvSpPr/>
          <p:nvPr/>
        </p:nvSpPr>
        <p:spPr>
          <a:xfrm>
            <a:off x="5340096" y="3872484"/>
            <a:ext cx="137160" cy="452628"/>
          </a:xfrm>
          <a:prstGeom prst="rect">
            <a:avLst/>
          </a:prstGeom>
          <a:solidFill>
            <a:srgbClr val="0891B2">
              <a:alpha val="80000"/>
            </a:srgbClr>
          </a:solidFill>
          <a:ln/>
        </p:spPr>
      </p:sp>
      <p:sp>
        <p:nvSpPr>
          <p:cNvPr id="78" name="Shape 76"/>
          <p:cNvSpPr/>
          <p:nvPr/>
        </p:nvSpPr>
        <p:spPr>
          <a:xfrm>
            <a:off x="5541264" y="4023360"/>
            <a:ext cx="137160" cy="301752"/>
          </a:xfrm>
          <a:prstGeom prst="rect">
            <a:avLst/>
          </a:prstGeom>
          <a:solidFill>
            <a:srgbClr val="0891B2">
              <a:alpha val="80000"/>
            </a:srgbClr>
          </a:solidFill>
          <a:ln/>
        </p:spPr>
      </p:sp>
      <p:sp>
        <p:nvSpPr>
          <p:cNvPr id="79" name="Shape 77"/>
          <p:cNvSpPr/>
          <p:nvPr/>
        </p:nvSpPr>
        <p:spPr>
          <a:xfrm>
            <a:off x="5742432" y="3922776"/>
            <a:ext cx="137160" cy="402336"/>
          </a:xfrm>
          <a:prstGeom prst="rect">
            <a:avLst/>
          </a:prstGeom>
          <a:solidFill>
            <a:srgbClr val="0891B2">
              <a:alpha val="80000"/>
            </a:srgbClr>
          </a:solidFill>
          <a:ln/>
        </p:spPr>
      </p:sp>
      <p:sp>
        <p:nvSpPr>
          <p:cNvPr id="80" name="Shape 78"/>
          <p:cNvSpPr/>
          <p:nvPr/>
        </p:nvSpPr>
        <p:spPr>
          <a:xfrm>
            <a:off x="5943600" y="4073652"/>
            <a:ext cx="137160" cy="251460"/>
          </a:xfrm>
          <a:prstGeom prst="rect">
            <a:avLst/>
          </a:prstGeom>
          <a:solidFill>
            <a:srgbClr val="0891B2">
              <a:alpha val="80000"/>
            </a:srgbClr>
          </a:solidFill>
          <a:ln/>
        </p:spPr>
      </p:sp>
      <p:sp>
        <p:nvSpPr>
          <p:cNvPr id="81" name="Shape 79"/>
          <p:cNvSpPr/>
          <p:nvPr/>
        </p:nvSpPr>
        <p:spPr>
          <a:xfrm>
            <a:off x="6144768" y="3973068"/>
            <a:ext cx="137160" cy="352044"/>
          </a:xfrm>
          <a:prstGeom prst="rect">
            <a:avLst/>
          </a:prstGeom>
          <a:solidFill>
            <a:srgbClr val="0891B2">
              <a:alpha val="80000"/>
            </a:srgbClr>
          </a:solidFill>
          <a:ln/>
        </p:spPr>
      </p:sp>
      <p:sp>
        <p:nvSpPr>
          <p:cNvPr id="82" name="Text 80"/>
          <p:cNvSpPr/>
          <p:nvPr/>
        </p:nvSpPr>
        <p:spPr>
          <a:xfrm>
            <a:off x="4700016" y="318211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SQS Queue Depth</a:t>
            </a:r>
            <a:endParaRPr lang="en-US" sz="900" dirty="0"/>
          </a:p>
        </p:txBody>
      </p:sp>
      <p:sp>
        <p:nvSpPr>
          <p:cNvPr id="83" name="Text 81"/>
          <p:cNvSpPr/>
          <p:nvPr/>
        </p:nvSpPr>
        <p:spPr>
          <a:xfrm>
            <a:off x="4700016" y="348386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ApproximateNumberOfMessages</a:t>
            </a:r>
            <a:endParaRPr lang="en-US" sz="750" dirty="0"/>
          </a:p>
        </p:txBody>
      </p:sp>
      <p:sp>
        <p:nvSpPr>
          <p:cNvPr id="84" name="Shape 82"/>
          <p:cNvSpPr/>
          <p:nvPr/>
        </p:nvSpPr>
        <p:spPr>
          <a:xfrm>
            <a:off x="6711696" y="3090672"/>
            <a:ext cx="1920240" cy="1463040"/>
          </a:xfrm>
          <a:prstGeom prst="roundRect">
            <a:avLst>
              <a:gd name="adj" fmla="val 4375"/>
            </a:avLst>
          </a:prstGeom>
          <a:solidFill>
            <a:srgbClr val="1E293B"/>
          </a:solidFill>
          <a:ln w="12700">
            <a:solidFill>
              <a:srgbClr val="065F46"/>
            </a:solidFill>
            <a:prstDash val="solid"/>
          </a:ln>
        </p:spPr>
      </p:sp>
      <p:sp>
        <p:nvSpPr>
          <p:cNvPr id="85" name="Shape 83"/>
          <p:cNvSpPr/>
          <p:nvPr/>
        </p:nvSpPr>
        <p:spPr>
          <a:xfrm>
            <a:off x="6821424" y="4123944"/>
            <a:ext cx="137160" cy="201168"/>
          </a:xfrm>
          <a:prstGeom prst="rect">
            <a:avLst/>
          </a:prstGeom>
          <a:solidFill>
            <a:srgbClr val="065F46">
              <a:alpha val="80000"/>
            </a:srgbClr>
          </a:solidFill>
          <a:ln/>
        </p:spPr>
      </p:sp>
      <p:sp>
        <p:nvSpPr>
          <p:cNvPr id="86" name="Shape 84"/>
          <p:cNvSpPr/>
          <p:nvPr/>
        </p:nvSpPr>
        <p:spPr>
          <a:xfrm>
            <a:off x="7022592" y="3973068"/>
            <a:ext cx="137160" cy="352044"/>
          </a:xfrm>
          <a:prstGeom prst="rect">
            <a:avLst/>
          </a:prstGeom>
          <a:solidFill>
            <a:srgbClr val="065F46">
              <a:alpha val="80000"/>
            </a:srgbClr>
          </a:solidFill>
          <a:ln/>
        </p:spPr>
      </p:sp>
      <p:sp>
        <p:nvSpPr>
          <p:cNvPr id="87" name="Shape 85"/>
          <p:cNvSpPr/>
          <p:nvPr/>
        </p:nvSpPr>
        <p:spPr>
          <a:xfrm>
            <a:off x="7223760" y="4073652"/>
            <a:ext cx="137160" cy="251460"/>
          </a:xfrm>
          <a:prstGeom prst="rect">
            <a:avLst/>
          </a:prstGeom>
          <a:solidFill>
            <a:srgbClr val="065F46">
              <a:alpha val="80000"/>
            </a:srgbClr>
          </a:solidFill>
          <a:ln/>
        </p:spPr>
      </p:sp>
      <p:sp>
        <p:nvSpPr>
          <p:cNvPr id="88" name="Shape 86"/>
          <p:cNvSpPr/>
          <p:nvPr/>
        </p:nvSpPr>
        <p:spPr>
          <a:xfrm>
            <a:off x="7424928" y="3872484"/>
            <a:ext cx="137160" cy="452628"/>
          </a:xfrm>
          <a:prstGeom prst="rect">
            <a:avLst/>
          </a:prstGeom>
          <a:solidFill>
            <a:srgbClr val="065F46">
              <a:alpha val="80000"/>
            </a:srgbClr>
          </a:solidFill>
          <a:ln/>
        </p:spPr>
      </p:sp>
      <p:sp>
        <p:nvSpPr>
          <p:cNvPr id="89" name="Shape 87"/>
          <p:cNvSpPr/>
          <p:nvPr/>
        </p:nvSpPr>
        <p:spPr>
          <a:xfrm>
            <a:off x="7626096" y="4023360"/>
            <a:ext cx="137160" cy="301752"/>
          </a:xfrm>
          <a:prstGeom prst="rect">
            <a:avLst/>
          </a:prstGeom>
          <a:solidFill>
            <a:srgbClr val="065F46">
              <a:alpha val="80000"/>
            </a:srgbClr>
          </a:solidFill>
          <a:ln/>
        </p:spPr>
      </p:sp>
      <p:sp>
        <p:nvSpPr>
          <p:cNvPr id="90" name="Shape 88"/>
          <p:cNvSpPr/>
          <p:nvPr/>
        </p:nvSpPr>
        <p:spPr>
          <a:xfrm>
            <a:off x="7827264" y="3922776"/>
            <a:ext cx="137160" cy="402336"/>
          </a:xfrm>
          <a:prstGeom prst="rect">
            <a:avLst/>
          </a:prstGeom>
          <a:solidFill>
            <a:srgbClr val="065F46">
              <a:alpha val="80000"/>
            </a:srgbClr>
          </a:solidFill>
          <a:ln/>
        </p:spPr>
      </p:sp>
      <p:sp>
        <p:nvSpPr>
          <p:cNvPr id="91" name="Shape 89"/>
          <p:cNvSpPr/>
          <p:nvPr/>
        </p:nvSpPr>
        <p:spPr>
          <a:xfrm>
            <a:off x="8028432" y="4073652"/>
            <a:ext cx="137160" cy="251460"/>
          </a:xfrm>
          <a:prstGeom prst="rect">
            <a:avLst/>
          </a:prstGeom>
          <a:solidFill>
            <a:srgbClr val="065F46">
              <a:alpha val="80000"/>
            </a:srgbClr>
          </a:solidFill>
          <a:ln/>
        </p:spPr>
      </p:sp>
      <p:sp>
        <p:nvSpPr>
          <p:cNvPr id="92" name="Shape 90"/>
          <p:cNvSpPr/>
          <p:nvPr/>
        </p:nvSpPr>
        <p:spPr>
          <a:xfrm>
            <a:off x="8229600" y="3973068"/>
            <a:ext cx="137160" cy="352044"/>
          </a:xfrm>
          <a:prstGeom prst="rect">
            <a:avLst/>
          </a:prstGeom>
          <a:solidFill>
            <a:srgbClr val="065F46">
              <a:alpha val="80000"/>
            </a:srgbClr>
          </a:solidFill>
          <a:ln/>
        </p:spPr>
      </p:sp>
      <p:sp>
        <p:nvSpPr>
          <p:cNvPr id="93" name="Text 91"/>
          <p:cNvSpPr/>
          <p:nvPr/>
        </p:nvSpPr>
        <p:spPr>
          <a:xfrm>
            <a:off x="6784848" y="3182112"/>
            <a:ext cx="1773936"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CloudFront Hit Rate</a:t>
            </a:r>
            <a:endParaRPr lang="en-US" sz="900" dirty="0"/>
          </a:p>
        </p:txBody>
      </p:sp>
      <p:sp>
        <p:nvSpPr>
          <p:cNvPr id="94" name="Text 92"/>
          <p:cNvSpPr/>
          <p:nvPr/>
        </p:nvSpPr>
        <p:spPr>
          <a:xfrm>
            <a:off x="6784848" y="3483864"/>
            <a:ext cx="1773936" cy="219456"/>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CacheHitRate (%)</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CloudWatch Alarms &amp; Alerting</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65760" y="1097280"/>
            <a:ext cx="1463040" cy="658368"/>
          </a:xfrm>
          <a:prstGeom prst="roundRect">
            <a:avLst>
              <a:gd name="adj" fmla="val 11111"/>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365760" y="1097280"/>
            <a:ext cx="146304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CloudWatch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6" name="Shape 4"/>
          <p:cNvSpPr/>
          <p:nvPr/>
        </p:nvSpPr>
        <p:spPr>
          <a:xfrm>
            <a:off x="1828800" y="1426464"/>
            <a:ext cx="228600" cy="0"/>
          </a:xfrm>
          <a:prstGeom prst="line">
            <a:avLst/>
          </a:prstGeom>
          <a:noFill/>
          <a:ln w="25400">
            <a:solidFill>
              <a:srgbClr val="FF9900"/>
            </a:solidFill>
            <a:prstDash val="solid"/>
          </a:ln>
        </p:spPr>
      </p:sp>
      <p:sp>
        <p:nvSpPr>
          <p:cNvPr id="7" name="Text 5"/>
          <p:cNvSpPr/>
          <p:nvPr/>
        </p:nvSpPr>
        <p:spPr>
          <a:xfrm>
            <a:off x="1810512" y="1316736"/>
            <a:ext cx="274320" cy="274320"/>
          </a:xfrm>
          <a:prstGeom prst="rect">
            <a:avLst/>
          </a:prstGeom>
          <a:noFill/>
          <a:ln/>
        </p:spPr>
        <p:txBody>
          <a:bodyPr wrap="square" lIns="0" tIns="0" rIns="0" bIns="0" rtlCol="0" anchor="ctr"/>
          <a:lstStyle/>
          <a:p>
            <a:pPr algn="ctr" indent="0" marL="0">
              <a:buNone/>
            </a:pPr>
            <a:r>
              <a:rPr lang="en-US" sz="1400" dirty="0">
                <a:solidFill>
                  <a:srgbClr val="FF9900"/>
                </a:solidFill>
              </a:rPr>
              <a:t>→</a:t>
            </a:r>
            <a:endParaRPr lang="en-US" sz="1400" dirty="0"/>
          </a:p>
        </p:txBody>
      </p:sp>
      <p:sp>
        <p:nvSpPr>
          <p:cNvPr id="8" name="Shape 6"/>
          <p:cNvSpPr/>
          <p:nvPr/>
        </p:nvSpPr>
        <p:spPr>
          <a:xfrm>
            <a:off x="2057400" y="1097280"/>
            <a:ext cx="1463040" cy="658368"/>
          </a:xfrm>
          <a:prstGeom prst="roundRect">
            <a:avLst>
              <a:gd name="adj" fmla="val 11111"/>
            </a:avLst>
          </a:prstGeom>
          <a:solidFill>
            <a:srgbClr val="DC262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2057400" y="1097280"/>
            <a:ext cx="146304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Threshold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Breached</a:t>
            </a:r>
            <a:endParaRPr lang="en-US" sz="1000" dirty="0"/>
          </a:p>
        </p:txBody>
      </p:sp>
      <p:sp>
        <p:nvSpPr>
          <p:cNvPr id="10" name="Shape 8"/>
          <p:cNvSpPr/>
          <p:nvPr/>
        </p:nvSpPr>
        <p:spPr>
          <a:xfrm>
            <a:off x="3520440" y="1426464"/>
            <a:ext cx="228600" cy="0"/>
          </a:xfrm>
          <a:prstGeom prst="line">
            <a:avLst/>
          </a:prstGeom>
          <a:noFill/>
          <a:ln w="25400">
            <a:solidFill>
              <a:srgbClr val="FF9900"/>
            </a:solidFill>
            <a:prstDash val="solid"/>
          </a:ln>
        </p:spPr>
      </p:sp>
      <p:sp>
        <p:nvSpPr>
          <p:cNvPr id="11" name="Text 9"/>
          <p:cNvSpPr/>
          <p:nvPr/>
        </p:nvSpPr>
        <p:spPr>
          <a:xfrm>
            <a:off x="3502152" y="1316736"/>
            <a:ext cx="274320" cy="274320"/>
          </a:xfrm>
          <a:prstGeom prst="rect">
            <a:avLst/>
          </a:prstGeom>
          <a:noFill/>
          <a:ln/>
        </p:spPr>
        <p:txBody>
          <a:bodyPr wrap="square" lIns="0" tIns="0" rIns="0" bIns="0" rtlCol="0" anchor="ctr"/>
          <a:lstStyle/>
          <a:p>
            <a:pPr algn="ctr" indent="0" marL="0">
              <a:buNone/>
            </a:pPr>
            <a:r>
              <a:rPr lang="en-US" sz="1400" dirty="0">
                <a:solidFill>
                  <a:srgbClr val="FF9900"/>
                </a:solidFill>
              </a:rPr>
              <a:t>→</a:t>
            </a:r>
            <a:endParaRPr lang="en-US" sz="1400" dirty="0"/>
          </a:p>
        </p:txBody>
      </p:sp>
      <p:sp>
        <p:nvSpPr>
          <p:cNvPr id="12" name="Shape 10"/>
          <p:cNvSpPr/>
          <p:nvPr/>
        </p:nvSpPr>
        <p:spPr>
          <a:xfrm>
            <a:off x="3749040" y="1097280"/>
            <a:ext cx="1463040" cy="658368"/>
          </a:xfrm>
          <a:prstGeom prst="roundRect">
            <a:avLst>
              <a:gd name="adj" fmla="val 11111"/>
            </a:avLst>
          </a:prstGeom>
          <a:solidFill>
            <a:srgbClr val="B91C1C"/>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3749040" y="1097280"/>
            <a:ext cx="146304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CloudWatch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Alarm ALARM</a:t>
            </a:r>
            <a:endParaRPr lang="en-US" sz="1000" dirty="0"/>
          </a:p>
        </p:txBody>
      </p:sp>
      <p:sp>
        <p:nvSpPr>
          <p:cNvPr id="14" name="Shape 12"/>
          <p:cNvSpPr/>
          <p:nvPr/>
        </p:nvSpPr>
        <p:spPr>
          <a:xfrm>
            <a:off x="5212080" y="1426464"/>
            <a:ext cx="228600" cy="0"/>
          </a:xfrm>
          <a:prstGeom prst="line">
            <a:avLst/>
          </a:prstGeom>
          <a:noFill/>
          <a:ln w="25400">
            <a:solidFill>
              <a:srgbClr val="FF9900"/>
            </a:solidFill>
            <a:prstDash val="solid"/>
          </a:ln>
        </p:spPr>
      </p:sp>
      <p:sp>
        <p:nvSpPr>
          <p:cNvPr id="15" name="Text 13"/>
          <p:cNvSpPr/>
          <p:nvPr/>
        </p:nvSpPr>
        <p:spPr>
          <a:xfrm>
            <a:off x="5193792" y="1316736"/>
            <a:ext cx="274320" cy="274320"/>
          </a:xfrm>
          <a:prstGeom prst="rect">
            <a:avLst/>
          </a:prstGeom>
          <a:noFill/>
          <a:ln/>
        </p:spPr>
        <p:txBody>
          <a:bodyPr wrap="square" lIns="0" tIns="0" rIns="0" bIns="0" rtlCol="0" anchor="ctr"/>
          <a:lstStyle/>
          <a:p>
            <a:pPr algn="ctr" indent="0" marL="0">
              <a:buNone/>
            </a:pPr>
            <a:r>
              <a:rPr lang="en-US" sz="1400" dirty="0">
                <a:solidFill>
                  <a:srgbClr val="FF9900"/>
                </a:solidFill>
              </a:rPr>
              <a:t>→</a:t>
            </a:r>
            <a:endParaRPr lang="en-US" sz="1400" dirty="0"/>
          </a:p>
        </p:txBody>
      </p:sp>
      <p:sp>
        <p:nvSpPr>
          <p:cNvPr id="16" name="Shape 14"/>
          <p:cNvSpPr/>
          <p:nvPr/>
        </p:nvSpPr>
        <p:spPr>
          <a:xfrm>
            <a:off x="5440680" y="1097280"/>
            <a:ext cx="1463040" cy="658368"/>
          </a:xfrm>
          <a:prstGeom prst="roundRect">
            <a:avLst>
              <a:gd name="adj" fmla="val 11111"/>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5440680" y="1097280"/>
            <a:ext cx="146304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SNS Topic</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Alert Dispatch</a:t>
            </a:r>
            <a:endParaRPr lang="en-US" sz="1000" dirty="0"/>
          </a:p>
        </p:txBody>
      </p:sp>
      <p:sp>
        <p:nvSpPr>
          <p:cNvPr id="18" name="Shape 16"/>
          <p:cNvSpPr/>
          <p:nvPr/>
        </p:nvSpPr>
        <p:spPr>
          <a:xfrm>
            <a:off x="6903720" y="1426464"/>
            <a:ext cx="228600" cy="0"/>
          </a:xfrm>
          <a:prstGeom prst="line">
            <a:avLst/>
          </a:prstGeom>
          <a:noFill/>
          <a:ln w="25400">
            <a:solidFill>
              <a:srgbClr val="FF9900"/>
            </a:solidFill>
            <a:prstDash val="solid"/>
          </a:ln>
        </p:spPr>
      </p:sp>
      <p:sp>
        <p:nvSpPr>
          <p:cNvPr id="19" name="Text 17"/>
          <p:cNvSpPr/>
          <p:nvPr/>
        </p:nvSpPr>
        <p:spPr>
          <a:xfrm>
            <a:off x="6885432" y="1316736"/>
            <a:ext cx="274320" cy="274320"/>
          </a:xfrm>
          <a:prstGeom prst="rect">
            <a:avLst/>
          </a:prstGeom>
          <a:noFill/>
          <a:ln/>
        </p:spPr>
        <p:txBody>
          <a:bodyPr wrap="square" lIns="0" tIns="0" rIns="0" bIns="0" rtlCol="0" anchor="ctr"/>
          <a:lstStyle/>
          <a:p>
            <a:pPr algn="ctr" indent="0" marL="0">
              <a:buNone/>
            </a:pPr>
            <a:r>
              <a:rPr lang="en-US" sz="1400" dirty="0">
                <a:solidFill>
                  <a:srgbClr val="FF9900"/>
                </a:solidFill>
              </a:rPr>
              <a:t>→</a:t>
            </a:r>
            <a:endParaRPr lang="en-US" sz="1400" dirty="0"/>
          </a:p>
        </p:txBody>
      </p:sp>
      <p:sp>
        <p:nvSpPr>
          <p:cNvPr id="20" name="Shape 18"/>
          <p:cNvSpPr/>
          <p:nvPr/>
        </p:nvSpPr>
        <p:spPr>
          <a:xfrm>
            <a:off x="7132320" y="1097280"/>
            <a:ext cx="1463040" cy="658368"/>
          </a:xfrm>
          <a:prstGeom prst="roundRect">
            <a:avLst>
              <a:gd name="adj" fmla="val 11111"/>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1" name="Text 19"/>
          <p:cNvSpPr/>
          <p:nvPr/>
        </p:nvSpPr>
        <p:spPr>
          <a:xfrm>
            <a:off x="7132320" y="1097280"/>
            <a:ext cx="1463040" cy="658368"/>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Email / PagerDuty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On-Call Engineer</a:t>
            </a:r>
            <a:endParaRPr lang="en-US" sz="1000" dirty="0"/>
          </a:p>
        </p:txBody>
      </p:sp>
      <p:sp>
        <p:nvSpPr>
          <p:cNvPr id="22" name="Shape 20"/>
          <p:cNvSpPr/>
          <p:nvPr/>
        </p:nvSpPr>
        <p:spPr>
          <a:xfrm>
            <a:off x="365760" y="2011680"/>
            <a:ext cx="4114800" cy="713232"/>
          </a:xfrm>
          <a:prstGeom prst="roundRect">
            <a:avLst>
              <a:gd name="adj" fmla="val 8974"/>
            </a:avLst>
          </a:prstGeom>
          <a:solidFill>
            <a:srgbClr val="1A3A6B"/>
          </a:solidFill>
          <a:ln w="15240">
            <a:solidFill>
              <a:srgbClr val="B45309"/>
            </a:solidFill>
            <a:prstDash val="solid"/>
          </a:ln>
          <a:effectLst>
            <a:outerShdw sx="100000" sy="100000" kx="0" ky="0" algn="bl" rotWithShape="0" blurRad="127000" dist="25400" dir="2700000">
              <a:srgbClr val="000000">
                <a:alpha val="10000"/>
              </a:srgbClr>
            </a:outerShdw>
          </a:effectLst>
        </p:spPr>
      </p:sp>
      <p:sp>
        <p:nvSpPr>
          <p:cNvPr id="23" name="Shape 21"/>
          <p:cNvSpPr/>
          <p:nvPr/>
        </p:nvSpPr>
        <p:spPr>
          <a:xfrm>
            <a:off x="3474720" y="2121408"/>
            <a:ext cx="822960" cy="237744"/>
          </a:xfrm>
          <a:prstGeom prst="roundRect">
            <a:avLst>
              <a:gd name="adj" fmla="val 15385"/>
            </a:avLst>
          </a:prstGeom>
          <a:solidFill>
            <a:srgbClr val="B45309"/>
          </a:solidFill>
          <a:ln/>
        </p:spPr>
      </p:sp>
      <p:sp>
        <p:nvSpPr>
          <p:cNvPr id="24" name="Text 22"/>
          <p:cNvSpPr/>
          <p:nvPr/>
        </p:nvSpPr>
        <p:spPr>
          <a:xfrm>
            <a:off x="3474720" y="212140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WARNING</a:t>
            </a:r>
            <a:endParaRPr lang="en-US" sz="800" dirty="0"/>
          </a:p>
        </p:txBody>
      </p:sp>
      <p:sp>
        <p:nvSpPr>
          <p:cNvPr id="25" name="Text 23"/>
          <p:cNvSpPr/>
          <p:nvPr/>
        </p:nvSpPr>
        <p:spPr>
          <a:xfrm>
            <a:off x="502920" y="210312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HighCPUAlarm</a:t>
            </a:r>
            <a:endParaRPr lang="en-US" sz="1100" dirty="0"/>
          </a:p>
        </p:txBody>
      </p:sp>
      <p:sp>
        <p:nvSpPr>
          <p:cNvPr id="26" name="Text 24"/>
          <p:cNvSpPr/>
          <p:nvPr/>
        </p:nvSpPr>
        <p:spPr>
          <a:xfrm>
            <a:off x="502920" y="235915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EC2 CPUUtilization &gt; 80% for 2 minutes</a:t>
            </a:r>
            <a:endParaRPr lang="en-US" sz="950" dirty="0"/>
          </a:p>
        </p:txBody>
      </p:sp>
      <p:sp>
        <p:nvSpPr>
          <p:cNvPr id="27" name="Shape 25"/>
          <p:cNvSpPr/>
          <p:nvPr/>
        </p:nvSpPr>
        <p:spPr>
          <a:xfrm>
            <a:off x="4754880" y="2011680"/>
            <a:ext cx="4114800" cy="713232"/>
          </a:xfrm>
          <a:prstGeom prst="roundRect">
            <a:avLst>
              <a:gd name="adj" fmla="val 8974"/>
            </a:avLst>
          </a:prstGeom>
          <a:solidFill>
            <a:srgbClr val="1A3A6B"/>
          </a:solidFill>
          <a:ln w="15240">
            <a:solidFill>
              <a:srgbClr val="DC2626"/>
            </a:solidFill>
            <a:prstDash val="solid"/>
          </a:ln>
          <a:effectLst>
            <a:outerShdw sx="100000" sy="100000" kx="0" ky="0" algn="bl" rotWithShape="0" blurRad="127000" dist="25400" dir="2700000">
              <a:srgbClr val="000000">
                <a:alpha val="10000"/>
              </a:srgbClr>
            </a:outerShdw>
          </a:effectLst>
        </p:spPr>
      </p:sp>
      <p:sp>
        <p:nvSpPr>
          <p:cNvPr id="28" name="Shape 26"/>
          <p:cNvSpPr/>
          <p:nvPr/>
        </p:nvSpPr>
        <p:spPr>
          <a:xfrm>
            <a:off x="7863840" y="2121408"/>
            <a:ext cx="822960" cy="237744"/>
          </a:xfrm>
          <a:prstGeom prst="roundRect">
            <a:avLst>
              <a:gd name="adj" fmla="val 15385"/>
            </a:avLst>
          </a:prstGeom>
          <a:solidFill>
            <a:srgbClr val="DC2626"/>
          </a:solidFill>
          <a:ln/>
        </p:spPr>
      </p:sp>
      <p:sp>
        <p:nvSpPr>
          <p:cNvPr id="29" name="Text 27"/>
          <p:cNvSpPr/>
          <p:nvPr/>
        </p:nvSpPr>
        <p:spPr>
          <a:xfrm>
            <a:off x="7863840" y="212140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30" name="Text 28"/>
          <p:cNvSpPr/>
          <p:nvPr/>
        </p:nvSpPr>
        <p:spPr>
          <a:xfrm>
            <a:off x="4892040" y="210312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ALB5XXAlarm</a:t>
            </a:r>
            <a:endParaRPr lang="en-US" sz="1100" dirty="0"/>
          </a:p>
        </p:txBody>
      </p:sp>
      <p:sp>
        <p:nvSpPr>
          <p:cNvPr id="31" name="Text 29"/>
          <p:cNvSpPr/>
          <p:nvPr/>
        </p:nvSpPr>
        <p:spPr>
          <a:xfrm>
            <a:off x="4892040" y="235915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HTTPCode_ELB_5XX_Count &gt; 10 in 5 minutes</a:t>
            </a:r>
            <a:endParaRPr lang="en-US" sz="950" dirty="0"/>
          </a:p>
        </p:txBody>
      </p:sp>
      <p:sp>
        <p:nvSpPr>
          <p:cNvPr id="32" name="Shape 30"/>
          <p:cNvSpPr/>
          <p:nvPr/>
        </p:nvSpPr>
        <p:spPr>
          <a:xfrm>
            <a:off x="365760" y="2880360"/>
            <a:ext cx="4114800" cy="713232"/>
          </a:xfrm>
          <a:prstGeom prst="roundRect">
            <a:avLst>
              <a:gd name="adj" fmla="val 8974"/>
            </a:avLst>
          </a:prstGeom>
          <a:solidFill>
            <a:srgbClr val="1A3A6B"/>
          </a:solidFill>
          <a:ln w="15240">
            <a:solidFill>
              <a:srgbClr val="B45309"/>
            </a:solidFill>
            <a:prstDash val="solid"/>
          </a:ln>
          <a:effectLst>
            <a:outerShdw sx="100000" sy="100000" kx="0" ky="0" algn="bl" rotWithShape="0" blurRad="127000" dist="25400" dir="2700000">
              <a:srgbClr val="000000">
                <a:alpha val="10000"/>
              </a:srgbClr>
            </a:outerShdw>
          </a:effectLst>
        </p:spPr>
      </p:sp>
      <p:sp>
        <p:nvSpPr>
          <p:cNvPr id="33" name="Shape 31"/>
          <p:cNvSpPr/>
          <p:nvPr/>
        </p:nvSpPr>
        <p:spPr>
          <a:xfrm>
            <a:off x="3474720" y="2990088"/>
            <a:ext cx="822960" cy="237744"/>
          </a:xfrm>
          <a:prstGeom prst="roundRect">
            <a:avLst>
              <a:gd name="adj" fmla="val 15385"/>
            </a:avLst>
          </a:prstGeom>
          <a:solidFill>
            <a:srgbClr val="B45309"/>
          </a:solidFill>
          <a:ln/>
        </p:spPr>
      </p:sp>
      <p:sp>
        <p:nvSpPr>
          <p:cNvPr id="34" name="Text 32"/>
          <p:cNvSpPr/>
          <p:nvPr/>
        </p:nvSpPr>
        <p:spPr>
          <a:xfrm>
            <a:off x="3474720" y="299008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WARNING</a:t>
            </a:r>
            <a:endParaRPr lang="en-US" sz="800" dirty="0"/>
          </a:p>
        </p:txBody>
      </p:sp>
      <p:sp>
        <p:nvSpPr>
          <p:cNvPr id="35" name="Text 33"/>
          <p:cNvSpPr/>
          <p:nvPr/>
        </p:nvSpPr>
        <p:spPr>
          <a:xfrm>
            <a:off x="502920" y="297180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LambdaErrorAlarm</a:t>
            </a:r>
            <a:endParaRPr lang="en-US" sz="1100" dirty="0"/>
          </a:p>
        </p:txBody>
      </p:sp>
      <p:sp>
        <p:nvSpPr>
          <p:cNvPr id="36" name="Text 34"/>
          <p:cNvSpPr/>
          <p:nvPr/>
        </p:nvSpPr>
        <p:spPr>
          <a:xfrm>
            <a:off x="502920" y="322783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Lambda Errors &gt; 5 in 5 minutes</a:t>
            </a:r>
            <a:endParaRPr lang="en-US" sz="950" dirty="0"/>
          </a:p>
        </p:txBody>
      </p:sp>
      <p:sp>
        <p:nvSpPr>
          <p:cNvPr id="37" name="Shape 35"/>
          <p:cNvSpPr/>
          <p:nvPr/>
        </p:nvSpPr>
        <p:spPr>
          <a:xfrm>
            <a:off x="4754880" y="2880360"/>
            <a:ext cx="4114800" cy="713232"/>
          </a:xfrm>
          <a:prstGeom prst="roundRect">
            <a:avLst>
              <a:gd name="adj" fmla="val 8974"/>
            </a:avLst>
          </a:prstGeom>
          <a:solidFill>
            <a:srgbClr val="1A3A6B"/>
          </a:solidFill>
          <a:ln w="15240">
            <a:solidFill>
              <a:srgbClr val="B45309"/>
            </a:solidFill>
            <a:prstDash val="solid"/>
          </a:ln>
          <a:effectLst>
            <a:outerShdw sx="100000" sy="100000" kx="0" ky="0" algn="bl" rotWithShape="0" blurRad="127000" dist="25400" dir="2700000">
              <a:srgbClr val="000000">
                <a:alpha val="10000"/>
              </a:srgbClr>
            </a:outerShdw>
          </a:effectLst>
        </p:spPr>
      </p:sp>
      <p:sp>
        <p:nvSpPr>
          <p:cNvPr id="38" name="Shape 36"/>
          <p:cNvSpPr/>
          <p:nvPr/>
        </p:nvSpPr>
        <p:spPr>
          <a:xfrm>
            <a:off x="7863840" y="2990088"/>
            <a:ext cx="822960" cy="237744"/>
          </a:xfrm>
          <a:prstGeom prst="roundRect">
            <a:avLst>
              <a:gd name="adj" fmla="val 15385"/>
            </a:avLst>
          </a:prstGeom>
          <a:solidFill>
            <a:srgbClr val="B45309"/>
          </a:solidFill>
          <a:ln/>
        </p:spPr>
      </p:sp>
      <p:sp>
        <p:nvSpPr>
          <p:cNvPr id="39" name="Text 37"/>
          <p:cNvSpPr/>
          <p:nvPr/>
        </p:nvSpPr>
        <p:spPr>
          <a:xfrm>
            <a:off x="7863840" y="299008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WARNING</a:t>
            </a:r>
            <a:endParaRPr lang="en-US" sz="800" dirty="0"/>
          </a:p>
        </p:txBody>
      </p:sp>
      <p:sp>
        <p:nvSpPr>
          <p:cNvPr id="40" name="Text 38"/>
          <p:cNvSpPr/>
          <p:nvPr/>
        </p:nvSpPr>
        <p:spPr>
          <a:xfrm>
            <a:off x="4892040" y="297180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SQSBacklogAlarm</a:t>
            </a:r>
            <a:endParaRPr lang="en-US" sz="1100" dirty="0"/>
          </a:p>
        </p:txBody>
      </p:sp>
      <p:sp>
        <p:nvSpPr>
          <p:cNvPr id="41" name="Text 39"/>
          <p:cNvSpPr/>
          <p:nvPr/>
        </p:nvSpPr>
        <p:spPr>
          <a:xfrm>
            <a:off x="4892040" y="322783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ApproximateNumberOfMessages &gt; 100</a:t>
            </a:r>
            <a:endParaRPr lang="en-US" sz="950" dirty="0"/>
          </a:p>
        </p:txBody>
      </p:sp>
      <p:sp>
        <p:nvSpPr>
          <p:cNvPr id="42" name="Shape 40"/>
          <p:cNvSpPr/>
          <p:nvPr/>
        </p:nvSpPr>
        <p:spPr>
          <a:xfrm>
            <a:off x="365760" y="3749040"/>
            <a:ext cx="4114800" cy="713232"/>
          </a:xfrm>
          <a:prstGeom prst="roundRect">
            <a:avLst>
              <a:gd name="adj" fmla="val 8974"/>
            </a:avLst>
          </a:prstGeom>
          <a:solidFill>
            <a:srgbClr val="1A3A6B"/>
          </a:solidFill>
          <a:ln w="15240">
            <a:solidFill>
              <a:srgbClr val="DC2626"/>
            </a:solidFill>
            <a:prstDash val="solid"/>
          </a:ln>
          <a:effectLst>
            <a:outerShdw sx="100000" sy="100000" kx="0" ky="0" algn="bl" rotWithShape="0" blurRad="127000" dist="25400" dir="2700000">
              <a:srgbClr val="000000">
                <a:alpha val="10000"/>
              </a:srgbClr>
            </a:outerShdw>
          </a:effectLst>
        </p:spPr>
      </p:sp>
      <p:sp>
        <p:nvSpPr>
          <p:cNvPr id="43" name="Shape 41"/>
          <p:cNvSpPr/>
          <p:nvPr/>
        </p:nvSpPr>
        <p:spPr>
          <a:xfrm>
            <a:off x="3474720" y="3858768"/>
            <a:ext cx="822960" cy="237744"/>
          </a:xfrm>
          <a:prstGeom prst="roundRect">
            <a:avLst>
              <a:gd name="adj" fmla="val 15385"/>
            </a:avLst>
          </a:prstGeom>
          <a:solidFill>
            <a:srgbClr val="DC2626"/>
          </a:solidFill>
          <a:ln/>
        </p:spPr>
      </p:sp>
      <p:sp>
        <p:nvSpPr>
          <p:cNvPr id="44" name="Text 42"/>
          <p:cNvSpPr/>
          <p:nvPr/>
        </p:nvSpPr>
        <p:spPr>
          <a:xfrm>
            <a:off x="3474720" y="385876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45" name="Text 43"/>
          <p:cNvSpPr/>
          <p:nvPr/>
        </p:nvSpPr>
        <p:spPr>
          <a:xfrm>
            <a:off x="502920" y="384048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RDSConnectionAlarm</a:t>
            </a:r>
            <a:endParaRPr lang="en-US" sz="1100" dirty="0"/>
          </a:p>
        </p:txBody>
      </p:sp>
      <p:sp>
        <p:nvSpPr>
          <p:cNvPr id="46" name="Text 44"/>
          <p:cNvSpPr/>
          <p:nvPr/>
        </p:nvSpPr>
        <p:spPr>
          <a:xfrm>
            <a:off x="502920" y="409651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DatabaseConnections &gt; 80% of max_connections</a:t>
            </a:r>
            <a:endParaRPr lang="en-US" sz="950" dirty="0"/>
          </a:p>
        </p:txBody>
      </p:sp>
      <p:sp>
        <p:nvSpPr>
          <p:cNvPr id="47" name="Shape 45"/>
          <p:cNvSpPr/>
          <p:nvPr/>
        </p:nvSpPr>
        <p:spPr>
          <a:xfrm>
            <a:off x="4754880" y="3749040"/>
            <a:ext cx="4114800" cy="713232"/>
          </a:xfrm>
          <a:prstGeom prst="roundRect">
            <a:avLst>
              <a:gd name="adj" fmla="val 8974"/>
            </a:avLst>
          </a:prstGeom>
          <a:solidFill>
            <a:srgbClr val="1A3A6B"/>
          </a:solidFill>
          <a:ln w="15240">
            <a:solidFill>
              <a:srgbClr val="DC2626"/>
            </a:solidFill>
            <a:prstDash val="solid"/>
          </a:ln>
          <a:effectLst>
            <a:outerShdw sx="100000" sy="100000" kx="0" ky="0" algn="bl" rotWithShape="0" blurRad="127000" dist="25400" dir="2700000">
              <a:srgbClr val="000000">
                <a:alpha val="10000"/>
              </a:srgbClr>
            </a:outerShdw>
          </a:effectLst>
        </p:spPr>
      </p:sp>
      <p:sp>
        <p:nvSpPr>
          <p:cNvPr id="48" name="Shape 46"/>
          <p:cNvSpPr/>
          <p:nvPr/>
        </p:nvSpPr>
        <p:spPr>
          <a:xfrm>
            <a:off x="7863840" y="3858768"/>
            <a:ext cx="822960" cy="237744"/>
          </a:xfrm>
          <a:prstGeom prst="roundRect">
            <a:avLst>
              <a:gd name="adj" fmla="val 15385"/>
            </a:avLst>
          </a:prstGeom>
          <a:solidFill>
            <a:srgbClr val="DC2626"/>
          </a:solidFill>
          <a:ln/>
        </p:spPr>
      </p:sp>
      <p:sp>
        <p:nvSpPr>
          <p:cNvPr id="49" name="Text 47"/>
          <p:cNvSpPr/>
          <p:nvPr/>
        </p:nvSpPr>
        <p:spPr>
          <a:xfrm>
            <a:off x="7863840" y="385876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50" name="Text 48"/>
          <p:cNvSpPr/>
          <p:nvPr/>
        </p:nvSpPr>
        <p:spPr>
          <a:xfrm>
            <a:off x="4892040" y="3840480"/>
            <a:ext cx="2880360" cy="237744"/>
          </a:xfrm>
          <a:prstGeom prst="rect">
            <a:avLst/>
          </a:prstGeom>
          <a:noFill/>
          <a:ln/>
        </p:spPr>
        <p:txBody>
          <a:bodyPr wrap="square" lIns="0" tIns="0" rIns="0" bIns="0" rtlCol="0" anchor="ctr"/>
          <a:lstStyle/>
          <a:p>
            <a:pPr indent="0" marL="0">
              <a:buNone/>
            </a:pPr>
            <a:r>
              <a:rPr lang="en-US" sz="1100" b="1" dirty="0">
                <a:solidFill>
                  <a:srgbClr val="FF9900"/>
                </a:solidFill>
                <a:latin typeface="Courier New" pitchFamily="34" charset="0"/>
                <a:ea typeface="Courier New" pitchFamily="34" charset="-122"/>
                <a:cs typeface="Courier New" pitchFamily="34" charset="-120"/>
              </a:rPr>
              <a:t>ALBUnhealthyHosts</a:t>
            </a:r>
            <a:endParaRPr lang="en-US" sz="1100" dirty="0"/>
          </a:p>
        </p:txBody>
      </p:sp>
      <p:sp>
        <p:nvSpPr>
          <p:cNvPr id="51" name="Text 49"/>
          <p:cNvSpPr/>
          <p:nvPr/>
        </p:nvSpPr>
        <p:spPr>
          <a:xfrm>
            <a:off x="4892040" y="4096512"/>
            <a:ext cx="3840480" cy="256032"/>
          </a:xfrm>
          <a:prstGeom prst="rect">
            <a:avLst/>
          </a:prstGeom>
          <a:noFill/>
          <a:ln/>
        </p:spPr>
        <p:txBody>
          <a:bodyPr wrap="square" lIns="0" tIns="0" rIns="0" bIns="0" rtlCol="0" anchor="ctr"/>
          <a:lstStyle/>
          <a:p>
            <a:pPr indent="0" marL="0">
              <a:buNone/>
            </a:pPr>
            <a:r>
              <a:rPr lang="en-US" sz="950" dirty="0">
                <a:solidFill>
                  <a:srgbClr val="93C5FD"/>
                </a:solidFill>
                <a:latin typeface="Calibri" pitchFamily="34" charset="0"/>
                <a:ea typeface="Calibri" pitchFamily="34" charset="-122"/>
                <a:cs typeface="Calibri" pitchFamily="34" charset="-120"/>
              </a:rPr>
              <a:t>UnHealthyHostCount &gt; 0</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AWS WAF  —  Web Application Firewall</a:t>
            </a:r>
            <a:endParaRPr lang="en-US" sz="2800" dirty="0"/>
          </a:p>
        </p:txBody>
      </p:sp>
      <p:sp>
        <p:nvSpPr>
          <p:cNvPr id="4" name="Shape 2"/>
          <p:cNvSpPr/>
          <p:nvPr/>
        </p:nvSpPr>
        <p:spPr>
          <a:xfrm>
            <a:off x="365760" y="1005840"/>
            <a:ext cx="5394960" cy="804672"/>
          </a:xfrm>
          <a:prstGeom prst="roundRect">
            <a:avLst>
              <a:gd name="adj" fmla="val 9091"/>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5" name="Shape 3"/>
          <p:cNvSpPr/>
          <p:nvPr/>
        </p:nvSpPr>
        <p:spPr>
          <a:xfrm>
            <a:off x="5120640" y="1051560"/>
            <a:ext cx="566928" cy="256032"/>
          </a:xfrm>
          <a:prstGeom prst="roundRect">
            <a:avLst>
              <a:gd name="adj" fmla="val 14286"/>
            </a:avLst>
          </a:prstGeom>
          <a:solidFill>
            <a:srgbClr val="DC2626"/>
          </a:solidFill>
          <a:ln/>
        </p:spPr>
      </p:sp>
      <p:sp>
        <p:nvSpPr>
          <p:cNvPr id="6" name="Text 4"/>
          <p:cNvSpPr/>
          <p:nvPr/>
        </p:nvSpPr>
        <p:spPr>
          <a:xfrm>
            <a:off x="5120640" y="1051560"/>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BLOCK</a:t>
            </a:r>
            <a:endParaRPr lang="en-US" sz="900" dirty="0"/>
          </a:p>
        </p:txBody>
      </p:sp>
      <p:sp>
        <p:nvSpPr>
          <p:cNvPr id="7" name="Text 5"/>
          <p:cNvSpPr/>
          <p:nvPr/>
        </p:nvSpPr>
        <p:spPr>
          <a:xfrm>
            <a:off x="502920" y="1060704"/>
            <a:ext cx="4480560" cy="256032"/>
          </a:xfrm>
          <a:prstGeom prst="rect">
            <a:avLst/>
          </a:prstGeom>
          <a:noFill/>
          <a:ln/>
        </p:spPr>
        <p:txBody>
          <a:bodyPr wrap="square" lIns="0" tIns="0" rIns="0" bIns="0" rtlCol="0" anchor="ctr"/>
          <a:lstStyle/>
          <a:p>
            <a:pPr indent="0" marL="0">
              <a:buNone/>
            </a:pPr>
            <a:r>
              <a:rPr lang="en-US" sz="1050" b="1" dirty="0">
                <a:solidFill>
                  <a:srgbClr val="0D2149"/>
                </a:solidFill>
                <a:latin typeface="Courier New" pitchFamily="34" charset="0"/>
                <a:ea typeface="Courier New" pitchFamily="34" charset="-122"/>
                <a:cs typeface="Courier New" pitchFamily="34" charset="-120"/>
              </a:rPr>
              <a:t>AWSManagedRulesCommonRuleSet</a:t>
            </a:r>
            <a:endParaRPr lang="en-US" sz="1050" dirty="0"/>
          </a:p>
        </p:txBody>
      </p:sp>
      <p:sp>
        <p:nvSpPr>
          <p:cNvPr id="8" name="Text 6"/>
          <p:cNvSpPr/>
          <p:nvPr/>
        </p:nvSpPr>
        <p:spPr>
          <a:xfrm>
            <a:off x="502920" y="1316736"/>
            <a:ext cx="452628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OWASP Top 10 protection. Blocks SQLi, XSS, path traversal, local file inclusion and more.</a:t>
            </a:r>
            <a:endParaRPr lang="en-US" sz="950" dirty="0"/>
          </a:p>
        </p:txBody>
      </p:sp>
      <p:sp>
        <p:nvSpPr>
          <p:cNvPr id="9" name="Shape 7"/>
          <p:cNvSpPr/>
          <p:nvPr/>
        </p:nvSpPr>
        <p:spPr>
          <a:xfrm>
            <a:off x="365760" y="1965960"/>
            <a:ext cx="5394960" cy="804672"/>
          </a:xfrm>
          <a:prstGeom prst="roundRect">
            <a:avLst>
              <a:gd name="adj" fmla="val 9091"/>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10" name="Shape 8"/>
          <p:cNvSpPr/>
          <p:nvPr/>
        </p:nvSpPr>
        <p:spPr>
          <a:xfrm>
            <a:off x="5120640" y="2011680"/>
            <a:ext cx="566928" cy="256032"/>
          </a:xfrm>
          <a:prstGeom prst="roundRect">
            <a:avLst>
              <a:gd name="adj" fmla="val 14286"/>
            </a:avLst>
          </a:prstGeom>
          <a:solidFill>
            <a:srgbClr val="DC2626"/>
          </a:solidFill>
          <a:ln/>
        </p:spPr>
      </p:sp>
      <p:sp>
        <p:nvSpPr>
          <p:cNvPr id="11" name="Text 9"/>
          <p:cNvSpPr/>
          <p:nvPr/>
        </p:nvSpPr>
        <p:spPr>
          <a:xfrm>
            <a:off x="5120640" y="2011680"/>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BLOCK</a:t>
            </a:r>
            <a:endParaRPr lang="en-US" sz="900" dirty="0"/>
          </a:p>
        </p:txBody>
      </p:sp>
      <p:sp>
        <p:nvSpPr>
          <p:cNvPr id="12" name="Text 10"/>
          <p:cNvSpPr/>
          <p:nvPr/>
        </p:nvSpPr>
        <p:spPr>
          <a:xfrm>
            <a:off x="502920" y="2020824"/>
            <a:ext cx="4480560" cy="256032"/>
          </a:xfrm>
          <a:prstGeom prst="rect">
            <a:avLst/>
          </a:prstGeom>
          <a:noFill/>
          <a:ln/>
        </p:spPr>
        <p:txBody>
          <a:bodyPr wrap="square" lIns="0" tIns="0" rIns="0" bIns="0" rtlCol="0" anchor="ctr"/>
          <a:lstStyle/>
          <a:p>
            <a:pPr indent="0" marL="0">
              <a:buNone/>
            </a:pPr>
            <a:r>
              <a:rPr lang="en-US" sz="1050" b="1" dirty="0">
                <a:solidFill>
                  <a:srgbClr val="0D2149"/>
                </a:solidFill>
                <a:latin typeface="Courier New" pitchFamily="34" charset="0"/>
                <a:ea typeface="Courier New" pitchFamily="34" charset="-122"/>
                <a:cs typeface="Courier New" pitchFamily="34" charset="-120"/>
              </a:rPr>
              <a:t>AWSManagedRulesSQLiRuleSet</a:t>
            </a:r>
            <a:endParaRPr lang="en-US" sz="1050" dirty="0"/>
          </a:p>
        </p:txBody>
      </p:sp>
      <p:sp>
        <p:nvSpPr>
          <p:cNvPr id="13" name="Text 11"/>
          <p:cNvSpPr/>
          <p:nvPr/>
        </p:nvSpPr>
        <p:spPr>
          <a:xfrm>
            <a:off x="502920" y="2276856"/>
            <a:ext cx="452628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Dedicated SQL injection rule set. Inspects query strings, headers, and request body for SQL patterns.</a:t>
            </a:r>
            <a:endParaRPr lang="en-US" sz="950" dirty="0"/>
          </a:p>
        </p:txBody>
      </p:sp>
      <p:sp>
        <p:nvSpPr>
          <p:cNvPr id="14" name="Shape 12"/>
          <p:cNvSpPr/>
          <p:nvPr/>
        </p:nvSpPr>
        <p:spPr>
          <a:xfrm>
            <a:off x="365760" y="2926080"/>
            <a:ext cx="5394960" cy="804672"/>
          </a:xfrm>
          <a:prstGeom prst="roundRect">
            <a:avLst>
              <a:gd name="adj" fmla="val 9091"/>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15" name="Shape 13"/>
          <p:cNvSpPr/>
          <p:nvPr/>
        </p:nvSpPr>
        <p:spPr>
          <a:xfrm>
            <a:off x="5120640" y="2971800"/>
            <a:ext cx="566928" cy="256032"/>
          </a:xfrm>
          <a:prstGeom prst="roundRect">
            <a:avLst>
              <a:gd name="adj" fmla="val 14286"/>
            </a:avLst>
          </a:prstGeom>
          <a:solidFill>
            <a:srgbClr val="DC2626"/>
          </a:solidFill>
          <a:ln/>
        </p:spPr>
      </p:sp>
      <p:sp>
        <p:nvSpPr>
          <p:cNvPr id="16" name="Text 14"/>
          <p:cNvSpPr/>
          <p:nvPr/>
        </p:nvSpPr>
        <p:spPr>
          <a:xfrm>
            <a:off x="5120640" y="2971800"/>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BLOCK</a:t>
            </a:r>
            <a:endParaRPr lang="en-US" sz="900" dirty="0"/>
          </a:p>
        </p:txBody>
      </p:sp>
      <p:sp>
        <p:nvSpPr>
          <p:cNvPr id="17" name="Text 15"/>
          <p:cNvSpPr/>
          <p:nvPr/>
        </p:nvSpPr>
        <p:spPr>
          <a:xfrm>
            <a:off x="502920" y="2980944"/>
            <a:ext cx="4480560" cy="256032"/>
          </a:xfrm>
          <a:prstGeom prst="rect">
            <a:avLst/>
          </a:prstGeom>
          <a:noFill/>
          <a:ln/>
        </p:spPr>
        <p:txBody>
          <a:bodyPr wrap="square" lIns="0" tIns="0" rIns="0" bIns="0" rtlCol="0" anchor="ctr"/>
          <a:lstStyle/>
          <a:p>
            <a:pPr indent="0" marL="0">
              <a:buNone/>
            </a:pPr>
            <a:r>
              <a:rPr lang="en-US" sz="1050" b="1" dirty="0">
                <a:solidFill>
                  <a:srgbClr val="0D2149"/>
                </a:solidFill>
                <a:latin typeface="Courier New" pitchFamily="34" charset="0"/>
                <a:ea typeface="Courier New" pitchFamily="34" charset="-122"/>
                <a:cs typeface="Courier New" pitchFamily="34" charset="-120"/>
              </a:rPr>
              <a:t>RateLimitRule</a:t>
            </a:r>
            <a:endParaRPr lang="en-US" sz="1050" dirty="0"/>
          </a:p>
        </p:txBody>
      </p:sp>
      <p:sp>
        <p:nvSpPr>
          <p:cNvPr id="18" name="Text 16"/>
          <p:cNvSpPr/>
          <p:nvPr/>
        </p:nvSpPr>
        <p:spPr>
          <a:xfrm>
            <a:off x="502920" y="3236976"/>
            <a:ext cx="452628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Limits requests from a single IP to 2000/5min. Prevents brute force and DDoS floods.</a:t>
            </a:r>
            <a:endParaRPr lang="en-US" sz="950" dirty="0"/>
          </a:p>
        </p:txBody>
      </p:sp>
      <p:sp>
        <p:nvSpPr>
          <p:cNvPr id="19" name="Shape 17"/>
          <p:cNvSpPr/>
          <p:nvPr/>
        </p:nvSpPr>
        <p:spPr>
          <a:xfrm>
            <a:off x="365760" y="3886200"/>
            <a:ext cx="5394960" cy="804672"/>
          </a:xfrm>
          <a:prstGeom prst="roundRect">
            <a:avLst>
              <a:gd name="adj" fmla="val 9091"/>
            </a:avLst>
          </a:prstGeom>
          <a:solidFill>
            <a:srgbClr val="EFF6FF"/>
          </a:solidFill>
          <a:ln w="25400">
            <a:solidFill>
              <a:srgbClr val="FF9900"/>
            </a:solidFill>
            <a:prstDash val="solid"/>
          </a:ln>
          <a:effectLst>
            <a:outerShdw sx="100000" sy="100000" kx="0" ky="0" algn="bl" rotWithShape="0" blurRad="127000" dist="25400" dir="2700000">
              <a:srgbClr val="000000">
                <a:alpha val="10000"/>
              </a:srgbClr>
            </a:outerShdw>
          </a:effectLst>
        </p:spPr>
      </p:sp>
      <p:sp>
        <p:nvSpPr>
          <p:cNvPr id="20" name="Shape 18"/>
          <p:cNvSpPr/>
          <p:nvPr/>
        </p:nvSpPr>
        <p:spPr>
          <a:xfrm>
            <a:off x="5120640" y="3931920"/>
            <a:ext cx="566928" cy="256032"/>
          </a:xfrm>
          <a:prstGeom prst="roundRect">
            <a:avLst>
              <a:gd name="adj" fmla="val 14286"/>
            </a:avLst>
          </a:prstGeom>
          <a:solidFill>
            <a:srgbClr val="B45309"/>
          </a:solidFill>
          <a:ln/>
        </p:spPr>
      </p:sp>
      <p:sp>
        <p:nvSpPr>
          <p:cNvPr id="21" name="Text 19"/>
          <p:cNvSpPr/>
          <p:nvPr/>
        </p:nvSpPr>
        <p:spPr>
          <a:xfrm>
            <a:off x="5120640" y="3931920"/>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COUNT</a:t>
            </a:r>
            <a:endParaRPr lang="en-US" sz="900" dirty="0"/>
          </a:p>
        </p:txBody>
      </p:sp>
      <p:sp>
        <p:nvSpPr>
          <p:cNvPr id="22" name="Text 20"/>
          <p:cNvSpPr/>
          <p:nvPr/>
        </p:nvSpPr>
        <p:spPr>
          <a:xfrm>
            <a:off x="502920" y="3941064"/>
            <a:ext cx="4480560" cy="256032"/>
          </a:xfrm>
          <a:prstGeom prst="rect">
            <a:avLst/>
          </a:prstGeom>
          <a:noFill/>
          <a:ln/>
        </p:spPr>
        <p:txBody>
          <a:bodyPr wrap="square" lIns="0" tIns="0" rIns="0" bIns="0" rtlCol="0" anchor="ctr"/>
          <a:lstStyle/>
          <a:p>
            <a:pPr indent="0" marL="0">
              <a:buNone/>
            </a:pPr>
            <a:r>
              <a:rPr lang="en-US" sz="1050" b="1" dirty="0">
                <a:solidFill>
                  <a:srgbClr val="0D2149"/>
                </a:solidFill>
                <a:latin typeface="Courier New" pitchFamily="34" charset="0"/>
                <a:ea typeface="Courier New" pitchFamily="34" charset="-122"/>
                <a:cs typeface="Courier New" pitchFamily="34" charset="-120"/>
              </a:rPr>
              <a:t>SizeRestrictions_BODY</a:t>
            </a:r>
            <a:endParaRPr lang="en-US" sz="1050" dirty="0"/>
          </a:p>
        </p:txBody>
      </p:sp>
      <p:sp>
        <p:nvSpPr>
          <p:cNvPr id="23" name="Text 21"/>
          <p:cNvSpPr/>
          <p:nvPr/>
        </p:nvSpPr>
        <p:spPr>
          <a:xfrm>
            <a:off x="502920" y="4197096"/>
            <a:ext cx="452628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Originally blocked large request bodies. Caused valid multipart uploads to be rejected.</a:t>
            </a:r>
            <a:endParaRPr lang="en-US" sz="950" dirty="0"/>
          </a:p>
        </p:txBody>
      </p:sp>
      <p:sp>
        <p:nvSpPr>
          <p:cNvPr id="24" name="Shape 22"/>
          <p:cNvSpPr/>
          <p:nvPr/>
        </p:nvSpPr>
        <p:spPr>
          <a:xfrm>
            <a:off x="5989320" y="1005840"/>
            <a:ext cx="2834640" cy="3794760"/>
          </a:xfrm>
          <a:prstGeom prst="roundRect">
            <a:avLst>
              <a:gd name="adj" fmla="val 3871"/>
            </a:avLst>
          </a:prstGeom>
          <a:solidFill>
            <a:srgbClr val="FEF3C7"/>
          </a:solidFill>
          <a:ln w="25400">
            <a:solidFill>
              <a:srgbClr val="FF9900"/>
            </a:solidFill>
            <a:prstDash val="solid"/>
          </a:ln>
          <a:effectLst>
            <a:outerShdw sx="100000" sy="100000" kx="0" ky="0" algn="bl" rotWithShape="0" blurRad="127000" dist="25400" dir="2700000">
              <a:srgbClr val="000000">
                <a:alpha val="10000"/>
              </a:srgbClr>
            </a:outerShdw>
          </a:effectLst>
        </p:spPr>
      </p:sp>
      <p:sp>
        <p:nvSpPr>
          <p:cNvPr id="25" name="Text 23"/>
          <p:cNvSpPr/>
          <p:nvPr/>
        </p:nvSpPr>
        <p:spPr>
          <a:xfrm>
            <a:off x="6126480" y="1097280"/>
            <a:ext cx="2560320" cy="347472"/>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  Real-World Incident</a:t>
            </a:r>
            <a:endParaRPr lang="en-US" sz="1300" dirty="0"/>
          </a:p>
        </p:txBody>
      </p:sp>
      <p:sp>
        <p:nvSpPr>
          <p:cNvPr id="26" name="Text 24"/>
          <p:cNvSpPr/>
          <p:nvPr/>
        </p:nvSpPr>
        <p:spPr>
          <a:xfrm>
            <a:off x="6126480" y="1508760"/>
            <a:ext cx="2578608" cy="3154680"/>
          </a:xfrm>
          <a:prstGeom prst="rect">
            <a:avLst/>
          </a:prstGeom>
          <a:noFill/>
          <a:ln/>
        </p:spPr>
        <p:txBody>
          <a:bodyPr wrap="square" lIns="50800" tIns="50800" rIns="50800" bIns="50800" rtlCol="0" anchor="ctr"/>
          <a:lstStyle/>
          <a:p>
            <a:pPr indent="0" marL="0">
              <a:buNone/>
            </a:pPr>
            <a:r>
              <a:rPr lang="en-US" sz="900" dirty="0">
                <a:solidFill>
                  <a:srgbClr val="1C1917"/>
                </a:solidFill>
                <a:latin typeface="Calibri" pitchFamily="34" charset="0"/>
                <a:ea typeface="Calibri" pitchFamily="34" charset="-122"/>
                <a:cs typeface="Calibri" pitchFamily="34" charset="-120"/>
              </a:rPr>
              <a:t>Problem:</a:t>
            </a: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Valid event poster uploads were being blocked with 403 errors from WAF.</a:t>
            </a:r>
            <a:endParaRPr lang="en-US" sz="900" dirty="0"/>
          </a:p>
          <a:p>
            <a:pPr indent="0" marL="0">
              <a:buNone/>
            </a:pP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Root Cause:</a:t>
            </a: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SizeRestrictions_BODY rule was set to BLOCK mode. Multipart image uploads exceeded the default body size limit.</a:t>
            </a:r>
            <a:endParaRPr lang="en-US" sz="900" dirty="0"/>
          </a:p>
          <a:p>
            <a:pPr indent="0" marL="0">
              <a:buNone/>
            </a:pP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Diagnosis:</a:t>
            </a: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CloudWatch WAF logs showed the rule was triggering on all POST /events requests with images.</a:t>
            </a:r>
            <a:endParaRPr lang="en-US" sz="900" dirty="0"/>
          </a:p>
          <a:p>
            <a:pPr indent="0" marL="0">
              <a:buNone/>
            </a:pP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Fix:</a:t>
            </a: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Changed SizeRestrictions_BODY action from BLOCK → COUNT. This logs violations without rejecting requests, allowing uploads to proceed.</a:t>
            </a:r>
            <a:endParaRPr lang="en-US" sz="900" dirty="0"/>
          </a:p>
          <a:p>
            <a:pPr indent="0" marL="0">
              <a:buNone/>
            </a:pP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Lesson:</a:t>
            </a:r>
            <a:endParaRPr lang="en-US" sz="900" dirty="0"/>
          </a:p>
          <a:p>
            <a:pPr indent="0" marL="0">
              <a:buNone/>
            </a:pPr>
            <a:r>
              <a:rPr lang="en-US" sz="900" dirty="0">
                <a:solidFill>
                  <a:srgbClr val="1C1917"/>
                </a:solidFill>
                <a:latin typeface="Calibri" pitchFamily="34" charset="0"/>
                <a:ea typeface="Calibri" pitchFamily="34" charset="-122"/>
                <a:cs typeface="Calibri" pitchFamily="34" charset="-120"/>
              </a:rPr>
              <a:t>Always test WAF rules in COUNT mode first before switching to BLOCK in production.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AWS CloudTrail  —  Auditing &amp; Compliance</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Text 2"/>
          <p:cNvSpPr/>
          <p:nvPr/>
        </p:nvSpPr>
        <p:spPr>
          <a:xfrm>
            <a:off x="457200" y="960120"/>
            <a:ext cx="8229600" cy="320040"/>
          </a:xfrm>
          <a:prstGeom prst="rect">
            <a:avLst/>
          </a:prstGeom>
          <a:noFill/>
          <a:ln/>
        </p:spPr>
        <p:txBody>
          <a:bodyPr wrap="square" lIns="0" tIns="0" rIns="0" bIns="0" rtlCol="0" anchor="ctr"/>
          <a:lstStyle/>
          <a:p>
            <a:pPr algn="l" indent="0" marL="0">
              <a:buNone/>
            </a:pPr>
            <a:r>
              <a:rPr lang="en-US" sz="1200" dirty="0">
                <a:solidFill>
                  <a:srgbClr val="93C5FD"/>
                </a:solidFill>
                <a:latin typeface="Calibri" pitchFamily="34" charset="0"/>
                <a:ea typeface="Calibri" pitchFamily="34" charset="-122"/>
                <a:cs typeface="Calibri" pitchFamily="34" charset="-120"/>
              </a:rPr>
              <a:t>Complete audit trail of all AWS API calls — who did what, when, from where</a:t>
            </a:r>
            <a:endParaRPr lang="en-US" sz="1200" dirty="0"/>
          </a:p>
        </p:txBody>
      </p:sp>
      <p:sp>
        <p:nvSpPr>
          <p:cNvPr id="5" name="Shape 3"/>
          <p:cNvSpPr/>
          <p:nvPr/>
        </p:nvSpPr>
        <p:spPr>
          <a:xfrm>
            <a:off x="365760" y="1371600"/>
            <a:ext cx="4023360" cy="475488"/>
          </a:xfrm>
          <a:prstGeom prst="roundRect">
            <a:avLst>
              <a:gd name="adj" fmla="val 13462"/>
            </a:avLst>
          </a:prstGeom>
          <a:solidFill>
            <a:srgbClr val="DC2626">
              <a:alpha val="60000"/>
            </a:srgbClr>
          </a:solidFill>
          <a:ln w="10160">
            <a:solidFill>
              <a:srgbClr val="DC2626"/>
            </a:solidFill>
            <a:prstDash val="solid"/>
          </a:ln>
        </p:spPr>
      </p:sp>
      <p:sp>
        <p:nvSpPr>
          <p:cNvPr id="6" name="Text 4"/>
          <p:cNvSpPr/>
          <p:nvPr/>
        </p:nvSpPr>
        <p:spPr>
          <a:xfrm>
            <a:off x="502920" y="1408176"/>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deleted the S3 bucket?</a:t>
            </a:r>
            <a:endParaRPr lang="en-US" sz="1100" dirty="0"/>
          </a:p>
        </p:txBody>
      </p:sp>
      <p:sp>
        <p:nvSpPr>
          <p:cNvPr id="7" name="Shape 5"/>
          <p:cNvSpPr/>
          <p:nvPr/>
        </p:nvSpPr>
        <p:spPr>
          <a:xfrm>
            <a:off x="365760" y="1956816"/>
            <a:ext cx="4023360" cy="475488"/>
          </a:xfrm>
          <a:prstGeom prst="roundRect">
            <a:avLst>
              <a:gd name="adj" fmla="val 13462"/>
            </a:avLst>
          </a:prstGeom>
          <a:solidFill>
            <a:srgbClr val="B45309">
              <a:alpha val="60000"/>
            </a:srgbClr>
          </a:solidFill>
          <a:ln w="10160">
            <a:solidFill>
              <a:srgbClr val="B45309"/>
            </a:solidFill>
            <a:prstDash val="solid"/>
          </a:ln>
        </p:spPr>
      </p:sp>
      <p:sp>
        <p:nvSpPr>
          <p:cNvPr id="8" name="Text 6"/>
          <p:cNvSpPr/>
          <p:nvPr/>
        </p:nvSpPr>
        <p:spPr>
          <a:xfrm>
            <a:off x="502920" y="1993392"/>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modified the WAF rules?</a:t>
            </a:r>
            <a:endParaRPr lang="en-US" sz="1100" dirty="0"/>
          </a:p>
        </p:txBody>
      </p:sp>
      <p:sp>
        <p:nvSpPr>
          <p:cNvPr id="9" name="Shape 7"/>
          <p:cNvSpPr/>
          <p:nvPr/>
        </p:nvSpPr>
        <p:spPr>
          <a:xfrm>
            <a:off x="365760" y="2542032"/>
            <a:ext cx="4023360" cy="475488"/>
          </a:xfrm>
          <a:prstGeom prst="roundRect">
            <a:avLst>
              <a:gd name="adj" fmla="val 13462"/>
            </a:avLst>
          </a:prstGeom>
          <a:solidFill>
            <a:srgbClr val="7C3AED">
              <a:alpha val="60000"/>
            </a:srgbClr>
          </a:solidFill>
          <a:ln w="10160">
            <a:solidFill>
              <a:srgbClr val="7C3AED"/>
            </a:solidFill>
            <a:prstDash val="solid"/>
          </a:ln>
        </p:spPr>
      </p:sp>
      <p:sp>
        <p:nvSpPr>
          <p:cNvPr id="10" name="Text 8"/>
          <p:cNvSpPr/>
          <p:nvPr/>
        </p:nvSpPr>
        <p:spPr>
          <a:xfrm>
            <a:off x="502920" y="2578608"/>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changed IAM permissions?</a:t>
            </a:r>
            <a:endParaRPr lang="en-US" sz="1100" dirty="0"/>
          </a:p>
        </p:txBody>
      </p:sp>
      <p:sp>
        <p:nvSpPr>
          <p:cNvPr id="11" name="Shape 9"/>
          <p:cNvSpPr/>
          <p:nvPr/>
        </p:nvSpPr>
        <p:spPr>
          <a:xfrm>
            <a:off x="365760" y="3127248"/>
            <a:ext cx="4023360" cy="475488"/>
          </a:xfrm>
          <a:prstGeom prst="roundRect">
            <a:avLst>
              <a:gd name="adj" fmla="val 13462"/>
            </a:avLst>
          </a:prstGeom>
          <a:solidFill>
            <a:srgbClr val="0369A1">
              <a:alpha val="60000"/>
            </a:srgbClr>
          </a:solidFill>
          <a:ln w="10160">
            <a:solidFill>
              <a:srgbClr val="0369A1"/>
            </a:solidFill>
            <a:prstDash val="solid"/>
          </a:ln>
        </p:spPr>
      </p:sp>
      <p:sp>
        <p:nvSpPr>
          <p:cNvPr id="12" name="Text 10"/>
          <p:cNvSpPr/>
          <p:nvPr/>
        </p:nvSpPr>
        <p:spPr>
          <a:xfrm>
            <a:off x="502920" y="3163824"/>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launched new EC2 instances?</a:t>
            </a:r>
            <a:endParaRPr lang="en-US" sz="1100" dirty="0"/>
          </a:p>
        </p:txBody>
      </p:sp>
      <p:sp>
        <p:nvSpPr>
          <p:cNvPr id="13" name="Shape 11"/>
          <p:cNvSpPr/>
          <p:nvPr/>
        </p:nvSpPr>
        <p:spPr>
          <a:xfrm>
            <a:off x="365760" y="3712464"/>
            <a:ext cx="4023360" cy="475488"/>
          </a:xfrm>
          <a:prstGeom prst="roundRect">
            <a:avLst>
              <a:gd name="adj" fmla="val 13462"/>
            </a:avLst>
          </a:prstGeom>
          <a:solidFill>
            <a:srgbClr val="065F46">
              <a:alpha val="60000"/>
            </a:srgbClr>
          </a:solidFill>
          <a:ln w="10160">
            <a:solidFill>
              <a:srgbClr val="065F46"/>
            </a:solidFill>
            <a:prstDash val="solid"/>
          </a:ln>
        </p:spPr>
      </p:sp>
      <p:sp>
        <p:nvSpPr>
          <p:cNvPr id="14" name="Text 12"/>
          <p:cNvSpPr/>
          <p:nvPr/>
        </p:nvSpPr>
        <p:spPr>
          <a:xfrm>
            <a:off x="502920" y="3749040"/>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accessed Secrets Manager?</a:t>
            </a:r>
            <a:endParaRPr lang="en-US" sz="1100" dirty="0"/>
          </a:p>
        </p:txBody>
      </p:sp>
      <p:sp>
        <p:nvSpPr>
          <p:cNvPr id="15" name="Shape 13"/>
          <p:cNvSpPr/>
          <p:nvPr/>
        </p:nvSpPr>
        <p:spPr>
          <a:xfrm>
            <a:off x="365760" y="4297680"/>
            <a:ext cx="4023360" cy="475488"/>
          </a:xfrm>
          <a:prstGeom prst="roundRect">
            <a:avLst>
              <a:gd name="adj" fmla="val 13462"/>
            </a:avLst>
          </a:prstGeom>
          <a:solidFill>
            <a:srgbClr val="B91C1C">
              <a:alpha val="60000"/>
            </a:srgbClr>
          </a:solidFill>
          <a:ln w="10160">
            <a:solidFill>
              <a:srgbClr val="B91C1C"/>
            </a:solidFill>
            <a:prstDash val="solid"/>
          </a:ln>
        </p:spPr>
      </p:sp>
      <p:sp>
        <p:nvSpPr>
          <p:cNvPr id="16" name="Text 14"/>
          <p:cNvSpPr/>
          <p:nvPr/>
        </p:nvSpPr>
        <p:spPr>
          <a:xfrm>
            <a:off x="502920" y="4334256"/>
            <a:ext cx="3749040" cy="3931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Who modified the Security Group?</a:t>
            </a:r>
            <a:endParaRPr lang="en-US" sz="1100" dirty="0"/>
          </a:p>
        </p:txBody>
      </p:sp>
      <p:sp>
        <p:nvSpPr>
          <p:cNvPr id="17" name="Shape 15"/>
          <p:cNvSpPr/>
          <p:nvPr/>
        </p:nvSpPr>
        <p:spPr>
          <a:xfrm>
            <a:off x="4663440" y="1417320"/>
            <a:ext cx="4114800" cy="804672"/>
          </a:xfrm>
          <a:prstGeom prst="roundRect">
            <a:avLst>
              <a:gd name="adj" fmla="val 9091"/>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8" name="Text 16"/>
          <p:cNvSpPr/>
          <p:nvPr/>
        </p:nvSpPr>
        <p:spPr>
          <a:xfrm>
            <a:off x="4663440" y="1417320"/>
            <a:ext cx="4114800" cy="804672"/>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CloudTrail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All Regions</a:t>
            </a:r>
            <a:endParaRPr lang="en-US" sz="1100" dirty="0"/>
          </a:p>
        </p:txBody>
      </p:sp>
      <p:sp>
        <p:nvSpPr>
          <p:cNvPr id="19" name="Shape 17"/>
          <p:cNvSpPr/>
          <p:nvPr/>
        </p:nvSpPr>
        <p:spPr>
          <a:xfrm>
            <a:off x="6693408" y="2212848"/>
            <a:ext cx="0" cy="228600"/>
          </a:xfrm>
          <a:prstGeom prst="line">
            <a:avLst/>
          </a:prstGeom>
          <a:noFill/>
          <a:ln w="25400">
            <a:solidFill>
              <a:srgbClr val="FF9900"/>
            </a:solidFill>
            <a:prstDash val="solid"/>
          </a:ln>
        </p:spPr>
      </p:sp>
      <p:sp>
        <p:nvSpPr>
          <p:cNvPr id="20" name="Shape 18"/>
          <p:cNvSpPr/>
          <p:nvPr/>
        </p:nvSpPr>
        <p:spPr>
          <a:xfrm>
            <a:off x="6638544" y="2414016"/>
            <a:ext cx="109728" cy="73152"/>
          </a:xfrm>
          <a:prstGeom prst="rect">
            <a:avLst/>
          </a:prstGeom>
          <a:solidFill>
            <a:srgbClr val="FF9900"/>
          </a:solidFill>
          <a:ln/>
        </p:spPr>
      </p:sp>
      <p:sp>
        <p:nvSpPr>
          <p:cNvPr id="21" name="Shape 19"/>
          <p:cNvSpPr/>
          <p:nvPr/>
        </p:nvSpPr>
        <p:spPr>
          <a:xfrm>
            <a:off x="4663440" y="2587752"/>
            <a:ext cx="4114800" cy="804672"/>
          </a:xfrm>
          <a:prstGeom prst="roundRect">
            <a:avLst>
              <a:gd name="adj" fmla="val 9091"/>
            </a:avLst>
          </a:prstGeom>
          <a:solidFill>
            <a:srgbClr val="1A3A6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2" name="Text 20"/>
          <p:cNvSpPr/>
          <p:nvPr/>
        </p:nvSpPr>
        <p:spPr>
          <a:xfrm>
            <a:off x="4663440" y="2587752"/>
            <a:ext cx="4114800" cy="804672"/>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S3 Bucket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Log Archive (encrypted)</a:t>
            </a:r>
            <a:endParaRPr lang="en-US" sz="1100" dirty="0"/>
          </a:p>
        </p:txBody>
      </p:sp>
      <p:sp>
        <p:nvSpPr>
          <p:cNvPr id="23" name="Shape 21"/>
          <p:cNvSpPr/>
          <p:nvPr/>
        </p:nvSpPr>
        <p:spPr>
          <a:xfrm>
            <a:off x="6693408" y="3383280"/>
            <a:ext cx="0" cy="228600"/>
          </a:xfrm>
          <a:prstGeom prst="line">
            <a:avLst/>
          </a:prstGeom>
          <a:noFill/>
          <a:ln w="25400">
            <a:solidFill>
              <a:srgbClr val="FF9900"/>
            </a:solidFill>
            <a:prstDash val="solid"/>
          </a:ln>
        </p:spPr>
      </p:sp>
      <p:sp>
        <p:nvSpPr>
          <p:cNvPr id="24" name="Shape 22"/>
          <p:cNvSpPr/>
          <p:nvPr/>
        </p:nvSpPr>
        <p:spPr>
          <a:xfrm>
            <a:off x="6638544" y="3584448"/>
            <a:ext cx="109728" cy="73152"/>
          </a:xfrm>
          <a:prstGeom prst="rect">
            <a:avLst/>
          </a:prstGeom>
          <a:solidFill>
            <a:srgbClr val="FF9900"/>
          </a:solidFill>
          <a:ln/>
        </p:spPr>
      </p:sp>
      <p:sp>
        <p:nvSpPr>
          <p:cNvPr id="25" name="Shape 23"/>
          <p:cNvSpPr/>
          <p:nvPr/>
        </p:nvSpPr>
        <p:spPr>
          <a:xfrm>
            <a:off x="4663440" y="3758184"/>
            <a:ext cx="4114800" cy="804672"/>
          </a:xfrm>
          <a:prstGeom prst="roundRect">
            <a:avLst>
              <a:gd name="adj" fmla="val 9091"/>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6" name="Text 24"/>
          <p:cNvSpPr/>
          <p:nvPr/>
        </p:nvSpPr>
        <p:spPr>
          <a:xfrm>
            <a:off x="4663440" y="3758184"/>
            <a:ext cx="4114800" cy="804672"/>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CloudWatch Logs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Real-time filtering</a:t>
            </a:r>
            <a:endParaRPr lang="en-US" sz="1100" dirty="0"/>
          </a:p>
        </p:txBody>
      </p:sp>
      <p:sp>
        <p:nvSpPr>
          <p:cNvPr id="27" name="Shape 25"/>
          <p:cNvSpPr/>
          <p:nvPr/>
        </p:nvSpPr>
        <p:spPr>
          <a:xfrm>
            <a:off x="4663440" y="4206240"/>
            <a:ext cx="4114800" cy="685800"/>
          </a:xfrm>
          <a:prstGeom prst="roundRect">
            <a:avLst>
              <a:gd name="adj" fmla="val 10667"/>
            </a:avLst>
          </a:prstGeom>
          <a:solidFill>
            <a:srgbClr val="1A3A6B"/>
          </a:solidFill>
          <a:ln w="12700">
            <a:solidFill>
              <a:srgbClr val="FF9900"/>
            </a:solidFill>
            <a:prstDash val="solid"/>
          </a:ln>
        </p:spPr>
      </p:sp>
      <p:sp>
        <p:nvSpPr>
          <p:cNvPr id="28" name="Text 26"/>
          <p:cNvSpPr/>
          <p:nvPr/>
        </p:nvSpPr>
        <p:spPr>
          <a:xfrm>
            <a:off x="4754880" y="4251960"/>
            <a:ext cx="3931920" cy="594360"/>
          </a:xfrm>
          <a:prstGeom prst="rect">
            <a:avLst/>
          </a:prstGeom>
          <a:noFill/>
          <a:ln/>
        </p:spPr>
        <p:txBody>
          <a:bodyPr wrap="square" lIns="50800" tIns="50800" rIns="50800" bIns="50800" rtlCol="0" anchor="ctr"/>
          <a:lstStyle/>
          <a:p>
            <a:pPr algn="ctr" indent="0" marL="0">
              <a:buNone/>
            </a:pPr>
            <a:r>
              <a:rPr lang="en-US" sz="950" dirty="0">
                <a:solidFill>
                  <a:srgbClr val="FF9900"/>
                </a:solidFill>
                <a:latin typeface="Calibri" pitchFamily="34" charset="0"/>
                <a:ea typeface="Calibri" pitchFamily="34" charset="-122"/>
                <a:cs typeface="Calibri" pitchFamily="34" charset="-120"/>
              </a:rPr>
              <a:t>90-day default retention  |  Immutable S3 log storage  |  Athena queryable  |  Meets SOC2 / PCI-DSS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Terraform Remote State</a:t>
            </a:r>
            <a:endParaRPr lang="en-US" sz="2800" dirty="0"/>
          </a:p>
        </p:txBody>
      </p:sp>
      <p:sp>
        <p:nvSpPr>
          <p:cNvPr id="4" name="Shape 2"/>
          <p:cNvSpPr/>
          <p:nvPr/>
        </p:nvSpPr>
        <p:spPr>
          <a:xfrm>
            <a:off x="365760" y="960120"/>
            <a:ext cx="3840480" cy="2103120"/>
          </a:xfrm>
          <a:prstGeom prst="roundRect">
            <a:avLst>
              <a:gd name="adj" fmla="val 4348"/>
            </a:avLst>
          </a:prstGeom>
          <a:solidFill>
            <a:srgbClr val="FEF2F2"/>
          </a:solidFill>
          <a:ln w="25400">
            <a:solidFill>
              <a:srgbClr val="DC2626"/>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548640" y="1051560"/>
            <a:ext cx="3474720" cy="384048"/>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  The Problem</a:t>
            </a:r>
            <a:endParaRPr lang="en-US" sz="1500" dirty="0"/>
          </a:p>
        </p:txBody>
      </p:sp>
      <p:sp>
        <p:nvSpPr>
          <p:cNvPr id="6" name="Text 4"/>
          <p:cNvSpPr/>
          <p:nvPr/>
        </p:nvSpPr>
        <p:spPr>
          <a:xfrm>
            <a:off x="548640" y="1481328"/>
            <a:ext cx="3474720" cy="1463040"/>
          </a:xfrm>
          <a:prstGeom prst="rect">
            <a:avLst/>
          </a:prstGeom>
          <a:noFill/>
          <a:ln/>
        </p:spPr>
        <p:txBody>
          <a:bodyPr wrap="square" lIns="50800" tIns="50800" rIns="50800" bIns="5080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terraform.tfstate stored locally on laptop</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State lost if machine crashes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Multiple engineers can't collaborate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No locking = concurrent applies corrupt state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Accidental delete = infrastructure orphaned</a:t>
            </a:r>
            <a:endParaRPr lang="en-US" sz="1100" dirty="0"/>
          </a:p>
        </p:txBody>
      </p:sp>
      <p:sp>
        <p:nvSpPr>
          <p:cNvPr id="7" name="Shape 5"/>
          <p:cNvSpPr/>
          <p:nvPr/>
        </p:nvSpPr>
        <p:spPr>
          <a:xfrm>
            <a:off x="4480560" y="960120"/>
            <a:ext cx="4297680" cy="2103120"/>
          </a:xfrm>
          <a:prstGeom prst="roundRect">
            <a:avLst>
              <a:gd name="adj" fmla="val 4348"/>
            </a:avLst>
          </a:prstGeom>
          <a:solidFill>
            <a:srgbClr val="F0FDF4"/>
          </a:solidFill>
          <a:ln w="25400">
            <a:solidFill>
              <a:srgbClr val="059669"/>
            </a:solidFill>
            <a:prstDash val="solid"/>
          </a:ln>
          <a:effectLst>
            <a:outerShdw sx="100000" sy="100000" kx="0" ky="0" algn="bl" rotWithShape="0" blurRad="127000" dist="25400" dir="2700000">
              <a:srgbClr val="000000">
                <a:alpha val="10000"/>
              </a:srgbClr>
            </a:outerShdw>
          </a:effectLst>
        </p:spPr>
      </p:sp>
      <p:sp>
        <p:nvSpPr>
          <p:cNvPr id="8" name="Text 6"/>
          <p:cNvSpPr/>
          <p:nvPr/>
        </p:nvSpPr>
        <p:spPr>
          <a:xfrm>
            <a:off x="4663440" y="1051560"/>
            <a:ext cx="3931920" cy="384048"/>
          </a:xfrm>
          <a:prstGeom prst="rect">
            <a:avLst/>
          </a:prstGeom>
          <a:noFill/>
          <a:ln/>
        </p:spPr>
        <p:txBody>
          <a:bodyPr wrap="square" lIns="0" tIns="0" rIns="0" bIns="0" rtlCol="0" anchor="ctr"/>
          <a:lstStyle/>
          <a:p>
            <a:pPr indent="0" marL="0">
              <a:buNone/>
            </a:pPr>
            <a:r>
              <a:rPr lang="en-US" sz="1500" b="1" dirty="0">
                <a:solidFill>
                  <a:srgbClr val="065F46"/>
                </a:solidFill>
                <a:latin typeface="Calibri" pitchFamily="34" charset="0"/>
                <a:ea typeface="Calibri" pitchFamily="34" charset="-122"/>
                <a:cs typeface="Calibri" pitchFamily="34" charset="-120"/>
              </a:rPr>
              <a:t>✅  The Solution</a:t>
            </a:r>
            <a:endParaRPr lang="en-US" sz="1500" dirty="0"/>
          </a:p>
        </p:txBody>
      </p:sp>
      <p:sp>
        <p:nvSpPr>
          <p:cNvPr id="9" name="Text 7"/>
          <p:cNvSpPr/>
          <p:nvPr/>
        </p:nvSpPr>
        <p:spPr>
          <a:xfrm>
            <a:off x="4663440" y="1481328"/>
            <a:ext cx="3931920" cy="1463040"/>
          </a:xfrm>
          <a:prstGeom prst="rect">
            <a:avLst/>
          </a:prstGeom>
          <a:noFill/>
          <a:ln/>
        </p:spPr>
        <p:txBody>
          <a:bodyPr wrap="square" lIns="50800" tIns="50800" rIns="50800" bIns="5080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S3 Backend: state stored in S3 with versioning</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DynamoDB Lock: prevents concurrent applies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State encrypted at rest in S3</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Team members share same state file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Version history enables state recovery</a:t>
            </a:r>
            <a:endParaRPr lang="en-US" sz="1100" dirty="0"/>
          </a:p>
        </p:txBody>
      </p:sp>
      <p:sp>
        <p:nvSpPr>
          <p:cNvPr id="10" name="Shape 8"/>
          <p:cNvSpPr/>
          <p:nvPr/>
        </p:nvSpPr>
        <p:spPr>
          <a:xfrm>
            <a:off x="365760" y="3246120"/>
            <a:ext cx="1920240" cy="502920"/>
          </a:xfrm>
          <a:prstGeom prst="roundRect">
            <a:avLst>
              <a:gd name="adj" fmla="val 14545"/>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1" name="Text 9"/>
          <p:cNvSpPr/>
          <p:nvPr/>
        </p:nvSpPr>
        <p:spPr>
          <a:xfrm>
            <a:off x="365760" y="3246120"/>
            <a:ext cx="1920240" cy="50292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terraform apply</a:t>
            </a:r>
            <a:endParaRPr lang="en-US" sz="1100" dirty="0"/>
          </a:p>
        </p:txBody>
      </p:sp>
      <p:sp>
        <p:nvSpPr>
          <p:cNvPr id="12" name="Shape 10"/>
          <p:cNvSpPr/>
          <p:nvPr/>
        </p:nvSpPr>
        <p:spPr>
          <a:xfrm>
            <a:off x="2286000" y="3493008"/>
            <a:ext cx="365760" cy="0"/>
          </a:xfrm>
          <a:prstGeom prst="line">
            <a:avLst/>
          </a:prstGeom>
          <a:noFill/>
          <a:ln w="25400">
            <a:solidFill>
              <a:srgbClr val="2563EB"/>
            </a:solidFill>
            <a:prstDash val="solid"/>
          </a:ln>
        </p:spPr>
      </p:sp>
      <p:sp>
        <p:nvSpPr>
          <p:cNvPr id="13" name="Shape 11"/>
          <p:cNvSpPr/>
          <p:nvPr/>
        </p:nvSpPr>
        <p:spPr>
          <a:xfrm>
            <a:off x="2651760" y="3246120"/>
            <a:ext cx="1828800" cy="502920"/>
          </a:xfrm>
          <a:prstGeom prst="roundRect">
            <a:avLst>
              <a:gd name="adj" fmla="val 14545"/>
            </a:avLst>
          </a:prstGeom>
          <a:solidFill>
            <a:srgbClr val="0D2149"/>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4" name="Text 12"/>
          <p:cNvSpPr/>
          <p:nvPr/>
        </p:nvSpPr>
        <p:spPr>
          <a:xfrm>
            <a:off x="2651760" y="3246120"/>
            <a:ext cx="1828800" cy="50292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S3 Backend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Remote State</a:t>
            </a:r>
            <a:endParaRPr lang="en-US" sz="1000" dirty="0"/>
          </a:p>
        </p:txBody>
      </p:sp>
      <p:sp>
        <p:nvSpPr>
          <p:cNvPr id="15" name="Shape 13"/>
          <p:cNvSpPr/>
          <p:nvPr/>
        </p:nvSpPr>
        <p:spPr>
          <a:xfrm>
            <a:off x="4480560" y="3493008"/>
            <a:ext cx="365760" cy="0"/>
          </a:xfrm>
          <a:prstGeom prst="line">
            <a:avLst/>
          </a:prstGeom>
          <a:noFill/>
          <a:ln w="25400">
            <a:solidFill>
              <a:srgbClr val="2563EB"/>
            </a:solidFill>
            <a:prstDash val="solid"/>
          </a:ln>
        </p:spPr>
      </p:sp>
      <p:sp>
        <p:nvSpPr>
          <p:cNvPr id="16" name="Shape 14"/>
          <p:cNvSpPr/>
          <p:nvPr/>
        </p:nvSpPr>
        <p:spPr>
          <a:xfrm>
            <a:off x="4846320" y="3246120"/>
            <a:ext cx="1828800" cy="502920"/>
          </a:xfrm>
          <a:prstGeom prst="roundRect">
            <a:avLst>
              <a:gd name="adj" fmla="val 14545"/>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4846320" y="3246120"/>
            <a:ext cx="1828800" cy="50292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DynamoDB</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State Lock</a:t>
            </a:r>
            <a:endParaRPr lang="en-US" sz="1000" dirty="0"/>
          </a:p>
        </p:txBody>
      </p:sp>
      <p:sp>
        <p:nvSpPr>
          <p:cNvPr id="18" name="Shape 16"/>
          <p:cNvSpPr/>
          <p:nvPr/>
        </p:nvSpPr>
        <p:spPr>
          <a:xfrm>
            <a:off x="365760" y="4023360"/>
            <a:ext cx="1920240" cy="777240"/>
          </a:xfrm>
          <a:prstGeom prst="roundRect">
            <a:avLst>
              <a:gd name="adj" fmla="val 8235"/>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19" name="Text 17"/>
          <p:cNvSpPr/>
          <p:nvPr/>
        </p:nvSpPr>
        <p:spPr>
          <a:xfrm>
            <a:off x="457200" y="4096512"/>
            <a:ext cx="1737360" cy="256032"/>
          </a:xfrm>
          <a:prstGeom prst="rect">
            <a:avLst/>
          </a:prstGeom>
          <a:noFill/>
          <a:ln/>
        </p:spPr>
        <p:txBody>
          <a:bodyPr wrap="square" lIns="0" tIns="0" rIns="0" bIns="0" rtlCol="0" anchor="ctr"/>
          <a:lstStyle/>
          <a:p>
            <a:pPr algn="ctr" indent="0" marL="0">
              <a:buNone/>
            </a:pPr>
            <a:r>
              <a:rPr lang="en-US" sz="1050" b="1" dirty="0">
                <a:solidFill>
                  <a:srgbClr val="0D2149"/>
                </a:solidFill>
                <a:latin typeface="Calibri" pitchFamily="34" charset="0"/>
                <a:ea typeface="Calibri" pitchFamily="34" charset="-122"/>
                <a:cs typeface="Calibri" pitchFamily="34" charset="-120"/>
              </a:rPr>
              <a:t>Team Collaboration</a:t>
            </a:r>
            <a:endParaRPr lang="en-US" sz="1050" dirty="0"/>
          </a:p>
        </p:txBody>
      </p:sp>
      <p:sp>
        <p:nvSpPr>
          <p:cNvPr id="20" name="Text 18"/>
          <p:cNvSpPr/>
          <p:nvPr/>
        </p:nvSpPr>
        <p:spPr>
          <a:xfrm>
            <a:off x="457200" y="4352544"/>
            <a:ext cx="1737360" cy="347472"/>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Multiple devs work safely</a:t>
            </a:r>
            <a:endParaRPr lang="en-US" sz="950" dirty="0"/>
          </a:p>
        </p:txBody>
      </p:sp>
      <p:sp>
        <p:nvSpPr>
          <p:cNvPr id="21" name="Shape 19"/>
          <p:cNvSpPr/>
          <p:nvPr/>
        </p:nvSpPr>
        <p:spPr>
          <a:xfrm>
            <a:off x="2514600" y="4023360"/>
            <a:ext cx="1920240" cy="777240"/>
          </a:xfrm>
          <a:prstGeom prst="roundRect">
            <a:avLst>
              <a:gd name="adj" fmla="val 8235"/>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2" name="Text 20"/>
          <p:cNvSpPr/>
          <p:nvPr/>
        </p:nvSpPr>
        <p:spPr>
          <a:xfrm>
            <a:off x="2606040" y="4096512"/>
            <a:ext cx="1737360" cy="256032"/>
          </a:xfrm>
          <a:prstGeom prst="rect">
            <a:avLst/>
          </a:prstGeom>
          <a:noFill/>
          <a:ln/>
        </p:spPr>
        <p:txBody>
          <a:bodyPr wrap="square" lIns="0" tIns="0" rIns="0" bIns="0" rtlCol="0" anchor="ctr"/>
          <a:lstStyle/>
          <a:p>
            <a:pPr algn="ctr" indent="0" marL="0">
              <a:buNone/>
            </a:pPr>
            <a:r>
              <a:rPr lang="en-US" sz="1050" b="1" dirty="0">
                <a:solidFill>
                  <a:srgbClr val="0D2149"/>
                </a:solidFill>
                <a:latin typeface="Calibri" pitchFamily="34" charset="0"/>
                <a:ea typeface="Calibri" pitchFamily="34" charset="-122"/>
                <a:cs typeface="Calibri" pitchFamily="34" charset="-120"/>
              </a:rPr>
              <a:t>Disaster Recovery</a:t>
            </a:r>
            <a:endParaRPr lang="en-US" sz="1050" dirty="0"/>
          </a:p>
        </p:txBody>
      </p:sp>
      <p:sp>
        <p:nvSpPr>
          <p:cNvPr id="23" name="Text 21"/>
          <p:cNvSpPr/>
          <p:nvPr/>
        </p:nvSpPr>
        <p:spPr>
          <a:xfrm>
            <a:off x="2606040" y="4352544"/>
            <a:ext cx="1737360" cy="347472"/>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S3 versioning for rollback</a:t>
            </a:r>
            <a:endParaRPr lang="en-US" sz="950" dirty="0"/>
          </a:p>
        </p:txBody>
      </p:sp>
      <p:sp>
        <p:nvSpPr>
          <p:cNvPr id="24" name="Shape 22"/>
          <p:cNvSpPr/>
          <p:nvPr/>
        </p:nvSpPr>
        <p:spPr>
          <a:xfrm>
            <a:off x="4663440" y="4023360"/>
            <a:ext cx="1920240" cy="777240"/>
          </a:xfrm>
          <a:prstGeom prst="roundRect">
            <a:avLst>
              <a:gd name="adj" fmla="val 8235"/>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5" name="Text 23"/>
          <p:cNvSpPr/>
          <p:nvPr/>
        </p:nvSpPr>
        <p:spPr>
          <a:xfrm>
            <a:off x="4754880" y="4096512"/>
            <a:ext cx="1737360" cy="256032"/>
          </a:xfrm>
          <a:prstGeom prst="rect">
            <a:avLst/>
          </a:prstGeom>
          <a:noFill/>
          <a:ln/>
        </p:spPr>
        <p:txBody>
          <a:bodyPr wrap="square" lIns="0" tIns="0" rIns="0" bIns="0" rtlCol="0" anchor="ctr"/>
          <a:lstStyle/>
          <a:p>
            <a:pPr algn="ctr" indent="0" marL="0">
              <a:buNone/>
            </a:pPr>
            <a:r>
              <a:rPr lang="en-US" sz="1050" b="1" dirty="0">
                <a:solidFill>
                  <a:srgbClr val="0D2149"/>
                </a:solidFill>
                <a:latin typeface="Calibri" pitchFamily="34" charset="0"/>
                <a:ea typeface="Calibri" pitchFamily="34" charset="-122"/>
                <a:cs typeface="Calibri" pitchFamily="34" charset="-120"/>
              </a:rPr>
              <a:t>Audit Trail</a:t>
            </a:r>
            <a:endParaRPr lang="en-US" sz="1050" dirty="0"/>
          </a:p>
        </p:txBody>
      </p:sp>
      <p:sp>
        <p:nvSpPr>
          <p:cNvPr id="26" name="Text 24"/>
          <p:cNvSpPr/>
          <p:nvPr/>
        </p:nvSpPr>
        <p:spPr>
          <a:xfrm>
            <a:off x="4754880" y="4352544"/>
            <a:ext cx="1737360" cy="347472"/>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State change history</a:t>
            </a:r>
            <a:endParaRPr lang="en-US" sz="950" dirty="0"/>
          </a:p>
        </p:txBody>
      </p:sp>
      <p:sp>
        <p:nvSpPr>
          <p:cNvPr id="27" name="Shape 25"/>
          <p:cNvSpPr/>
          <p:nvPr/>
        </p:nvSpPr>
        <p:spPr>
          <a:xfrm>
            <a:off x="6812280" y="4023360"/>
            <a:ext cx="1920240" cy="777240"/>
          </a:xfrm>
          <a:prstGeom prst="roundRect">
            <a:avLst>
              <a:gd name="adj" fmla="val 8235"/>
            </a:avLst>
          </a:prstGeom>
          <a:solidFill>
            <a:srgbClr val="EFF6FF"/>
          </a:solidFill>
          <a:ln w="12700">
            <a:solidFill>
              <a:srgbClr val="2563EB"/>
            </a:solidFill>
            <a:prstDash val="solid"/>
          </a:ln>
          <a:effectLst>
            <a:outerShdw sx="100000" sy="100000" kx="0" ky="0" algn="bl" rotWithShape="0" blurRad="127000" dist="25400" dir="2700000">
              <a:srgbClr val="000000">
                <a:alpha val="10000"/>
              </a:srgbClr>
            </a:outerShdw>
          </a:effectLst>
        </p:spPr>
      </p:sp>
      <p:sp>
        <p:nvSpPr>
          <p:cNvPr id="28" name="Text 26"/>
          <p:cNvSpPr/>
          <p:nvPr/>
        </p:nvSpPr>
        <p:spPr>
          <a:xfrm>
            <a:off x="6903720" y="4096512"/>
            <a:ext cx="1737360" cy="256032"/>
          </a:xfrm>
          <a:prstGeom prst="rect">
            <a:avLst/>
          </a:prstGeom>
          <a:noFill/>
          <a:ln/>
        </p:spPr>
        <p:txBody>
          <a:bodyPr wrap="square" lIns="0" tIns="0" rIns="0" bIns="0" rtlCol="0" anchor="ctr"/>
          <a:lstStyle/>
          <a:p>
            <a:pPr algn="ctr" indent="0" marL="0">
              <a:buNone/>
            </a:pPr>
            <a:r>
              <a:rPr lang="en-US" sz="1050" b="1" dirty="0">
                <a:solidFill>
                  <a:srgbClr val="0D2149"/>
                </a:solidFill>
                <a:latin typeface="Calibri" pitchFamily="34" charset="0"/>
                <a:ea typeface="Calibri" pitchFamily="34" charset="-122"/>
                <a:cs typeface="Calibri" pitchFamily="34" charset="-120"/>
              </a:rPr>
              <a:t>CI/CD Ready</a:t>
            </a:r>
            <a:endParaRPr lang="en-US" sz="1050" dirty="0"/>
          </a:p>
        </p:txBody>
      </p:sp>
      <p:sp>
        <p:nvSpPr>
          <p:cNvPr id="29" name="Text 27"/>
          <p:cNvSpPr/>
          <p:nvPr/>
        </p:nvSpPr>
        <p:spPr>
          <a:xfrm>
            <a:off x="6903720" y="4352544"/>
            <a:ext cx="1737360" cy="347472"/>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Pipelines use same state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End-to-End Request Flow</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Text 2"/>
          <p:cNvSpPr/>
          <p:nvPr/>
        </p:nvSpPr>
        <p:spPr>
          <a:xfrm>
            <a:off x="457200" y="960120"/>
            <a:ext cx="8229600" cy="292608"/>
          </a:xfrm>
          <a:prstGeom prst="rect">
            <a:avLst/>
          </a:prstGeom>
          <a:noFill/>
          <a:ln/>
        </p:spPr>
        <p:txBody>
          <a:bodyPr wrap="square" lIns="0" tIns="0" rIns="0" bIns="0" rtlCol="0" anchor="ctr"/>
          <a:lstStyle/>
          <a:p>
            <a:pPr algn="l" indent="0" marL="0">
              <a:buNone/>
            </a:pPr>
            <a:r>
              <a:rPr lang="en-US" sz="1100" dirty="0">
                <a:solidFill>
                  <a:srgbClr val="93C5FD"/>
                </a:solidFill>
                <a:latin typeface="Calibri" pitchFamily="34" charset="0"/>
                <a:ea typeface="Calibri" pitchFamily="34" charset="-122"/>
                <a:cs typeface="Calibri" pitchFamily="34" charset="-120"/>
              </a:rPr>
              <a:t>Booking a ticket: complete request lifecycle</a:t>
            </a:r>
            <a:endParaRPr lang="en-US" sz="1100" dirty="0"/>
          </a:p>
        </p:txBody>
      </p:sp>
      <p:sp>
        <p:nvSpPr>
          <p:cNvPr id="5" name="Shape 3"/>
          <p:cNvSpPr/>
          <p:nvPr/>
        </p:nvSpPr>
        <p:spPr>
          <a:xfrm>
            <a:off x="320040" y="1371600"/>
            <a:ext cx="868680" cy="914400"/>
          </a:xfrm>
          <a:prstGeom prst="roundRect">
            <a:avLst>
              <a:gd name="adj" fmla="val 8421"/>
            </a:avLst>
          </a:prstGeom>
          <a:solidFill>
            <a:srgbClr val="0891B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6" name="Text 4"/>
          <p:cNvSpPr/>
          <p:nvPr/>
        </p:nvSpPr>
        <p:spPr>
          <a:xfrm>
            <a:off x="32004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User</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HTTPS request</a:t>
            </a:r>
            <a:endParaRPr lang="en-US" sz="800" dirty="0"/>
          </a:p>
        </p:txBody>
      </p:sp>
      <p:sp>
        <p:nvSpPr>
          <p:cNvPr id="7" name="Shape 5"/>
          <p:cNvSpPr/>
          <p:nvPr/>
        </p:nvSpPr>
        <p:spPr>
          <a:xfrm>
            <a:off x="1188720" y="1828800"/>
            <a:ext cx="91440" cy="0"/>
          </a:xfrm>
          <a:prstGeom prst="line">
            <a:avLst/>
          </a:prstGeom>
          <a:noFill/>
          <a:ln w="19050">
            <a:solidFill>
              <a:srgbClr val="FF9900"/>
            </a:solidFill>
            <a:prstDash val="solid"/>
          </a:ln>
        </p:spPr>
      </p:sp>
      <p:sp>
        <p:nvSpPr>
          <p:cNvPr id="8" name="Shape 6"/>
          <p:cNvSpPr/>
          <p:nvPr/>
        </p:nvSpPr>
        <p:spPr>
          <a:xfrm>
            <a:off x="1325880" y="1371600"/>
            <a:ext cx="868680" cy="914400"/>
          </a:xfrm>
          <a:prstGeom prst="roundRect">
            <a:avLst>
              <a:gd name="adj" fmla="val 8421"/>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132588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WAF</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Filter + Inspect</a:t>
            </a:r>
            <a:endParaRPr lang="en-US" sz="800" dirty="0"/>
          </a:p>
        </p:txBody>
      </p:sp>
      <p:sp>
        <p:nvSpPr>
          <p:cNvPr id="10" name="Shape 8"/>
          <p:cNvSpPr/>
          <p:nvPr/>
        </p:nvSpPr>
        <p:spPr>
          <a:xfrm>
            <a:off x="2194560" y="1828800"/>
            <a:ext cx="91440" cy="0"/>
          </a:xfrm>
          <a:prstGeom prst="line">
            <a:avLst/>
          </a:prstGeom>
          <a:noFill/>
          <a:ln w="19050">
            <a:solidFill>
              <a:srgbClr val="FF9900"/>
            </a:solidFill>
            <a:prstDash val="solid"/>
          </a:ln>
        </p:spPr>
      </p:sp>
      <p:sp>
        <p:nvSpPr>
          <p:cNvPr id="11" name="Shape 9"/>
          <p:cNvSpPr/>
          <p:nvPr/>
        </p:nvSpPr>
        <p:spPr>
          <a:xfrm>
            <a:off x="2331720" y="1371600"/>
            <a:ext cx="868680" cy="914400"/>
          </a:xfrm>
          <a:prstGeom prst="roundRect">
            <a:avLst>
              <a:gd name="adj" fmla="val 8421"/>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2" name="Text 10"/>
          <p:cNvSpPr/>
          <p:nvPr/>
        </p:nvSpPr>
        <p:spPr>
          <a:xfrm>
            <a:off x="233172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Public ALB</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TLS terminate</a:t>
            </a:r>
            <a:endParaRPr lang="en-US" sz="800" dirty="0"/>
          </a:p>
        </p:txBody>
      </p:sp>
      <p:sp>
        <p:nvSpPr>
          <p:cNvPr id="13" name="Shape 11"/>
          <p:cNvSpPr/>
          <p:nvPr/>
        </p:nvSpPr>
        <p:spPr>
          <a:xfrm>
            <a:off x="3200400" y="1828800"/>
            <a:ext cx="91440" cy="0"/>
          </a:xfrm>
          <a:prstGeom prst="line">
            <a:avLst/>
          </a:prstGeom>
          <a:noFill/>
          <a:ln w="19050">
            <a:solidFill>
              <a:srgbClr val="FF9900"/>
            </a:solidFill>
            <a:prstDash val="solid"/>
          </a:ln>
        </p:spPr>
      </p:sp>
      <p:sp>
        <p:nvSpPr>
          <p:cNvPr id="14" name="Shape 12"/>
          <p:cNvSpPr/>
          <p:nvPr/>
        </p:nvSpPr>
        <p:spPr>
          <a:xfrm>
            <a:off x="3337560" y="1371600"/>
            <a:ext cx="868680" cy="914400"/>
          </a:xfrm>
          <a:prstGeom prst="roundRect">
            <a:avLst>
              <a:gd name="adj" fmla="val 8421"/>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5" name="Text 13"/>
          <p:cNvSpPr/>
          <p:nvPr/>
        </p:nvSpPr>
        <p:spPr>
          <a:xfrm>
            <a:off x="333756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Frontend</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React app</a:t>
            </a:r>
            <a:endParaRPr lang="en-US" sz="800" dirty="0"/>
          </a:p>
        </p:txBody>
      </p:sp>
      <p:sp>
        <p:nvSpPr>
          <p:cNvPr id="16" name="Shape 14"/>
          <p:cNvSpPr/>
          <p:nvPr/>
        </p:nvSpPr>
        <p:spPr>
          <a:xfrm>
            <a:off x="4206240" y="1828800"/>
            <a:ext cx="91440" cy="0"/>
          </a:xfrm>
          <a:prstGeom prst="line">
            <a:avLst/>
          </a:prstGeom>
          <a:noFill/>
          <a:ln w="19050">
            <a:solidFill>
              <a:srgbClr val="FF9900"/>
            </a:solidFill>
            <a:prstDash val="solid"/>
          </a:ln>
        </p:spPr>
      </p:sp>
      <p:sp>
        <p:nvSpPr>
          <p:cNvPr id="17" name="Shape 15"/>
          <p:cNvSpPr/>
          <p:nvPr/>
        </p:nvSpPr>
        <p:spPr>
          <a:xfrm>
            <a:off x="4343400" y="1371600"/>
            <a:ext cx="868680" cy="914400"/>
          </a:xfrm>
          <a:prstGeom prst="roundRect">
            <a:avLst>
              <a:gd name="adj" fmla="val 8421"/>
            </a:avLst>
          </a:prstGeom>
          <a:solidFill>
            <a:srgbClr val="4338CA"/>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8" name="Text 16"/>
          <p:cNvSpPr/>
          <p:nvPr/>
        </p:nvSpPr>
        <p:spPr>
          <a:xfrm>
            <a:off x="434340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Private ALB</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Route /bookings</a:t>
            </a:r>
            <a:endParaRPr lang="en-US" sz="800" dirty="0"/>
          </a:p>
        </p:txBody>
      </p:sp>
      <p:sp>
        <p:nvSpPr>
          <p:cNvPr id="19" name="Shape 17"/>
          <p:cNvSpPr/>
          <p:nvPr/>
        </p:nvSpPr>
        <p:spPr>
          <a:xfrm>
            <a:off x="5212080" y="1828800"/>
            <a:ext cx="91440" cy="0"/>
          </a:xfrm>
          <a:prstGeom prst="line">
            <a:avLst/>
          </a:prstGeom>
          <a:noFill/>
          <a:ln w="19050">
            <a:solidFill>
              <a:srgbClr val="FF9900"/>
            </a:solidFill>
            <a:prstDash val="solid"/>
          </a:ln>
        </p:spPr>
      </p:sp>
      <p:sp>
        <p:nvSpPr>
          <p:cNvPr id="20" name="Shape 18"/>
          <p:cNvSpPr/>
          <p:nvPr/>
        </p:nvSpPr>
        <p:spPr>
          <a:xfrm>
            <a:off x="5349240" y="1371600"/>
            <a:ext cx="868680" cy="914400"/>
          </a:xfrm>
          <a:prstGeom prst="roundRect">
            <a:avLst>
              <a:gd name="adj" fmla="val 8421"/>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1" name="Text 19"/>
          <p:cNvSpPr/>
          <p:nvPr/>
        </p:nvSpPr>
        <p:spPr>
          <a:xfrm>
            <a:off x="534924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Booking Svc</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Business logic</a:t>
            </a:r>
            <a:endParaRPr lang="en-US" sz="800" dirty="0"/>
          </a:p>
        </p:txBody>
      </p:sp>
      <p:sp>
        <p:nvSpPr>
          <p:cNvPr id="22" name="Shape 20"/>
          <p:cNvSpPr/>
          <p:nvPr/>
        </p:nvSpPr>
        <p:spPr>
          <a:xfrm>
            <a:off x="6217920" y="1828800"/>
            <a:ext cx="91440" cy="0"/>
          </a:xfrm>
          <a:prstGeom prst="line">
            <a:avLst/>
          </a:prstGeom>
          <a:noFill/>
          <a:ln w="19050">
            <a:solidFill>
              <a:srgbClr val="FF9900"/>
            </a:solidFill>
            <a:prstDash val="solid"/>
          </a:ln>
        </p:spPr>
      </p:sp>
      <p:sp>
        <p:nvSpPr>
          <p:cNvPr id="23" name="Shape 21"/>
          <p:cNvSpPr/>
          <p:nvPr/>
        </p:nvSpPr>
        <p:spPr>
          <a:xfrm>
            <a:off x="6355080" y="1371600"/>
            <a:ext cx="868680" cy="914400"/>
          </a:xfrm>
          <a:prstGeom prst="roundRect">
            <a:avLst>
              <a:gd name="adj" fmla="val 8421"/>
            </a:avLst>
          </a:prstGeom>
          <a:solidFill>
            <a:srgbClr val="B45309"/>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4" name="Text 22"/>
          <p:cNvSpPr/>
          <p:nvPr/>
        </p:nvSpPr>
        <p:spPr>
          <a:xfrm>
            <a:off x="635508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Secrets Mgr</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DB credentials</a:t>
            </a:r>
            <a:endParaRPr lang="en-US" sz="800" dirty="0"/>
          </a:p>
        </p:txBody>
      </p:sp>
      <p:sp>
        <p:nvSpPr>
          <p:cNvPr id="25" name="Shape 23"/>
          <p:cNvSpPr/>
          <p:nvPr/>
        </p:nvSpPr>
        <p:spPr>
          <a:xfrm>
            <a:off x="7223760" y="1828800"/>
            <a:ext cx="91440" cy="0"/>
          </a:xfrm>
          <a:prstGeom prst="line">
            <a:avLst/>
          </a:prstGeom>
          <a:noFill/>
          <a:ln w="19050">
            <a:solidFill>
              <a:srgbClr val="FF9900"/>
            </a:solidFill>
            <a:prstDash val="solid"/>
          </a:ln>
        </p:spPr>
      </p:sp>
      <p:sp>
        <p:nvSpPr>
          <p:cNvPr id="26" name="Shape 24"/>
          <p:cNvSpPr/>
          <p:nvPr/>
        </p:nvSpPr>
        <p:spPr>
          <a:xfrm>
            <a:off x="7360920" y="1371600"/>
            <a:ext cx="868680" cy="914400"/>
          </a:xfrm>
          <a:prstGeom prst="roundRect">
            <a:avLst>
              <a:gd name="adj" fmla="val 8421"/>
            </a:avLst>
          </a:prstGeom>
          <a:solidFill>
            <a:srgbClr val="0D2149"/>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7" name="Text 25"/>
          <p:cNvSpPr/>
          <p:nvPr/>
        </p:nvSpPr>
        <p:spPr>
          <a:xfrm>
            <a:off x="7360920" y="1371600"/>
            <a:ext cx="868680" cy="91440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RDS</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Write booking</a:t>
            </a:r>
            <a:endParaRPr lang="en-US" sz="800" dirty="0"/>
          </a:p>
        </p:txBody>
      </p:sp>
      <p:sp>
        <p:nvSpPr>
          <p:cNvPr id="28" name="Shape 26"/>
          <p:cNvSpPr/>
          <p:nvPr/>
        </p:nvSpPr>
        <p:spPr>
          <a:xfrm>
            <a:off x="777240" y="2606040"/>
            <a:ext cx="7909560" cy="0"/>
          </a:xfrm>
          <a:prstGeom prst="line">
            <a:avLst/>
          </a:prstGeom>
          <a:noFill/>
          <a:ln w="19050">
            <a:solidFill>
              <a:srgbClr val="10B981"/>
            </a:solidFill>
            <a:prstDash val="dash"/>
          </a:ln>
        </p:spPr>
      </p:sp>
      <p:sp>
        <p:nvSpPr>
          <p:cNvPr id="29" name="Text 27"/>
          <p:cNvSpPr/>
          <p:nvPr/>
        </p:nvSpPr>
        <p:spPr>
          <a:xfrm>
            <a:off x="365760" y="2633472"/>
            <a:ext cx="8412480" cy="256032"/>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 Response path (200 OK + booking ID) ────────────────────────────────────────────────</a:t>
            </a:r>
            <a:endParaRPr lang="en-US" sz="900" dirty="0"/>
          </a:p>
        </p:txBody>
      </p:sp>
      <p:sp>
        <p:nvSpPr>
          <p:cNvPr id="30" name="Text 28"/>
          <p:cNvSpPr/>
          <p:nvPr/>
        </p:nvSpPr>
        <p:spPr>
          <a:xfrm>
            <a:off x="365760" y="2999232"/>
            <a:ext cx="4114800" cy="274320"/>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After response — async notification:</a:t>
            </a:r>
            <a:endParaRPr lang="en-US" sz="1100" dirty="0"/>
          </a:p>
        </p:txBody>
      </p:sp>
      <p:sp>
        <p:nvSpPr>
          <p:cNvPr id="31" name="Shape 29"/>
          <p:cNvSpPr/>
          <p:nvPr/>
        </p:nvSpPr>
        <p:spPr>
          <a:xfrm>
            <a:off x="365760" y="3337560"/>
            <a:ext cx="1920240" cy="594360"/>
          </a:xfrm>
          <a:prstGeom prst="roundRect">
            <a:avLst>
              <a:gd name="adj" fmla="val 12308"/>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2" name="Text 30"/>
          <p:cNvSpPr/>
          <p:nvPr/>
        </p:nvSpPr>
        <p:spPr>
          <a:xfrm>
            <a:off x="365760" y="3337560"/>
            <a:ext cx="1920240" cy="59436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 Svc</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SQS</a:t>
            </a:r>
            <a:endParaRPr lang="en-US" sz="900" dirty="0"/>
          </a:p>
        </p:txBody>
      </p:sp>
      <p:sp>
        <p:nvSpPr>
          <p:cNvPr id="33" name="Shape 31"/>
          <p:cNvSpPr/>
          <p:nvPr/>
        </p:nvSpPr>
        <p:spPr>
          <a:xfrm>
            <a:off x="2286000" y="3634740"/>
            <a:ext cx="182880" cy="0"/>
          </a:xfrm>
          <a:prstGeom prst="line">
            <a:avLst/>
          </a:prstGeom>
          <a:noFill/>
          <a:ln w="19050">
            <a:solidFill>
              <a:srgbClr val="FF9900"/>
            </a:solidFill>
            <a:prstDash val="solid"/>
          </a:ln>
        </p:spPr>
      </p:sp>
      <p:sp>
        <p:nvSpPr>
          <p:cNvPr id="34" name="Shape 32"/>
          <p:cNvSpPr/>
          <p:nvPr/>
        </p:nvSpPr>
        <p:spPr>
          <a:xfrm>
            <a:off x="2468880" y="3337560"/>
            <a:ext cx="1920240" cy="594360"/>
          </a:xfrm>
          <a:prstGeom prst="roundRect">
            <a:avLst>
              <a:gd name="adj" fmla="val 12308"/>
            </a:avLst>
          </a:prstGeom>
          <a:solidFill>
            <a:srgbClr val="4A1D9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5" name="Text 33"/>
          <p:cNvSpPr/>
          <p:nvPr/>
        </p:nvSpPr>
        <p:spPr>
          <a:xfrm>
            <a:off x="2468880" y="3337560"/>
            <a:ext cx="1920240" cy="59436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Lambda</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Polls SQS</a:t>
            </a:r>
            <a:endParaRPr lang="en-US" sz="900" dirty="0"/>
          </a:p>
        </p:txBody>
      </p:sp>
      <p:sp>
        <p:nvSpPr>
          <p:cNvPr id="36" name="Shape 34"/>
          <p:cNvSpPr/>
          <p:nvPr/>
        </p:nvSpPr>
        <p:spPr>
          <a:xfrm>
            <a:off x="4389120" y="3634740"/>
            <a:ext cx="182880" cy="0"/>
          </a:xfrm>
          <a:prstGeom prst="line">
            <a:avLst/>
          </a:prstGeom>
          <a:noFill/>
          <a:ln w="19050">
            <a:solidFill>
              <a:srgbClr val="FF9900"/>
            </a:solidFill>
            <a:prstDash val="solid"/>
          </a:ln>
        </p:spPr>
      </p:sp>
      <p:sp>
        <p:nvSpPr>
          <p:cNvPr id="37" name="Shape 35"/>
          <p:cNvSpPr/>
          <p:nvPr/>
        </p:nvSpPr>
        <p:spPr>
          <a:xfrm>
            <a:off x="4572000" y="3337560"/>
            <a:ext cx="1920240" cy="594360"/>
          </a:xfrm>
          <a:prstGeom prst="roundRect">
            <a:avLst>
              <a:gd name="adj" fmla="val 12308"/>
            </a:avLst>
          </a:prstGeom>
          <a:solidFill>
            <a:srgbClr val="1E3A5F"/>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38" name="Text 36"/>
          <p:cNvSpPr/>
          <p:nvPr/>
        </p:nvSpPr>
        <p:spPr>
          <a:xfrm>
            <a:off x="4572000" y="3337560"/>
            <a:ext cx="1920240" cy="59436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SNS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Dispatch</a:t>
            </a:r>
            <a:endParaRPr lang="en-US" sz="900" dirty="0"/>
          </a:p>
        </p:txBody>
      </p:sp>
      <p:sp>
        <p:nvSpPr>
          <p:cNvPr id="39" name="Shape 37"/>
          <p:cNvSpPr/>
          <p:nvPr/>
        </p:nvSpPr>
        <p:spPr>
          <a:xfrm>
            <a:off x="6492240" y="3634740"/>
            <a:ext cx="182880" cy="0"/>
          </a:xfrm>
          <a:prstGeom prst="line">
            <a:avLst/>
          </a:prstGeom>
          <a:noFill/>
          <a:ln w="19050">
            <a:solidFill>
              <a:srgbClr val="FF9900"/>
            </a:solidFill>
            <a:prstDash val="solid"/>
          </a:ln>
        </p:spPr>
      </p:sp>
      <p:sp>
        <p:nvSpPr>
          <p:cNvPr id="40" name="Shape 38"/>
          <p:cNvSpPr/>
          <p:nvPr/>
        </p:nvSpPr>
        <p:spPr>
          <a:xfrm>
            <a:off x="6675120" y="3337560"/>
            <a:ext cx="1920240" cy="594360"/>
          </a:xfrm>
          <a:prstGeom prst="roundRect">
            <a:avLst>
              <a:gd name="adj" fmla="val 12308"/>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41" name="Text 39"/>
          <p:cNvSpPr/>
          <p:nvPr/>
        </p:nvSpPr>
        <p:spPr>
          <a:xfrm>
            <a:off x="6675120" y="3337560"/>
            <a:ext cx="1920240" cy="594360"/>
          </a:xfrm>
          <a:prstGeom prst="rect">
            <a:avLst/>
          </a:prstGeom>
          <a:noFill/>
          <a:ln/>
        </p:spPr>
        <p:txBody>
          <a:bodyPr wrap="square" lIns="50800" tIns="50800" rIns="50800" bIns="508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Email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Delivered</a:t>
            </a:r>
            <a:endParaRPr lang="en-US" sz="900" dirty="0"/>
          </a:p>
        </p:txBody>
      </p:sp>
      <p:sp>
        <p:nvSpPr>
          <p:cNvPr id="42" name="Shape 40"/>
          <p:cNvSpPr/>
          <p:nvPr/>
        </p:nvSpPr>
        <p:spPr>
          <a:xfrm>
            <a:off x="365760" y="4133088"/>
            <a:ext cx="8412480" cy="594360"/>
          </a:xfrm>
          <a:prstGeom prst="roundRect">
            <a:avLst>
              <a:gd name="adj" fmla="val 12308"/>
            </a:avLst>
          </a:prstGeom>
          <a:solidFill>
            <a:srgbClr val="1A3A6B"/>
          </a:solidFill>
          <a:ln w="12700">
            <a:solidFill>
              <a:srgbClr val="0891B2"/>
            </a:solidFill>
            <a:prstDash val="solid"/>
          </a:ln>
        </p:spPr>
      </p:sp>
      <p:sp>
        <p:nvSpPr>
          <p:cNvPr id="43" name="Text 41"/>
          <p:cNvSpPr/>
          <p:nvPr/>
        </p:nvSpPr>
        <p:spPr>
          <a:xfrm>
            <a:off x="502920" y="4169664"/>
            <a:ext cx="8229600" cy="521208"/>
          </a:xfrm>
          <a:prstGeom prst="rect">
            <a:avLst/>
          </a:prstGeom>
          <a:noFill/>
          <a:ln/>
        </p:spPr>
        <p:txBody>
          <a:bodyPr wrap="square" lIns="0" tIns="0" rIns="0" bIns="0" rtlCol="0" anchor="ctr"/>
          <a:lstStyle/>
          <a:p>
            <a:pPr algn="ctr" indent="0" marL="0">
              <a:buNone/>
            </a:pPr>
            <a:r>
              <a:rPr lang="en-US" sz="1000" dirty="0">
                <a:solidFill>
                  <a:srgbClr val="FF9900"/>
                </a:solidFill>
                <a:latin typeface="Calibri" pitchFamily="34" charset="0"/>
                <a:ea typeface="Calibri" pitchFamily="34" charset="-122"/>
                <a:cs typeface="Calibri" pitchFamily="34" charset="-120"/>
              </a:rPr>
              <a:t>Target Latencies:  WAF &lt;1ms  |  ALB &lt;2ms  |  Frontend serve &lt;50ms  |  API response &lt;200ms  |  DB query &lt;50ms  |  Total p95 &lt; 500ms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Challenges Faced &amp; Resolutions</a:t>
            </a:r>
            <a:endParaRPr lang="en-US" sz="2800" dirty="0"/>
          </a:p>
        </p:txBody>
      </p:sp>
      <p:sp>
        <p:nvSpPr>
          <p:cNvPr id="4" name="Shape 2"/>
          <p:cNvSpPr/>
          <p:nvPr/>
        </p:nvSpPr>
        <p:spPr>
          <a:xfrm>
            <a:off x="320040" y="1005840"/>
            <a:ext cx="4206240" cy="1737360"/>
          </a:xfrm>
          <a:prstGeom prst="roundRect">
            <a:avLst>
              <a:gd name="adj" fmla="val 5263"/>
            </a:avLst>
          </a:prstGeom>
          <a:solidFill>
            <a:srgbClr val="EFF6FF"/>
          </a:solidFill>
          <a:ln w="19050">
            <a:solidFill>
              <a:srgbClr val="DC2626"/>
            </a:solidFill>
            <a:prstDash val="solid"/>
          </a:ln>
          <a:effectLst>
            <a:outerShdw sx="100000" sy="100000" kx="0" ky="0" algn="bl" rotWithShape="0" blurRad="127000" dist="25400" dir="2700000">
              <a:srgbClr val="000000">
                <a:alpha val="10000"/>
              </a:srgbClr>
            </a:outerShdw>
          </a:effectLst>
        </p:spPr>
      </p:sp>
      <p:sp>
        <p:nvSpPr>
          <p:cNvPr id="5" name="Shape 3"/>
          <p:cNvSpPr/>
          <p:nvPr/>
        </p:nvSpPr>
        <p:spPr>
          <a:xfrm>
            <a:off x="411480" y="1115568"/>
            <a:ext cx="3931920" cy="274320"/>
          </a:xfrm>
          <a:prstGeom prst="roundRect">
            <a:avLst>
              <a:gd name="adj" fmla="val 16667"/>
            </a:avLst>
          </a:prstGeom>
          <a:solidFill>
            <a:srgbClr val="DC2626"/>
          </a:solidFill>
          <a:ln/>
        </p:spPr>
      </p:sp>
      <p:sp>
        <p:nvSpPr>
          <p:cNvPr id="6" name="Text 4"/>
          <p:cNvSpPr/>
          <p:nvPr/>
        </p:nvSpPr>
        <p:spPr>
          <a:xfrm>
            <a:off x="429768" y="1115568"/>
            <a:ext cx="389534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Terraform State Drift</a:t>
            </a:r>
            <a:endParaRPr lang="en-US" sz="1100" dirty="0"/>
          </a:p>
        </p:txBody>
      </p:sp>
      <p:sp>
        <p:nvSpPr>
          <p:cNvPr id="7" name="Text 5"/>
          <p:cNvSpPr/>
          <p:nvPr/>
        </p:nvSpPr>
        <p:spPr>
          <a:xfrm>
            <a:off x="429768" y="1481328"/>
            <a:ext cx="3913632" cy="512064"/>
          </a:xfrm>
          <a:prstGeom prst="rect">
            <a:avLst/>
          </a:prstGeom>
          <a:noFill/>
          <a:ln/>
        </p:spPr>
        <p:txBody>
          <a:bodyPr wrap="square" lIns="25400" tIns="25400" rIns="25400" bIns="25400" rtlCol="0" anchor="ctr"/>
          <a:lstStyle/>
          <a:p>
            <a:pPr indent="0" marL="0">
              <a:buNone/>
            </a:pPr>
            <a:r>
              <a:rPr lang="en-US" sz="950" dirty="0">
                <a:solidFill>
                  <a:srgbClr val="DC2626"/>
                </a:solidFill>
                <a:latin typeface="Calibri" pitchFamily="34" charset="0"/>
                <a:ea typeface="Calibri" pitchFamily="34" charset="-122"/>
                <a:cs typeface="Calibri" pitchFamily="34" charset="-120"/>
              </a:rPr>
              <a:t>Problem: Manual AWS console changes caused resources to diverge from Terraform state.</a:t>
            </a:r>
            <a:endParaRPr lang="en-US" sz="950" dirty="0"/>
          </a:p>
        </p:txBody>
      </p:sp>
      <p:sp>
        <p:nvSpPr>
          <p:cNvPr id="8" name="Text 6"/>
          <p:cNvSpPr/>
          <p:nvPr/>
        </p:nvSpPr>
        <p:spPr>
          <a:xfrm>
            <a:off x="429768" y="2011680"/>
            <a:ext cx="3913632" cy="621792"/>
          </a:xfrm>
          <a:prstGeom prst="rect">
            <a:avLst/>
          </a:prstGeom>
          <a:noFill/>
          <a:ln/>
        </p:spPr>
        <p:txBody>
          <a:bodyPr wrap="square" lIns="25400" tIns="25400" rIns="25400" bIns="25400" rtlCol="0" anchor="ctr"/>
          <a:lstStyle/>
          <a:p>
            <a:pPr indent="0" marL="0">
              <a:buNone/>
            </a:pPr>
            <a:r>
              <a:rPr lang="en-US" sz="950" dirty="0">
                <a:solidFill>
                  <a:srgbClr val="065F46"/>
                </a:solidFill>
                <a:latin typeface="Calibri" pitchFamily="34" charset="0"/>
                <a:ea typeface="Calibri" pitchFamily="34" charset="-122"/>
                <a:cs typeface="Calibri" pitchFamily="34" charset="-120"/>
              </a:rPr>
              <a:t>Fix: terraform refresh + import to reconcile state. Implemented strict IaC policy: all changes via Terraform only.</a:t>
            </a:r>
            <a:endParaRPr lang="en-US" sz="950" dirty="0"/>
          </a:p>
        </p:txBody>
      </p:sp>
      <p:sp>
        <p:nvSpPr>
          <p:cNvPr id="9" name="Shape 7"/>
          <p:cNvSpPr/>
          <p:nvPr/>
        </p:nvSpPr>
        <p:spPr>
          <a:xfrm>
            <a:off x="4800600" y="1005840"/>
            <a:ext cx="4206240" cy="1737360"/>
          </a:xfrm>
          <a:prstGeom prst="roundRect">
            <a:avLst>
              <a:gd name="adj" fmla="val 5263"/>
            </a:avLst>
          </a:prstGeom>
          <a:solidFill>
            <a:srgbClr val="EFF6FF"/>
          </a:solidFill>
          <a:ln w="19050">
            <a:solidFill>
              <a:srgbClr val="B45309"/>
            </a:solidFill>
            <a:prstDash val="solid"/>
          </a:ln>
          <a:effectLst>
            <a:outerShdw sx="100000" sy="100000" kx="0" ky="0" algn="bl" rotWithShape="0" blurRad="127000" dist="25400" dir="2700000">
              <a:srgbClr val="000000">
                <a:alpha val="10000"/>
              </a:srgbClr>
            </a:outerShdw>
          </a:effectLst>
        </p:spPr>
      </p:sp>
      <p:sp>
        <p:nvSpPr>
          <p:cNvPr id="10" name="Shape 8"/>
          <p:cNvSpPr/>
          <p:nvPr/>
        </p:nvSpPr>
        <p:spPr>
          <a:xfrm>
            <a:off x="4892040" y="1115568"/>
            <a:ext cx="3931920" cy="274320"/>
          </a:xfrm>
          <a:prstGeom prst="roundRect">
            <a:avLst>
              <a:gd name="adj" fmla="val 16667"/>
            </a:avLst>
          </a:prstGeom>
          <a:solidFill>
            <a:srgbClr val="B45309"/>
          </a:solidFill>
          <a:ln/>
        </p:spPr>
      </p:sp>
      <p:sp>
        <p:nvSpPr>
          <p:cNvPr id="11" name="Text 9"/>
          <p:cNvSpPr/>
          <p:nvPr/>
        </p:nvSpPr>
        <p:spPr>
          <a:xfrm>
            <a:off x="4910328" y="1115568"/>
            <a:ext cx="389534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WAF Blocking Valid Requests</a:t>
            </a:r>
            <a:endParaRPr lang="en-US" sz="1100" dirty="0"/>
          </a:p>
        </p:txBody>
      </p:sp>
      <p:sp>
        <p:nvSpPr>
          <p:cNvPr id="12" name="Text 10"/>
          <p:cNvSpPr/>
          <p:nvPr/>
        </p:nvSpPr>
        <p:spPr>
          <a:xfrm>
            <a:off x="4910328" y="1481328"/>
            <a:ext cx="3913632" cy="512064"/>
          </a:xfrm>
          <a:prstGeom prst="rect">
            <a:avLst/>
          </a:prstGeom>
          <a:noFill/>
          <a:ln/>
        </p:spPr>
        <p:txBody>
          <a:bodyPr wrap="square" lIns="25400" tIns="25400" rIns="25400" bIns="25400" rtlCol="0" anchor="ctr"/>
          <a:lstStyle/>
          <a:p>
            <a:pPr indent="0" marL="0">
              <a:buNone/>
            </a:pPr>
            <a:r>
              <a:rPr lang="en-US" sz="950" dirty="0">
                <a:solidFill>
                  <a:srgbClr val="DC2626"/>
                </a:solidFill>
                <a:latin typeface="Calibri" pitchFamily="34" charset="0"/>
                <a:ea typeface="Calibri" pitchFamily="34" charset="-122"/>
                <a:cs typeface="Calibri" pitchFamily="34" charset="-120"/>
              </a:rPr>
              <a:t>Problem: SizeRestrictions_BODY rule blocked multipart image uploads. 403 errors in production.</a:t>
            </a:r>
            <a:endParaRPr lang="en-US" sz="950" dirty="0"/>
          </a:p>
        </p:txBody>
      </p:sp>
      <p:sp>
        <p:nvSpPr>
          <p:cNvPr id="13" name="Text 11"/>
          <p:cNvSpPr/>
          <p:nvPr/>
        </p:nvSpPr>
        <p:spPr>
          <a:xfrm>
            <a:off x="4910328" y="2011680"/>
            <a:ext cx="3913632" cy="621792"/>
          </a:xfrm>
          <a:prstGeom prst="rect">
            <a:avLst/>
          </a:prstGeom>
          <a:noFill/>
          <a:ln/>
        </p:spPr>
        <p:txBody>
          <a:bodyPr wrap="square" lIns="25400" tIns="25400" rIns="25400" bIns="25400" rtlCol="0" anchor="ctr"/>
          <a:lstStyle/>
          <a:p>
            <a:pPr indent="0" marL="0">
              <a:buNone/>
            </a:pPr>
            <a:r>
              <a:rPr lang="en-US" sz="950" dirty="0">
                <a:solidFill>
                  <a:srgbClr val="065F46"/>
                </a:solidFill>
                <a:latin typeface="Calibri" pitchFamily="34" charset="0"/>
                <a:ea typeface="Calibri" pitchFamily="34" charset="-122"/>
                <a:cs typeface="Calibri" pitchFamily="34" charset="-120"/>
              </a:rPr>
              <a:t>Fix: Changed rule action to COUNT. Monitored false positives. Created custom size limit tuned for our max upload size.</a:t>
            </a:r>
            <a:endParaRPr lang="en-US" sz="950" dirty="0"/>
          </a:p>
        </p:txBody>
      </p:sp>
      <p:sp>
        <p:nvSpPr>
          <p:cNvPr id="14" name="Shape 12"/>
          <p:cNvSpPr/>
          <p:nvPr/>
        </p:nvSpPr>
        <p:spPr>
          <a:xfrm>
            <a:off x="320040" y="2944368"/>
            <a:ext cx="4206240" cy="1737360"/>
          </a:xfrm>
          <a:prstGeom prst="roundRect">
            <a:avLst>
              <a:gd name="adj" fmla="val 5263"/>
            </a:avLst>
          </a:prstGeom>
          <a:solidFill>
            <a:srgbClr val="EFF6FF"/>
          </a:solidFill>
          <a:ln w="19050">
            <a:solidFill>
              <a:srgbClr val="7C3AED"/>
            </a:solidFill>
            <a:prstDash val="solid"/>
          </a:ln>
          <a:effectLst>
            <a:outerShdw sx="100000" sy="100000" kx="0" ky="0" algn="bl" rotWithShape="0" blurRad="127000" dist="25400" dir="2700000">
              <a:srgbClr val="000000">
                <a:alpha val="10000"/>
              </a:srgbClr>
            </a:outerShdw>
          </a:effectLst>
        </p:spPr>
      </p:sp>
      <p:sp>
        <p:nvSpPr>
          <p:cNvPr id="15" name="Shape 13"/>
          <p:cNvSpPr/>
          <p:nvPr/>
        </p:nvSpPr>
        <p:spPr>
          <a:xfrm>
            <a:off x="411480" y="3054096"/>
            <a:ext cx="3931920" cy="274320"/>
          </a:xfrm>
          <a:prstGeom prst="roundRect">
            <a:avLst>
              <a:gd name="adj" fmla="val 16667"/>
            </a:avLst>
          </a:prstGeom>
          <a:solidFill>
            <a:srgbClr val="7C3AED"/>
          </a:solidFill>
          <a:ln/>
        </p:spPr>
      </p:sp>
      <p:sp>
        <p:nvSpPr>
          <p:cNvPr id="16" name="Text 14"/>
          <p:cNvSpPr/>
          <p:nvPr/>
        </p:nvSpPr>
        <p:spPr>
          <a:xfrm>
            <a:off x="429768" y="3054096"/>
            <a:ext cx="389534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CloudFront OAC Integration</a:t>
            </a:r>
            <a:endParaRPr lang="en-US" sz="1100" dirty="0"/>
          </a:p>
        </p:txBody>
      </p:sp>
      <p:sp>
        <p:nvSpPr>
          <p:cNvPr id="17" name="Text 15"/>
          <p:cNvSpPr/>
          <p:nvPr/>
        </p:nvSpPr>
        <p:spPr>
          <a:xfrm>
            <a:off x="429768" y="3419856"/>
            <a:ext cx="3913632" cy="512064"/>
          </a:xfrm>
          <a:prstGeom prst="rect">
            <a:avLst/>
          </a:prstGeom>
          <a:noFill/>
          <a:ln/>
        </p:spPr>
        <p:txBody>
          <a:bodyPr wrap="square" lIns="25400" tIns="25400" rIns="25400" bIns="25400" rtlCol="0" anchor="ctr"/>
          <a:lstStyle/>
          <a:p>
            <a:pPr indent="0" marL="0">
              <a:buNone/>
            </a:pPr>
            <a:r>
              <a:rPr lang="en-US" sz="950" dirty="0">
                <a:solidFill>
                  <a:srgbClr val="DC2626"/>
                </a:solidFill>
                <a:latin typeface="Calibri" pitchFamily="34" charset="0"/>
                <a:ea typeface="Calibri" pitchFamily="34" charset="-122"/>
                <a:cs typeface="Calibri" pitchFamily="34" charset="-120"/>
              </a:rPr>
              <a:t>Problem: Migrating from OAI to OAC required bucket policy updates. Legacy OAI references caused 403 errors.</a:t>
            </a:r>
            <a:endParaRPr lang="en-US" sz="950" dirty="0"/>
          </a:p>
        </p:txBody>
      </p:sp>
      <p:sp>
        <p:nvSpPr>
          <p:cNvPr id="18" name="Text 16"/>
          <p:cNvSpPr/>
          <p:nvPr/>
        </p:nvSpPr>
        <p:spPr>
          <a:xfrm>
            <a:off x="429768" y="3950208"/>
            <a:ext cx="3913632" cy="621792"/>
          </a:xfrm>
          <a:prstGeom prst="rect">
            <a:avLst/>
          </a:prstGeom>
          <a:noFill/>
          <a:ln/>
        </p:spPr>
        <p:txBody>
          <a:bodyPr wrap="square" lIns="25400" tIns="25400" rIns="25400" bIns="25400" rtlCol="0" anchor="ctr"/>
          <a:lstStyle/>
          <a:p>
            <a:pPr indent="0" marL="0">
              <a:buNone/>
            </a:pPr>
            <a:r>
              <a:rPr lang="en-US" sz="950" dirty="0">
                <a:solidFill>
                  <a:srgbClr val="065F46"/>
                </a:solidFill>
                <a:latin typeface="Calibri" pitchFamily="34" charset="0"/>
                <a:ea typeface="Calibri" pitchFamily="34" charset="-122"/>
                <a:cs typeface="Calibri" pitchFamily="34" charset="-120"/>
              </a:rPr>
              <a:t>Fix: Updated bucket policy to use new CloudFront service principal format. Removed OAI distribution association.</a:t>
            </a:r>
            <a:endParaRPr lang="en-US" sz="950" dirty="0"/>
          </a:p>
        </p:txBody>
      </p:sp>
      <p:sp>
        <p:nvSpPr>
          <p:cNvPr id="19" name="Shape 17"/>
          <p:cNvSpPr/>
          <p:nvPr/>
        </p:nvSpPr>
        <p:spPr>
          <a:xfrm>
            <a:off x="4800600" y="2944368"/>
            <a:ext cx="4206240" cy="1737360"/>
          </a:xfrm>
          <a:prstGeom prst="roundRect">
            <a:avLst>
              <a:gd name="adj" fmla="val 5263"/>
            </a:avLst>
          </a:prstGeom>
          <a:solidFill>
            <a:srgbClr val="EFF6FF"/>
          </a:solidFill>
          <a:ln w="19050">
            <a:solidFill>
              <a:srgbClr val="0369A1"/>
            </a:solidFill>
            <a:prstDash val="solid"/>
          </a:ln>
          <a:effectLst>
            <a:outerShdw sx="100000" sy="100000" kx="0" ky="0" algn="bl" rotWithShape="0" blurRad="127000" dist="25400" dir="2700000">
              <a:srgbClr val="000000">
                <a:alpha val="10000"/>
              </a:srgbClr>
            </a:outerShdw>
          </a:effectLst>
        </p:spPr>
      </p:sp>
      <p:sp>
        <p:nvSpPr>
          <p:cNvPr id="20" name="Shape 18"/>
          <p:cNvSpPr/>
          <p:nvPr/>
        </p:nvSpPr>
        <p:spPr>
          <a:xfrm>
            <a:off x="4892040" y="3054096"/>
            <a:ext cx="3931920" cy="274320"/>
          </a:xfrm>
          <a:prstGeom prst="roundRect">
            <a:avLst>
              <a:gd name="adj" fmla="val 16667"/>
            </a:avLst>
          </a:prstGeom>
          <a:solidFill>
            <a:srgbClr val="0369A1"/>
          </a:solidFill>
          <a:ln/>
        </p:spPr>
      </p:sp>
      <p:sp>
        <p:nvSpPr>
          <p:cNvPr id="21" name="Text 19"/>
          <p:cNvSpPr/>
          <p:nvPr/>
        </p:nvSpPr>
        <p:spPr>
          <a:xfrm>
            <a:off x="4910328" y="3054096"/>
            <a:ext cx="389534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ASG Rolling Update Failures</a:t>
            </a:r>
            <a:endParaRPr lang="en-US" sz="1100" dirty="0"/>
          </a:p>
        </p:txBody>
      </p:sp>
      <p:sp>
        <p:nvSpPr>
          <p:cNvPr id="22" name="Text 20"/>
          <p:cNvSpPr/>
          <p:nvPr/>
        </p:nvSpPr>
        <p:spPr>
          <a:xfrm>
            <a:off x="4910328" y="3419856"/>
            <a:ext cx="3913632" cy="512064"/>
          </a:xfrm>
          <a:prstGeom prst="rect">
            <a:avLst/>
          </a:prstGeom>
          <a:noFill/>
          <a:ln/>
        </p:spPr>
        <p:txBody>
          <a:bodyPr wrap="square" lIns="25400" tIns="25400" rIns="25400" bIns="25400" rtlCol="0" anchor="ctr"/>
          <a:lstStyle/>
          <a:p>
            <a:pPr indent="0" marL="0">
              <a:buNone/>
            </a:pPr>
            <a:r>
              <a:rPr lang="en-US" sz="950" dirty="0">
                <a:solidFill>
                  <a:srgbClr val="DC2626"/>
                </a:solidFill>
                <a:latin typeface="Calibri" pitchFamily="34" charset="0"/>
                <a:ea typeface="Calibri" pitchFamily="34" charset="-122"/>
                <a:cs typeface="Calibri" pitchFamily="34" charset="-120"/>
              </a:rPr>
              <a:t>Problem: Instance Refresh failed mid-rollout because health check grace period was too short.</a:t>
            </a:r>
            <a:endParaRPr lang="en-US" sz="950" dirty="0"/>
          </a:p>
        </p:txBody>
      </p:sp>
      <p:sp>
        <p:nvSpPr>
          <p:cNvPr id="23" name="Text 21"/>
          <p:cNvSpPr/>
          <p:nvPr/>
        </p:nvSpPr>
        <p:spPr>
          <a:xfrm>
            <a:off x="4910328" y="3950208"/>
            <a:ext cx="3913632" cy="621792"/>
          </a:xfrm>
          <a:prstGeom prst="rect">
            <a:avLst/>
          </a:prstGeom>
          <a:noFill/>
          <a:ln/>
        </p:spPr>
        <p:txBody>
          <a:bodyPr wrap="square" lIns="25400" tIns="25400" rIns="25400" bIns="25400" rtlCol="0" anchor="ctr"/>
          <a:lstStyle/>
          <a:p>
            <a:pPr indent="0" marL="0">
              <a:buNone/>
            </a:pPr>
            <a:r>
              <a:rPr lang="en-US" sz="950" dirty="0">
                <a:solidFill>
                  <a:srgbClr val="065F46"/>
                </a:solidFill>
                <a:latin typeface="Calibri" pitchFamily="34" charset="0"/>
                <a:ea typeface="Calibri" pitchFamily="34" charset="-122"/>
                <a:cs typeface="Calibri" pitchFamily="34" charset="-120"/>
              </a:rPr>
              <a:t>Fix: Increased health check grace period from 60s to 180s to allow user data script to complete Docker pulls.</a:t>
            </a:r>
            <a:endParaRPr lang="en-US" sz="950" dirty="0"/>
          </a:p>
        </p:txBody>
      </p:sp>
      <p:sp>
        <p:nvSpPr>
          <p:cNvPr id="24" name="Shape 22"/>
          <p:cNvSpPr/>
          <p:nvPr/>
        </p:nvSpPr>
        <p:spPr>
          <a:xfrm>
            <a:off x="2468880" y="4882896"/>
            <a:ext cx="4206240" cy="1737360"/>
          </a:xfrm>
          <a:prstGeom prst="roundRect">
            <a:avLst>
              <a:gd name="adj" fmla="val 5263"/>
            </a:avLst>
          </a:prstGeom>
          <a:solidFill>
            <a:srgbClr val="EFF6FF"/>
          </a:solidFill>
          <a:ln w="19050">
            <a:solidFill>
              <a:srgbClr val="065F46"/>
            </a:solidFill>
            <a:prstDash val="solid"/>
          </a:ln>
          <a:effectLst>
            <a:outerShdw sx="100000" sy="100000" kx="0" ky="0" algn="bl" rotWithShape="0" blurRad="127000" dist="25400" dir="2700000">
              <a:srgbClr val="000000">
                <a:alpha val="10000"/>
              </a:srgbClr>
            </a:outerShdw>
          </a:effectLst>
        </p:spPr>
      </p:sp>
      <p:sp>
        <p:nvSpPr>
          <p:cNvPr id="25" name="Shape 23"/>
          <p:cNvSpPr/>
          <p:nvPr/>
        </p:nvSpPr>
        <p:spPr>
          <a:xfrm>
            <a:off x="2560320" y="4992624"/>
            <a:ext cx="3931920" cy="274320"/>
          </a:xfrm>
          <a:prstGeom prst="roundRect">
            <a:avLst>
              <a:gd name="adj" fmla="val 16667"/>
            </a:avLst>
          </a:prstGeom>
          <a:solidFill>
            <a:srgbClr val="065F46"/>
          </a:solidFill>
          <a:ln/>
        </p:spPr>
      </p:sp>
      <p:sp>
        <p:nvSpPr>
          <p:cNvPr id="26" name="Text 24"/>
          <p:cNvSpPr/>
          <p:nvPr/>
        </p:nvSpPr>
        <p:spPr>
          <a:xfrm>
            <a:off x="2578608" y="4992624"/>
            <a:ext cx="389534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VPC Endpoint Validation</a:t>
            </a:r>
            <a:endParaRPr lang="en-US" sz="1100" dirty="0"/>
          </a:p>
        </p:txBody>
      </p:sp>
      <p:sp>
        <p:nvSpPr>
          <p:cNvPr id="27" name="Text 25"/>
          <p:cNvSpPr/>
          <p:nvPr/>
        </p:nvSpPr>
        <p:spPr>
          <a:xfrm>
            <a:off x="2578608" y="5358384"/>
            <a:ext cx="3913632" cy="512064"/>
          </a:xfrm>
          <a:prstGeom prst="rect">
            <a:avLst/>
          </a:prstGeom>
          <a:noFill/>
          <a:ln/>
        </p:spPr>
        <p:txBody>
          <a:bodyPr wrap="square" lIns="25400" tIns="25400" rIns="25400" bIns="25400" rtlCol="0" anchor="ctr"/>
          <a:lstStyle/>
          <a:p>
            <a:pPr indent="0" marL="0">
              <a:buNone/>
            </a:pPr>
            <a:r>
              <a:rPr lang="en-US" sz="950" dirty="0">
                <a:solidFill>
                  <a:srgbClr val="DC2626"/>
                </a:solidFill>
                <a:latin typeface="Calibri" pitchFamily="34" charset="0"/>
                <a:ea typeface="Calibri" pitchFamily="34" charset="-122"/>
                <a:cs typeface="Calibri" pitchFamily="34" charset="-120"/>
              </a:rPr>
              <a:t>Problem: After adding Interface Endpoints, ECR pulls still routed through NAT due to DNS resolution delay.</a:t>
            </a:r>
            <a:endParaRPr lang="en-US" sz="950" dirty="0"/>
          </a:p>
        </p:txBody>
      </p:sp>
      <p:sp>
        <p:nvSpPr>
          <p:cNvPr id="28" name="Text 26"/>
          <p:cNvSpPr/>
          <p:nvPr/>
        </p:nvSpPr>
        <p:spPr>
          <a:xfrm>
            <a:off x="2578608" y="5888736"/>
            <a:ext cx="3913632" cy="621792"/>
          </a:xfrm>
          <a:prstGeom prst="rect">
            <a:avLst/>
          </a:prstGeom>
          <a:noFill/>
          <a:ln/>
        </p:spPr>
        <p:txBody>
          <a:bodyPr wrap="square" lIns="25400" tIns="25400" rIns="25400" bIns="25400" rtlCol="0" anchor="ctr"/>
          <a:lstStyle/>
          <a:p>
            <a:pPr indent="0" marL="0">
              <a:buNone/>
            </a:pPr>
            <a:r>
              <a:rPr lang="en-US" sz="950" dirty="0">
                <a:solidFill>
                  <a:srgbClr val="065F46"/>
                </a:solidFill>
                <a:latin typeface="Calibri" pitchFamily="34" charset="0"/>
                <a:ea typeface="Calibri" pitchFamily="34" charset="-122"/>
                <a:cs typeface="Calibri" pitchFamily="34" charset="-120"/>
              </a:rPr>
              <a:t>Fix: Verified endpoint DNS names and confirmed private DNS enabled. Restart required for DNS cache to refresh.</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Cost Optimization Strategies</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320040" y="1078992"/>
            <a:ext cx="2743200" cy="1536192"/>
          </a:xfrm>
          <a:prstGeom prst="roundRect">
            <a:avLst>
              <a:gd name="adj" fmla="val 5952"/>
            </a:avLst>
          </a:prstGeom>
          <a:solidFill>
            <a:srgbClr val="065F46"/>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411480" y="117043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~$45/mo</a:t>
            </a:r>
            <a:endParaRPr lang="en-US" sz="2600" dirty="0"/>
          </a:p>
        </p:txBody>
      </p:sp>
      <p:sp>
        <p:nvSpPr>
          <p:cNvPr id="6" name="Text 4"/>
          <p:cNvSpPr/>
          <p:nvPr/>
        </p:nvSpPr>
        <p:spPr>
          <a:xfrm>
            <a:off x="411480" y="160934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VPC Endpoints</a:t>
            </a:r>
            <a:endParaRPr lang="en-US" sz="1200" dirty="0"/>
          </a:p>
        </p:txBody>
      </p:sp>
      <p:sp>
        <p:nvSpPr>
          <p:cNvPr id="7" name="Text 5"/>
          <p:cNvSpPr/>
          <p:nvPr/>
        </p:nvSpPr>
        <p:spPr>
          <a:xfrm>
            <a:off x="411480" y="190195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Replace NAT Gateway data processing for AWS API calls. S3, ECR, Secrets Manager, CloudWatch traffic bypasses NAT.</a:t>
            </a:r>
            <a:endParaRPr lang="en-US" sz="900" dirty="0"/>
          </a:p>
        </p:txBody>
      </p:sp>
      <p:sp>
        <p:nvSpPr>
          <p:cNvPr id="8" name="Shape 6"/>
          <p:cNvSpPr/>
          <p:nvPr/>
        </p:nvSpPr>
        <p:spPr>
          <a:xfrm>
            <a:off x="3246120" y="1078992"/>
            <a:ext cx="2743200" cy="1536192"/>
          </a:xfrm>
          <a:prstGeom prst="roundRect">
            <a:avLst>
              <a:gd name="adj" fmla="val 5952"/>
            </a:avLst>
          </a:prstGeom>
          <a:solidFill>
            <a:srgbClr val="1E3A5F"/>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9" name="Text 7"/>
          <p:cNvSpPr/>
          <p:nvPr/>
        </p:nvSpPr>
        <p:spPr>
          <a:xfrm>
            <a:off x="3337560" y="117043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~$30/mo</a:t>
            </a:r>
            <a:endParaRPr lang="en-US" sz="2600" dirty="0"/>
          </a:p>
        </p:txBody>
      </p:sp>
      <p:sp>
        <p:nvSpPr>
          <p:cNvPr id="10" name="Text 8"/>
          <p:cNvSpPr/>
          <p:nvPr/>
        </p:nvSpPr>
        <p:spPr>
          <a:xfrm>
            <a:off x="3337560" y="160934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CloudFront Caching</a:t>
            </a:r>
            <a:endParaRPr lang="en-US" sz="1200" dirty="0"/>
          </a:p>
        </p:txBody>
      </p:sp>
      <p:sp>
        <p:nvSpPr>
          <p:cNvPr id="11" name="Text 9"/>
          <p:cNvSpPr/>
          <p:nvPr/>
        </p:nvSpPr>
        <p:spPr>
          <a:xfrm>
            <a:off x="3337560" y="190195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High cache hit ratio (&gt;90%) means fewer S3 GET requests. Event poster images cached at edge for 24+ hours.</a:t>
            </a:r>
            <a:endParaRPr lang="en-US" sz="900" dirty="0"/>
          </a:p>
        </p:txBody>
      </p:sp>
      <p:sp>
        <p:nvSpPr>
          <p:cNvPr id="12" name="Shape 10"/>
          <p:cNvSpPr/>
          <p:nvPr/>
        </p:nvSpPr>
        <p:spPr>
          <a:xfrm>
            <a:off x="6172200" y="1078992"/>
            <a:ext cx="2743200" cy="1536192"/>
          </a:xfrm>
          <a:prstGeom prst="roundRect">
            <a:avLst>
              <a:gd name="adj" fmla="val 5952"/>
            </a:avLst>
          </a:prstGeom>
          <a:solidFill>
            <a:srgbClr val="4A1D96"/>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13" name="Text 11"/>
          <p:cNvSpPr/>
          <p:nvPr/>
        </p:nvSpPr>
        <p:spPr>
          <a:xfrm>
            <a:off x="6263640" y="117043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~$80/mo</a:t>
            </a:r>
            <a:endParaRPr lang="en-US" sz="2600" dirty="0"/>
          </a:p>
        </p:txBody>
      </p:sp>
      <p:sp>
        <p:nvSpPr>
          <p:cNvPr id="14" name="Text 12"/>
          <p:cNvSpPr/>
          <p:nvPr/>
        </p:nvSpPr>
        <p:spPr>
          <a:xfrm>
            <a:off x="6263640" y="160934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Auto Scaling</a:t>
            </a:r>
            <a:endParaRPr lang="en-US" sz="1200" dirty="0"/>
          </a:p>
        </p:txBody>
      </p:sp>
      <p:sp>
        <p:nvSpPr>
          <p:cNvPr id="15" name="Text 13"/>
          <p:cNvSpPr/>
          <p:nvPr/>
        </p:nvSpPr>
        <p:spPr>
          <a:xfrm>
            <a:off x="6263640" y="190195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Scale in during off-peak hours (night, weekend). Minimum 2 instances vs always-running 4 instances baseline.</a:t>
            </a:r>
            <a:endParaRPr lang="en-US" sz="900" dirty="0"/>
          </a:p>
        </p:txBody>
      </p:sp>
      <p:sp>
        <p:nvSpPr>
          <p:cNvPr id="16" name="Shape 14"/>
          <p:cNvSpPr/>
          <p:nvPr/>
        </p:nvSpPr>
        <p:spPr>
          <a:xfrm>
            <a:off x="320040" y="2770632"/>
            <a:ext cx="2743200" cy="1536192"/>
          </a:xfrm>
          <a:prstGeom prst="roundRect">
            <a:avLst>
              <a:gd name="adj" fmla="val 5952"/>
            </a:avLst>
          </a:prstGeom>
          <a:solidFill>
            <a:srgbClr val="7C2D12"/>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411480" y="286207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~$15/mo</a:t>
            </a:r>
            <a:endParaRPr lang="en-US" sz="2600" dirty="0"/>
          </a:p>
        </p:txBody>
      </p:sp>
      <p:sp>
        <p:nvSpPr>
          <p:cNvPr id="18" name="Text 16"/>
          <p:cNvSpPr/>
          <p:nvPr/>
        </p:nvSpPr>
        <p:spPr>
          <a:xfrm>
            <a:off x="411480" y="330098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Serverless Lambda</a:t>
            </a:r>
            <a:endParaRPr lang="en-US" sz="1200" dirty="0"/>
          </a:p>
        </p:txBody>
      </p:sp>
      <p:sp>
        <p:nvSpPr>
          <p:cNvPr id="19" name="Text 17"/>
          <p:cNvSpPr/>
          <p:nvPr/>
        </p:nvSpPr>
        <p:spPr>
          <a:xfrm>
            <a:off x="411480" y="359359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Notification processing only runs when bookings are made. Pay per invocation vs dedicated notification server.</a:t>
            </a:r>
            <a:endParaRPr lang="en-US" sz="900" dirty="0"/>
          </a:p>
        </p:txBody>
      </p:sp>
      <p:sp>
        <p:nvSpPr>
          <p:cNvPr id="20" name="Shape 18"/>
          <p:cNvSpPr/>
          <p:nvPr/>
        </p:nvSpPr>
        <p:spPr>
          <a:xfrm>
            <a:off x="3246120" y="2770632"/>
            <a:ext cx="2743200" cy="1536192"/>
          </a:xfrm>
          <a:prstGeom prst="roundRect">
            <a:avLst>
              <a:gd name="adj" fmla="val 5952"/>
            </a:avLst>
          </a:prstGeom>
          <a:solidFill>
            <a:srgbClr val="0C4A6E"/>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21" name="Text 19"/>
          <p:cNvSpPr/>
          <p:nvPr/>
        </p:nvSpPr>
        <p:spPr>
          <a:xfrm>
            <a:off x="3337560" y="286207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~$10/mo</a:t>
            </a:r>
            <a:endParaRPr lang="en-US" sz="2600" dirty="0"/>
          </a:p>
        </p:txBody>
      </p:sp>
      <p:sp>
        <p:nvSpPr>
          <p:cNvPr id="22" name="Text 20"/>
          <p:cNvSpPr/>
          <p:nvPr/>
        </p:nvSpPr>
        <p:spPr>
          <a:xfrm>
            <a:off x="3337560" y="330098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S3 Lifecycle Policies</a:t>
            </a:r>
            <a:endParaRPr lang="en-US" sz="1200" dirty="0"/>
          </a:p>
        </p:txBody>
      </p:sp>
      <p:sp>
        <p:nvSpPr>
          <p:cNvPr id="23" name="Text 21"/>
          <p:cNvSpPr/>
          <p:nvPr/>
        </p:nvSpPr>
        <p:spPr>
          <a:xfrm>
            <a:off x="3337560" y="359359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Move CloudTrail logs to S3 Glacier after 30 days. Archive tier costs 5x less than standard storage.</a:t>
            </a:r>
            <a:endParaRPr lang="en-US" sz="900" dirty="0"/>
          </a:p>
        </p:txBody>
      </p:sp>
      <p:sp>
        <p:nvSpPr>
          <p:cNvPr id="24" name="Shape 22"/>
          <p:cNvSpPr/>
          <p:nvPr/>
        </p:nvSpPr>
        <p:spPr>
          <a:xfrm>
            <a:off x="6172200" y="2770632"/>
            <a:ext cx="2743200" cy="1536192"/>
          </a:xfrm>
          <a:prstGeom prst="roundRect">
            <a:avLst>
              <a:gd name="adj" fmla="val 5952"/>
            </a:avLst>
          </a:prstGeom>
          <a:solidFill>
            <a:srgbClr val="065F46"/>
          </a:solidFill>
          <a:ln w="7620">
            <a:solidFill>
              <a:srgbClr val="2563EB"/>
            </a:solidFill>
            <a:prstDash val="solid"/>
          </a:ln>
          <a:effectLst>
            <a:outerShdw sx="100000" sy="100000" kx="0" ky="0" algn="bl" rotWithShape="0" blurRad="127000" dist="25400" dir="2700000">
              <a:srgbClr val="000000">
                <a:alpha val="10000"/>
              </a:srgbClr>
            </a:outerShdw>
          </a:effectLst>
        </p:spPr>
      </p:sp>
      <p:sp>
        <p:nvSpPr>
          <p:cNvPr id="25" name="Text 23"/>
          <p:cNvSpPr/>
          <p:nvPr/>
        </p:nvSpPr>
        <p:spPr>
          <a:xfrm>
            <a:off x="6263640" y="2862072"/>
            <a:ext cx="2560320" cy="438912"/>
          </a:xfrm>
          <a:prstGeom prst="rect">
            <a:avLst/>
          </a:prstGeom>
          <a:noFill/>
          <a:ln/>
        </p:spPr>
        <p:txBody>
          <a:bodyPr wrap="square" lIns="0" tIns="0" rIns="0" bIns="0" rtlCol="0" anchor="ctr"/>
          <a:lstStyle/>
          <a:p>
            <a:pPr algn="ctr" indent="0" marL="0">
              <a:buNone/>
            </a:pPr>
            <a:r>
              <a:rPr lang="en-US" sz="2600" b="1" dirty="0">
                <a:solidFill>
                  <a:srgbClr val="FF9900"/>
                </a:solidFill>
                <a:latin typeface="Calibri" pitchFamily="34" charset="0"/>
                <a:ea typeface="Calibri" pitchFamily="34" charset="-122"/>
                <a:cs typeface="Calibri" pitchFamily="34" charset="-120"/>
              </a:rPr>
              <a:t>~$40/mo</a:t>
            </a:r>
            <a:endParaRPr lang="en-US" sz="2600" dirty="0"/>
          </a:p>
        </p:txBody>
      </p:sp>
      <p:sp>
        <p:nvSpPr>
          <p:cNvPr id="26" name="Text 24"/>
          <p:cNvSpPr/>
          <p:nvPr/>
        </p:nvSpPr>
        <p:spPr>
          <a:xfrm>
            <a:off x="6263640" y="3300984"/>
            <a:ext cx="2560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RDS Right-Sizing</a:t>
            </a:r>
            <a:endParaRPr lang="en-US" sz="1200" dirty="0"/>
          </a:p>
        </p:txBody>
      </p:sp>
      <p:sp>
        <p:nvSpPr>
          <p:cNvPr id="27" name="Text 25"/>
          <p:cNvSpPr/>
          <p:nvPr/>
        </p:nvSpPr>
        <p:spPr>
          <a:xfrm>
            <a:off x="6263640" y="3593592"/>
            <a:ext cx="2560320" cy="621792"/>
          </a:xfrm>
          <a:prstGeom prst="rect">
            <a:avLst/>
          </a:prstGeom>
          <a:noFill/>
          <a:ln/>
        </p:spPr>
        <p:txBody>
          <a:bodyPr wrap="square" lIns="50800" tIns="50800" rIns="50800" bIns="50800" rtlCol="0" anchor="ctr"/>
          <a:lstStyle/>
          <a:p>
            <a:pPr algn="l" indent="0" marL="0">
              <a:buNone/>
            </a:pPr>
            <a:r>
              <a:rPr lang="en-US" sz="900" dirty="0">
                <a:solidFill>
                  <a:srgbClr val="BFDBFE"/>
                </a:solidFill>
                <a:latin typeface="Calibri" pitchFamily="34" charset="0"/>
                <a:ea typeface="Calibri" pitchFamily="34" charset="-122"/>
                <a:cs typeface="Calibri" pitchFamily="34" charset="-120"/>
              </a:rPr>
              <a:t>Start with db.t3.medium, monitor CloudWatch metrics. Avoid over-provisioning database compute.</a:t>
            </a:r>
            <a:endParaRPr lang="en-US" sz="900" dirty="0"/>
          </a:p>
        </p:txBody>
      </p:sp>
      <p:sp>
        <p:nvSpPr>
          <p:cNvPr id="28" name="Text 26"/>
          <p:cNvSpPr/>
          <p:nvPr/>
        </p:nvSpPr>
        <p:spPr>
          <a:xfrm>
            <a:off x="457200" y="4645152"/>
            <a:ext cx="8229600" cy="347472"/>
          </a:xfrm>
          <a:prstGeom prst="rect">
            <a:avLst/>
          </a:prstGeom>
          <a:noFill/>
          <a:ln/>
        </p:spPr>
        <p:txBody>
          <a:bodyPr wrap="square" lIns="0" tIns="0" rIns="0" bIns="0"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Estimated Total Savings vs Unoptimized Baseline: ~$220/month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49"/>
          </a:solidFill>
          <a:ln/>
        </p:spPr>
      </p:sp>
      <p:sp>
        <p:nvSpPr>
          <p:cNvPr id="3" name="Text 1"/>
          <p:cNvSpPr/>
          <p:nvPr/>
        </p:nvSpPr>
        <p:spPr>
          <a:xfrm>
            <a:off x="457200" y="73152"/>
            <a:ext cx="822960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Future Enhancements — Roadmap</a:t>
            </a:r>
            <a:endParaRPr lang="en-US" sz="2800" dirty="0"/>
          </a:p>
        </p:txBody>
      </p:sp>
      <p:sp>
        <p:nvSpPr>
          <p:cNvPr id="4" name="Shape 2"/>
          <p:cNvSpPr/>
          <p:nvPr/>
        </p:nvSpPr>
        <p:spPr>
          <a:xfrm>
            <a:off x="365760" y="987552"/>
            <a:ext cx="4206240" cy="1828800"/>
          </a:xfrm>
          <a:prstGeom prst="roundRect">
            <a:avLst>
              <a:gd name="adj" fmla="val 6000"/>
            </a:avLst>
          </a:prstGeom>
          <a:solidFill>
            <a:srgbClr val="EFF6FF"/>
          </a:solidFill>
          <a:ln w="19050">
            <a:solidFill>
              <a:srgbClr val="2563EB"/>
            </a:solidFill>
            <a:prstDash val="solid"/>
          </a:ln>
          <a:effectLst>
            <a:outerShdw sx="100000" sy="100000" kx="0" ky="0" algn="bl" rotWithShape="0" blurRad="127000" dist="25400" dir="2700000">
              <a:srgbClr val="000000">
                <a:alpha val="10000"/>
              </a:srgbClr>
            </a:outerShdw>
          </a:effectLst>
        </p:spPr>
      </p:sp>
      <p:sp>
        <p:nvSpPr>
          <p:cNvPr id="5" name="Shape 3"/>
          <p:cNvSpPr/>
          <p:nvPr/>
        </p:nvSpPr>
        <p:spPr>
          <a:xfrm>
            <a:off x="475488" y="1097280"/>
            <a:ext cx="914400" cy="292608"/>
          </a:xfrm>
          <a:prstGeom prst="roundRect">
            <a:avLst>
              <a:gd name="adj" fmla="val 18750"/>
            </a:avLst>
          </a:prstGeom>
          <a:solidFill>
            <a:srgbClr val="2563EB"/>
          </a:solidFill>
          <a:ln/>
        </p:spPr>
      </p:sp>
      <p:sp>
        <p:nvSpPr>
          <p:cNvPr id="6" name="Text 4"/>
          <p:cNvSpPr/>
          <p:nvPr/>
        </p:nvSpPr>
        <p:spPr>
          <a:xfrm>
            <a:off x="475488" y="1097280"/>
            <a:ext cx="9144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1</a:t>
            </a:r>
            <a:endParaRPr lang="en-US" sz="1000" dirty="0"/>
          </a:p>
        </p:txBody>
      </p:sp>
      <p:sp>
        <p:nvSpPr>
          <p:cNvPr id="7" name="Text 5"/>
          <p:cNvSpPr/>
          <p:nvPr/>
        </p:nvSpPr>
        <p:spPr>
          <a:xfrm>
            <a:off x="1463040" y="1115568"/>
            <a:ext cx="2926080" cy="256032"/>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DNS &amp; TLS</a:t>
            </a:r>
            <a:endParaRPr lang="en-US" sz="1400" dirty="0"/>
          </a:p>
        </p:txBody>
      </p:sp>
      <p:pic>
        <p:nvPicPr>
          <p:cNvPr id="8" name="Image 0" descr="preencoded.png">    </p:cNvPr>
          <p:cNvPicPr>
            <a:picLocks noChangeAspect="1"/>
          </p:cNvPicPr>
          <p:nvPr/>
        </p:nvPicPr>
        <p:blipFill>
          <a:blip r:embed="rId1"/>
          <a:stretch>
            <a:fillRect/>
          </a:stretch>
        </p:blipFill>
        <p:spPr>
          <a:xfrm>
            <a:off x="548640" y="1517904"/>
            <a:ext cx="201168" cy="201168"/>
          </a:xfrm>
          <a:prstGeom prst="rect">
            <a:avLst/>
          </a:prstGeom>
        </p:spPr>
      </p:pic>
      <p:sp>
        <p:nvSpPr>
          <p:cNvPr id="9" name="Text 6"/>
          <p:cNvSpPr/>
          <p:nvPr/>
        </p:nvSpPr>
        <p:spPr>
          <a:xfrm>
            <a:off x="822960" y="1499616"/>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Route 53 for custom domain</a:t>
            </a:r>
            <a:endParaRPr lang="en-US" sz="1050" dirty="0"/>
          </a:p>
        </p:txBody>
      </p:sp>
      <p:pic>
        <p:nvPicPr>
          <p:cNvPr id="10" name="Image 1" descr="preencoded.png">    </p:cNvPr>
          <p:cNvPicPr>
            <a:picLocks noChangeAspect="1"/>
          </p:cNvPicPr>
          <p:nvPr/>
        </p:nvPicPr>
        <p:blipFill>
          <a:blip r:embed="rId2"/>
          <a:stretch>
            <a:fillRect/>
          </a:stretch>
        </p:blipFill>
        <p:spPr>
          <a:xfrm>
            <a:off x="548640" y="1828800"/>
            <a:ext cx="201168" cy="201168"/>
          </a:xfrm>
          <a:prstGeom prst="rect">
            <a:avLst/>
          </a:prstGeom>
        </p:spPr>
      </p:pic>
      <p:sp>
        <p:nvSpPr>
          <p:cNvPr id="11" name="Text 7"/>
          <p:cNvSpPr/>
          <p:nvPr/>
        </p:nvSpPr>
        <p:spPr>
          <a:xfrm>
            <a:off x="822960" y="1810512"/>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ACM Certificates for HTTPS</a:t>
            </a:r>
            <a:endParaRPr lang="en-US" sz="1050" dirty="0"/>
          </a:p>
        </p:txBody>
      </p:sp>
      <p:pic>
        <p:nvPicPr>
          <p:cNvPr id="12" name="Image 2" descr="preencoded.png">    </p:cNvPr>
          <p:cNvPicPr>
            <a:picLocks noChangeAspect="1"/>
          </p:cNvPicPr>
          <p:nvPr/>
        </p:nvPicPr>
        <p:blipFill>
          <a:blip r:embed="rId3"/>
          <a:stretch>
            <a:fillRect/>
          </a:stretch>
        </p:blipFill>
        <p:spPr>
          <a:xfrm>
            <a:off x="548640" y="2139696"/>
            <a:ext cx="201168" cy="201168"/>
          </a:xfrm>
          <a:prstGeom prst="rect">
            <a:avLst/>
          </a:prstGeom>
        </p:spPr>
      </p:pic>
      <p:sp>
        <p:nvSpPr>
          <p:cNvPr id="13" name="Text 8"/>
          <p:cNvSpPr/>
          <p:nvPr/>
        </p:nvSpPr>
        <p:spPr>
          <a:xfrm>
            <a:off x="822960" y="2121408"/>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Health check routing policies</a:t>
            </a:r>
            <a:endParaRPr lang="en-US" sz="1050" dirty="0"/>
          </a:p>
        </p:txBody>
      </p:sp>
      <p:sp>
        <p:nvSpPr>
          <p:cNvPr id="14" name="Shape 9"/>
          <p:cNvSpPr/>
          <p:nvPr/>
        </p:nvSpPr>
        <p:spPr>
          <a:xfrm>
            <a:off x="4846320" y="987552"/>
            <a:ext cx="4206240" cy="1828800"/>
          </a:xfrm>
          <a:prstGeom prst="roundRect">
            <a:avLst>
              <a:gd name="adj" fmla="val 6000"/>
            </a:avLst>
          </a:prstGeom>
          <a:solidFill>
            <a:srgbClr val="EFF6FF"/>
          </a:solidFill>
          <a:ln w="19050">
            <a:solidFill>
              <a:srgbClr val="065F46"/>
            </a:solidFill>
            <a:prstDash val="solid"/>
          </a:ln>
          <a:effectLst>
            <a:outerShdw sx="100000" sy="100000" kx="0" ky="0" algn="bl" rotWithShape="0" blurRad="127000" dist="25400" dir="2700000">
              <a:srgbClr val="000000">
                <a:alpha val="10000"/>
              </a:srgbClr>
            </a:outerShdw>
          </a:effectLst>
        </p:spPr>
      </p:sp>
      <p:sp>
        <p:nvSpPr>
          <p:cNvPr id="15" name="Shape 10"/>
          <p:cNvSpPr/>
          <p:nvPr/>
        </p:nvSpPr>
        <p:spPr>
          <a:xfrm>
            <a:off x="4956048" y="1097280"/>
            <a:ext cx="914400" cy="292608"/>
          </a:xfrm>
          <a:prstGeom prst="roundRect">
            <a:avLst>
              <a:gd name="adj" fmla="val 18750"/>
            </a:avLst>
          </a:prstGeom>
          <a:solidFill>
            <a:srgbClr val="065F46"/>
          </a:solidFill>
          <a:ln/>
        </p:spPr>
      </p:sp>
      <p:sp>
        <p:nvSpPr>
          <p:cNvPr id="16" name="Text 11"/>
          <p:cNvSpPr/>
          <p:nvPr/>
        </p:nvSpPr>
        <p:spPr>
          <a:xfrm>
            <a:off x="4956048" y="1097280"/>
            <a:ext cx="9144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2</a:t>
            </a:r>
            <a:endParaRPr lang="en-US" sz="1000" dirty="0"/>
          </a:p>
        </p:txBody>
      </p:sp>
      <p:sp>
        <p:nvSpPr>
          <p:cNvPr id="17" name="Text 12"/>
          <p:cNvSpPr/>
          <p:nvPr/>
        </p:nvSpPr>
        <p:spPr>
          <a:xfrm>
            <a:off x="5943600" y="1115568"/>
            <a:ext cx="2926080" cy="256032"/>
          </a:xfrm>
          <a:prstGeom prst="rect">
            <a:avLst/>
          </a:prstGeom>
          <a:noFill/>
          <a:ln/>
        </p:spPr>
        <p:txBody>
          <a:bodyPr wrap="square" lIns="0" tIns="0" rIns="0" bIns="0" rtlCol="0" anchor="ctr"/>
          <a:lstStyle/>
          <a:p>
            <a:pPr indent="0" marL="0">
              <a:buNone/>
            </a:pPr>
            <a:r>
              <a:rPr lang="en-US" sz="1400" b="1" dirty="0">
                <a:solidFill>
                  <a:srgbClr val="065F46"/>
                </a:solidFill>
                <a:latin typeface="Calibri" pitchFamily="34" charset="0"/>
                <a:ea typeface="Calibri" pitchFamily="34" charset="-122"/>
                <a:cs typeface="Calibri" pitchFamily="34" charset="-120"/>
              </a:rPr>
              <a:t>CI/CD Pipeline</a:t>
            </a:r>
            <a:endParaRPr lang="en-US" sz="1400" dirty="0"/>
          </a:p>
        </p:txBody>
      </p:sp>
      <p:pic>
        <p:nvPicPr>
          <p:cNvPr id="18" name="Image 3" descr="preencoded.png">    </p:cNvPr>
          <p:cNvPicPr>
            <a:picLocks noChangeAspect="1"/>
          </p:cNvPicPr>
          <p:nvPr/>
        </p:nvPicPr>
        <p:blipFill>
          <a:blip r:embed="rId4"/>
          <a:stretch>
            <a:fillRect/>
          </a:stretch>
        </p:blipFill>
        <p:spPr>
          <a:xfrm>
            <a:off x="5029200" y="1517904"/>
            <a:ext cx="201168" cy="201168"/>
          </a:xfrm>
          <a:prstGeom prst="rect">
            <a:avLst/>
          </a:prstGeom>
        </p:spPr>
      </p:pic>
      <p:sp>
        <p:nvSpPr>
          <p:cNvPr id="19" name="Text 13"/>
          <p:cNvSpPr/>
          <p:nvPr/>
        </p:nvSpPr>
        <p:spPr>
          <a:xfrm>
            <a:off x="5303520" y="1499616"/>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GitHub Actions workflows</a:t>
            </a:r>
            <a:endParaRPr lang="en-US" sz="1050" dirty="0"/>
          </a:p>
        </p:txBody>
      </p:sp>
      <p:pic>
        <p:nvPicPr>
          <p:cNvPr id="20" name="Image 4" descr="preencoded.png">    </p:cNvPr>
          <p:cNvPicPr>
            <a:picLocks noChangeAspect="1"/>
          </p:cNvPicPr>
          <p:nvPr/>
        </p:nvPicPr>
        <p:blipFill>
          <a:blip r:embed="rId5"/>
          <a:stretch>
            <a:fillRect/>
          </a:stretch>
        </p:blipFill>
        <p:spPr>
          <a:xfrm>
            <a:off x="5029200" y="1828800"/>
            <a:ext cx="201168" cy="201168"/>
          </a:xfrm>
          <a:prstGeom prst="rect">
            <a:avLst/>
          </a:prstGeom>
        </p:spPr>
      </p:pic>
      <p:sp>
        <p:nvSpPr>
          <p:cNvPr id="21" name="Text 14"/>
          <p:cNvSpPr/>
          <p:nvPr/>
        </p:nvSpPr>
        <p:spPr>
          <a:xfrm>
            <a:off x="5303520" y="1810512"/>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Automated Terraform plans</a:t>
            </a:r>
            <a:endParaRPr lang="en-US" sz="1050" dirty="0"/>
          </a:p>
        </p:txBody>
      </p:sp>
      <p:pic>
        <p:nvPicPr>
          <p:cNvPr id="22" name="Image 5" descr="preencoded.png">    </p:cNvPr>
          <p:cNvPicPr>
            <a:picLocks noChangeAspect="1"/>
          </p:cNvPicPr>
          <p:nvPr/>
        </p:nvPicPr>
        <p:blipFill>
          <a:blip r:embed="rId6"/>
          <a:stretch>
            <a:fillRect/>
          </a:stretch>
        </p:blipFill>
        <p:spPr>
          <a:xfrm>
            <a:off x="5029200" y="2139696"/>
            <a:ext cx="201168" cy="201168"/>
          </a:xfrm>
          <a:prstGeom prst="rect">
            <a:avLst/>
          </a:prstGeom>
        </p:spPr>
      </p:pic>
      <p:sp>
        <p:nvSpPr>
          <p:cNvPr id="23" name="Text 15"/>
          <p:cNvSpPr/>
          <p:nvPr/>
        </p:nvSpPr>
        <p:spPr>
          <a:xfrm>
            <a:off x="5303520" y="2121408"/>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Docker build + ECR push</a:t>
            </a:r>
            <a:endParaRPr lang="en-US" sz="1050" dirty="0"/>
          </a:p>
        </p:txBody>
      </p:sp>
      <p:pic>
        <p:nvPicPr>
          <p:cNvPr id="24" name="Image 6" descr="preencoded.png">    </p:cNvPr>
          <p:cNvPicPr>
            <a:picLocks noChangeAspect="1"/>
          </p:cNvPicPr>
          <p:nvPr/>
        </p:nvPicPr>
        <p:blipFill>
          <a:blip r:embed="rId7"/>
          <a:stretch>
            <a:fillRect/>
          </a:stretch>
        </p:blipFill>
        <p:spPr>
          <a:xfrm>
            <a:off x="5029200" y="2450592"/>
            <a:ext cx="201168" cy="201168"/>
          </a:xfrm>
          <a:prstGeom prst="rect">
            <a:avLst/>
          </a:prstGeom>
        </p:spPr>
      </p:pic>
      <p:sp>
        <p:nvSpPr>
          <p:cNvPr id="25" name="Text 16"/>
          <p:cNvSpPr/>
          <p:nvPr/>
        </p:nvSpPr>
        <p:spPr>
          <a:xfrm>
            <a:off x="5303520" y="2432304"/>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Instance Refresh trigger</a:t>
            </a:r>
            <a:endParaRPr lang="en-US" sz="1050" dirty="0"/>
          </a:p>
        </p:txBody>
      </p:sp>
      <p:sp>
        <p:nvSpPr>
          <p:cNvPr id="26" name="Shape 17"/>
          <p:cNvSpPr/>
          <p:nvPr/>
        </p:nvSpPr>
        <p:spPr>
          <a:xfrm>
            <a:off x="365760" y="2999232"/>
            <a:ext cx="4206240" cy="1828800"/>
          </a:xfrm>
          <a:prstGeom prst="roundRect">
            <a:avLst>
              <a:gd name="adj" fmla="val 6000"/>
            </a:avLst>
          </a:prstGeom>
          <a:solidFill>
            <a:srgbClr val="EFF6FF"/>
          </a:solidFill>
          <a:ln w="19050">
            <a:solidFill>
              <a:srgbClr val="7C3AED"/>
            </a:solidFill>
            <a:prstDash val="solid"/>
          </a:ln>
          <a:effectLst>
            <a:outerShdw sx="100000" sy="100000" kx="0" ky="0" algn="bl" rotWithShape="0" blurRad="127000" dist="25400" dir="2700000">
              <a:srgbClr val="000000">
                <a:alpha val="10000"/>
              </a:srgbClr>
            </a:outerShdw>
          </a:effectLst>
        </p:spPr>
      </p:sp>
      <p:sp>
        <p:nvSpPr>
          <p:cNvPr id="27" name="Shape 18"/>
          <p:cNvSpPr/>
          <p:nvPr/>
        </p:nvSpPr>
        <p:spPr>
          <a:xfrm>
            <a:off x="475488" y="3108960"/>
            <a:ext cx="914400" cy="292608"/>
          </a:xfrm>
          <a:prstGeom prst="roundRect">
            <a:avLst>
              <a:gd name="adj" fmla="val 18750"/>
            </a:avLst>
          </a:prstGeom>
          <a:solidFill>
            <a:srgbClr val="7C3AED"/>
          </a:solidFill>
          <a:ln/>
        </p:spPr>
      </p:sp>
      <p:sp>
        <p:nvSpPr>
          <p:cNvPr id="28" name="Text 19"/>
          <p:cNvSpPr/>
          <p:nvPr/>
        </p:nvSpPr>
        <p:spPr>
          <a:xfrm>
            <a:off x="475488" y="3108960"/>
            <a:ext cx="9144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3</a:t>
            </a:r>
            <a:endParaRPr lang="en-US" sz="1000" dirty="0"/>
          </a:p>
        </p:txBody>
      </p:sp>
      <p:sp>
        <p:nvSpPr>
          <p:cNvPr id="29" name="Text 20"/>
          <p:cNvSpPr/>
          <p:nvPr/>
        </p:nvSpPr>
        <p:spPr>
          <a:xfrm>
            <a:off x="1463040" y="3127248"/>
            <a:ext cx="2926080" cy="256032"/>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Security Hardening</a:t>
            </a:r>
            <a:endParaRPr lang="en-US" sz="1400" dirty="0"/>
          </a:p>
        </p:txBody>
      </p:sp>
      <p:pic>
        <p:nvPicPr>
          <p:cNvPr id="30" name="Image 7" descr="preencoded.png">    </p:cNvPr>
          <p:cNvPicPr>
            <a:picLocks noChangeAspect="1"/>
          </p:cNvPicPr>
          <p:nvPr/>
        </p:nvPicPr>
        <p:blipFill>
          <a:blip r:embed="rId8"/>
          <a:stretch>
            <a:fillRect/>
          </a:stretch>
        </p:blipFill>
        <p:spPr>
          <a:xfrm>
            <a:off x="548640" y="3529584"/>
            <a:ext cx="201168" cy="201168"/>
          </a:xfrm>
          <a:prstGeom prst="rect">
            <a:avLst/>
          </a:prstGeom>
        </p:spPr>
      </p:pic>
      <p:sp>
        <p:nvSpPr>
          <p:cNvPr id="31" name="Text 21"/>
          <p:cNvSpPr/>
          <p:nvPr/>
        </p:nvSpPr>
        <p:spPr>
          <a:xfrm>
            <a:off x="822960" y="3511296"/>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KMS encryption for RDS + S3</a:t>
            </a:r>
            <a:endParaRPr lang="en-US" sz="1050" dirty="0"/>
          </a:p>
        </p:txBody>
      </p:sp>
      <p:pic>
        <p:nvPicPr>
          <p:cNvPr id="32" name="Image 8" descr="preencoded.png">    </p:cNvPr>
          <p:cNvPicPr>
            <a:picLocks noChangeAspect="1"/>
          </p:cNvPicPr>
          <p:nvPr/>
        </p:nvPicPr>
        <p:blipFill>
          <a:blip r:embed="rId9"/>
          <a:stretch>
            <a:fillRect/>
          </a:stretch>
        </p:blipFill>
        <p:spPr>
          <a:xfrm>
            <a:off x="548640" y="3840480"/>
            <a:ext cx="201168" cy="201168"/>
          </a:xfrm>
          <a:prstGeom prst="rect">
            <a:avLst/>
          </a:prstGeom>
        </p:spPr>
      </p:pic>
      <p:sp>
        <p:nvSpPr>
          <p:cNvPr id="33" name="Text 22"/>
          <p:cNvSpPr/>
          <p:nvPr/>
        </p:nvSpPr>
        <p:spPr>
          <a:xfrm>
            <a:off x="822960" y="3822192"/>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Secrets rotation automation</a:t>
            </a:r>
            <a:endParaRPr lang="en-US" sz="1050" dirty="0"/>
          </a:p>
        </p:txBody>
      </p:sp>
      <p:pic>
        <p:nvPicPr>
          <p:cNvPr id="34" name="Image 9" descr="preencoded.png">    </p:cNvPr>
          <p:cNvPicPr>
            <a:picLocks noChangeAspect="1"/>
          </p:cNvPicPr>
          <p:nvPr/>
        </p:nvPicPr>
        <p:blipFill>
          <a:blip r:embed="rId10"/>
          <a:stretch>
            <a:fillRect/>
          </a:stretch>
        </p:blipFill>
        <p:spPr>
          <a:xfrm>
            <a:off x="548640" y="4151376"/>
            <a:ext cx="201168" cy="201168"/>
          </a:xfrm>
          <a:prstGeom prst="rect">
            <a:avLst/>
          </a:prstGeom>
        </p:spPr>
      </p:pic>
      <p:sp>
        <p:nvSpPr>
          <p:cNvPr id="35" name="Text 23"/>
          <p:cNvSpPr/>
          <p:nvPr/>
        </p:nvSpPr>
        <p:spPr>
          <a:xfrm>
            <a:off x="822960" y="4133088"/>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AWS Config compliance rules</a:t>
            </a:r>
            <a:endParaRPr lang="en-US" sz="1050" dirty="0"/>
          </a:p>
        </p:txBody>
      </p:sp>
      <p:pic>
        <p:nvPicPr>
          <p:cNvPr id="36" name="Image 10" descr="preencoded.png">    </p:cNvPr>
          <p:cNvPicPr>
            <a:picLocks noChangeAspect="1"/>
          </p:cNvPicPr>
          <p:nvPr/>
        </p:nvPicPr>
        <p:blipFill>
          <a:blip r:embed="rId11"/>
          <a:stretch>
            <a:fillRect/>
          </a:stretch>
        </p:blipFill>
        <p:spPr>
          <a:xfrm>
            <a:off x="548640" y="4462272"/>
            <a:ext cx="201168" cy="201168"/>
          </a:xfrm>
          <a:prstGeom prst="rect">
            <a:avLst/>
          </a:prstGeom>
        </p:spPr>
      </p:pic>
      <p:sp>
        <p:nvSpPr>
          <p:cNvPr id="37" name="Text 24"/>
          <p:cNvSpPr/>
          <p:nvPr/>
        </p:nvSpPr>
        <p:spPr>
          <a:xfrm>
            <a:off x="822960" y="4443984"/>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GuardDuty threat detection</a:t>
            </a:r>
            <a:endParaRPr lang="en-US" sz="1050" dirty="0"/>
          </a:p>
        </p:txBody>
      </p:sp>
      <p:sp>
        <p:nvSpPr>
          <p:cNvPr id="38" name="Shape 25"/>
          <p:cNvSpPr/>
          <p:nvPr/>
        </p:nvSpPr>
        <p:spPr>
          <a:xfrm>
            <a:off x="4846320" y="2999232"/>
            <a:ext cx="4206240" cy="1828800"/>
          </a:xfrm>
          <a:prstGeom prst="roundRect">
            <a:avLst>
              <a:gd name="adj" fmla="val 6000"/>
            </a:avLst>
          </a:prstGeom>
          <a:solidFill>
            <a:srgbClr val="EFF6FF"/>
          </a:solidFill>
          <a:ln w="19050">
            <a:solidFill>
              <a:srgbClr val="7C2D12"/>
            </a:solidFill>
            <a:prstDash val="solid"/>
          </a:ln>
          <a:effectLst>
            <a:outerShdw sx="100000" sy="100000" kx="0" ky="0" algn="bl" rotWithShape="0" blurRad="127000" dist="25400" dir="2700000">
              <a:srgbClr val="000000">
                <a:alpha val="10000"/>
              </a:srgbClr>
            </a:outerShdw>
          </a:effectLst>
        </p:spPr>
      </p:sp>
      <p:sp>
        <p:nvSpPr>
          <p:cNvPr id="39" name="Shape 26"/>
          <p:cNvSpPr/>
          <p:nvPr/>
        </p:nvSpPr>
        <p:spPr>
          <a:xfrm>
            <a:off x="4956048" y="3108960"/>
            <a:ext cx="914400" cy="292608"/>
          </a:xfrm>
          <a:prstGeom prst="roundRect">
            <a:avLst>
              <a:gd name="adj" fmla="val 18750"/>
            </a:avLst>
          </a:prstGeom>
          <a:solidFill>
            <a:srgbClr val="7C2D12"/>
          </a:solidFill>
          <a:ln/>
        </p:spPr>
      </p:sp>
      <p:sp>
        <p:nvSpPr>
          <p:cNvPr id="40" name="Text 27"/>
          <p:cNvSpPr/>
          <p:nvPr/>
        </p:nvSpPr>
        <p:spPr>
          <a:xfrm>
            <a:off x="4956048" y="3108960"/>
            <a:ext cx="9144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4</a:t>
            </a:r>
            <a:endParaRPr lang="en-US" sz="1000" dirty="0"/>
          </a:p>
        </p:txBody>
      </p:sp>
      <p:sp>
        <p:nvSpPr>
          <p:cNvPr id="41" name="Text 28"/>
          <p:cNvSpPr/>
          <p:nvPr/>
        </p:nvSpPr>
        <p:spPr>
          <a:xfrm>
            <a:off x="5943600" y="3127248"/>
            <a:ext cx="2926080" cy="256032"/>
          </a:xfrm>
          <a:prstGeom prst="rect">
            <a:avLst/>
          </a:prstGeom>
          <a:noFill/>
          <a:ln/>
        </p:spPr>
        <p:txBody>
          <a:bodyPr wrap="square" lIns="0" tIns="0" rIns="0" bIns="0" rtlCol="0" anchor="ctr"/>
          <a:lstStyle/>
          <a:p>
            <a:pPr indent="0" marL="0">
              <a:buNone/>
            </a:pPr>
            <a:r>
              <a:rPr lang="en-US" sz="1400" b="1" dirty="0">
                <a:solidFill>
                  <a:srgbClr val="7C2D12"/>
                </a:solidFill>
                <a:latin typeface="Calibri" pitchFamily="34" charset="0"/>
                <a:ea typeface="Calibri" pitchFamily="34" charset="-122"/>
                <a:cs typeface="Calibri" pitchFamily="34" charset="-120"/>
              </a:rPr>
              <a:t>Advanced Architecture</a:t>
            </a:r>
            <a:endParaRPr lang="en-US" sz="1400" dirty="0"/>
          </a:p>
        </p:txBody>
      </p:sp>
      <p:pic>
        <p:nvPicPr>
          <p:cNvPr id="42" name="Image 11" descr="preencoded.png">    </p:cNvPr>
          <p:cNvPicPr>
            <a:picLocks noChangeAspect="1"/>
          </p:cNvPicPr>
          <p:nvPr/>
        </p:nvPicPr>
        <p:blipFill>
          <a:blip r:embed="rId12"/>
          <a:stretch>
            <a:fillRect/>
          </a:stretch>
        </p:blipFill>
        <p:spPr>
          <a:xfrm>
            <a:off x="5029200" y="3529584"/>
            <a:ext cx="201168" cy="201168"/>
          </a:xfrm>
          <a:prstGeom prst="rect">
            <a:avLst/>
          </a:prstGeom>
        </p:spPr>
      </p:pic>
      <p:sp>
        <p:nvSpPr>
          <p:cNvPr id="43" name="Text 29"/>
          <p:cNvSpPr/>
          <p:nvPr/>
        </p:nvSpPr>
        <p:spPr>
          <a:xfrm>
            <a:off x="5303520" y="3511296"/>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EventBridge for event bus</a:t>
            </a:r>
            <a:endParaRPr lang="en-US" sz="1050" dirty="0"/>
          </a:p>
        </p:txBody>
      </p:sp>
      <p:pic>
        <p:nvPicPr>
          <p:cNvPr id="44" name="Image 12" descr="preencoded.png">    </p:cNvPr>
          <p:cNvPicPr>
            <a:picLocks noChangeAspect="1"/>
          </p:cNvPicPr>
          <p:nvPr/>
        </p:nvPicPr>
        <p:blipFill>
          <a:blip r:embed="rId13"/>
          <a:stretch>
            <a:fillRect/>
          </a:stretch>
        </p:blipFill>
        <p:spPr>
          <a:xfrm>
            <a:off x="5029200" y="3840480"/>
            <a:ext cx="201168" cy="201168"/>
          </a:xfrm>
          <a:prstGeom prst="rect">
            <a:avLst/>
          </a:prstGeom>
        </p:spPr>
      </p:pic>
      <p:sp>
        <p:nvSpPr>
          <p:cNvPr id="45" name="Text 30"/>
          <p:cNvSpPr/>
          <p:nvPr/>
        </p:nvSpPr>
        <p:spPr>
          <a:xfrm>
            <a:off x="5303520" y="3822192"/>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Blue/Green deployments</a:t>
            </a:r>
            <a:endParaRPr lang="en-US" sz="1050" dirty="0"/>
          </a:p>
        </p:txBody>
      </p:sp>
      <p:pic>
        <p:nvPicPr>
          <p:cNvPr id="46" name="Image 13" descr="preencoded.png">    </p:cNvPr>
          <p:cNvPicPr>
            <a:picLocks noChangeAspect="1"/>
          </p:cNvPicPr>
          <p:nvPr/>
        </p:nvPicPr>
        <p:blipFill>
          <a:blip r:embed="rId14"/>
          <a:stretch>
            <a:fillRect/>
          </a:stretch>
        </p:blipFill>
        <p:spPr>
          <a:xfrm>
            <a:off x="5029200" y="4151376"/>
            <a:ext cx="201168" cy="201168"/>
          </a:xfrm>
          <a:prstGeom prst="rect">
            <a:avLst/>
          </a:prstGeom>
        </p:spPr>
      </p:pic>
      <p:sp>
        <p:nvSpPr>
          <p:cNvPr id="47" name="Text 31"/>
          <p:cNvSpPr/>
          <p:nvPr/>
        </p:nvSpPr>
        <p:spPr>
          <a:xfrm>
            <a:off x="5303520" y="4133088"/>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AMI baking with Packer</a:t>
            </a:r>
            <a:endParaRPr lang="en-US" sz="1050" dirty="0"/>
          </a:p>
        </p:txBody>
      </p:sp>
      <p:pic>
        <p:nvPicPr>
          <p:cNvPr id="48" name="Image 14" descr="preencoded.png">    </p:cNvPr>
          <p:cNvPicPr>
            <a:picLocks noChangeAspect="1"/>
          </p:cNvPicPr>
          <p:nvPr/>
        </p:nvPicPr>
        <p:blipFill>
          <a:blip r:embed="rId15"/>
          <a:stretch>
            <a:fillRect/>
          </a:stretch>
        </p:blipFill>
        <p:spPr>
          <a:xfrm>
            <a:off x="5029200" y="4462272"/>
            <a:ext cx="201168" cy="201168"/>
          </a:xfrm>
          <a:prstGeom prst="rect">
            <a:avLst/>
          </a:prstGeom>
        </p:spPr>
      </p:pic>
      <p:sp>
        <p:nvSpPr>
          <p:cNvPr id="49" name="Text 32"/>
          <p:cNvSpPr/>
          <p:nvPr/>
        </p:nvSpPr>
        <p:spPr>
          <a:xfrm>
            <a:off x="5303520" y="4443984"/>
            <a:ext cx="3611880" cy="23774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Multi-region disaster recovery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Key Learnings</a:t>
            </a:r>
            <a:endParaRPr lang="en-US" sz="3200" dirty="0"/>
          </a:p>
        </p:txBody>
      </p:sp>
      <p:sp>
        <p:nvSpPr>
          <p:cNvPr id="3" name="Shape 1"/>
          <p:cNvSpPr/>
          <p:nvPr/>
        </p:nvSpPr>
        <p:spPr>
          <a:xfrm>
            <a:off x="457200" y="868680"/>
            <a:ext cx="1097280" cy="45720"/>
          </a:xfrm>
          <a:prstGeom prst="rect">
            <a:avLst/>
          </a:prstGeom>
          <a:solidFill>
            <a:srgbClr val="FF9900"/>
          </a:solidFill>
          <a:ln/>
        </p:spPr>
      </p:sp>
      <p:sp>
        <p:nvSpPr>
          <p:cNvPr id="4" name="Shape 2"/>
          <p:cNvSpPr/>
          <p:nvPr/>
        </p:nvSpPr>
        <p:spPr>
          <a:xfrm>
            <a:off x="274320" y="109728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024128" y="1207008"/>
            <a:ext cx="411480" cy="411480"/>
          </a:xfrm>
          <a:prstGeom prst="rect">
            <a:avLst/>
          </a:prstGeom>
        </p:spPr>
      </p:pic>
      <p:sp>
        <p:nvSpPr>
          <p:cNvPr id="6" name="Text 3"/>
          <p:cNvSpPr/>
          <p:nvPr/>
        </p:nvSpPr>
        <p:spPr>
          <a:xfrm>
            <a:off x="365760" y="169164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Cloud Networking</a:t>
            </a:r>
            <a:endParaRPr lang="en-US" sz="1100" dirty="0"/>
          </a:p>
        </p:txBody>
      </p:sp>
      <p:sp>
        <p:nvSpPr>
          <p:cNvPr id="7" name="Text 4"/>
          <p:cNvSpPr/>
          <p:nvPr/>
        </p:nvSpPr>
        <p:spPr>
          <a:xfrm>
            <a:off x="365760" y="201168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VPC design, subnet isolation, NAT Gateways, VPC Endpoints, and security group rules are the foundation of secure cloud architecture. Get networking right first.</a:t>
            </a:r>
            <a:endParaRPr lang="en-US" sz="850" dirty="0"/>
          </a:p>
        </p:txBody>
      </p:sp>
      <p:sp>
        <p:nvSpPr>
          <p:cNvPr id="8" name="Shape 5"/>
          <p:cNvSpPr/>
          <p:nvPr/>
        </p:nvSpPr>
        <p:spPr>
          <a:xfrm>
            <a:off x="2468880" y="109728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3218688" y="1207008"/>
            <a:ext cx="411480" cy="411480"/>
          </a:xfrm>
          <a:prstGeom prst="rect">
            <a:avLst/>
          </a:prstGeom>
        </p:spPr>
      </p:pic>
      <p:sp>
        <p:nvSpPr>
          <p:cNvPr id="10" name="Text 6"/>
          <p:cNvSpPr/>
          <p:nvPr/>
        </p:nvSpPr>
        <p:spPr>
          <a:xfrm>
            <a:off x="2560320" y="169164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Load Balancing</a:t>
            </a:r>
            <a:endParaRPr lang="en-US" sz="1100" dirty="0"/>
          </a:p>
        </p:txBody>
      </p:sp>
      <p:sp>
        <p:nvSpPr>
          <p:cNvPr id="11" name="Text 7"/>
          <p:cNvSpPr/>
          <p:nvPr/>
        </p:nvSpPr>
        <p:spPr>
          <a:xfrm>
            <a:off x="2560320" y="201168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Two-tier ALB architecture separates public and internal traffic. Path-based routing reduces operational complexity and improves security posture.</a:t>
            </a:r>
            <a:endParaRPr lang="en-US" sz="850" dirty="0"/>
          </a:p>
        </p:txBody>
      </p:sp>
      <p:sp>
        <p:nvSpPr>
          <p:cNvPr id="12" name="Shape 8"/>
          <p:cNvSpPr/>
          <p:nvPr/>
        </p:nvSpPr>
        <p:spPr>
          <a:xfrm>
            <a:off x="4663440" y="109728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5413248" y="1207008"/>
            <a:ext cx="411480" cy="411480"/>
          </a:xfrm>
          <a:prstGeom prst="rect">
            <a:avLst/>
          </a:prstGeom>
        </p:spPr>
      </p:pic>
      <p:sp>
        <p:nvSpPr>
          <p:cNvPr id="14" name="Text 9"/>
          <p:cNvSpPr/>
          <p:nvPr/>
        </p:nvSpPr>
        <p:spPr>
          <a:xfrm>
            <a:off x="4754880" y="169164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Auto Scaling</a:t>
            </a:r>
            <a:endParaRPr lang="en-US" sz="1100" dirty="0"/>
          </a:p>
        </p:txBody>
      </p:sp>
      <p:sp>
        <p:nvSpPr>
          <p:cNvPr id="15" name="Text 10"/>
          <p:cNvSpPr/>
          <p:nvPr/>
        </p:nvSpPr>
        <p:spPr>
          <a:xfrm>
            <a:off x="4754880" y="201168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Self-healing infrastructure requires careful health check configuration. Grace periods, instance warm-up, and rolling update strategies prevent outage loops.</a:t>
            </a:r>
            <a:endParaRPr lang="en-US" sz="850" dirty="0"/>
          </a:p>
        </p:txBody>
      </p:sp>
      <p:sp>
        <p:nvSpPr>
          <p:cNvPr id="16" name="Shape 11"/>
          <p:cNvSpPr/>
          <p:nvPr/>
        </p:nvSpPr>
        <p:spPr>
          <a:xfrm>
            <a:off x="6858000" y="109728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7607808" y="1207008"/>
            <a:ext cx="411480" cy="411480"/>
          </a:xfrm>
          <a:prstGeom prst="rect">
            <a:avLst/>
          </a:prstGeom>
        </p:spPr>
      </p:pic>
      <p:sp>
        <p:nvSpPr>
          <p:cNvPr id="18" name="Text 12"/>
          <p:cNvSpPr/>
          <p:nvPr/>
        </p:nvSpPr>
        <p:spPr>
          <a:xfrm>
            <a:off x="6949440" y="169164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Observability</a:t>
            </a:r>
            <a:endParaRPr lang="en-US" sz="1100" dirty="0"/>
          </a:p>
        </p:txBody>
      </p:sp>
      <p:sp>
        <p:nvSpPr>
          <p:cNvPr id="19" name="Text 13"/>
          <p:cNvSpPr/>
          <p:nvPr/>
        </p:nvSpPr>
        <p:spPr>
          <a:xfrm>
            <a:off x="6949440" y="201168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You can't manage what you can't measure. CloudWatch dashboards and alarms provide early warning systems that catch issues before users do.</a:t>
            </a:r>
            <a:endParaRPr lang="en-US" sz="850" dirty="0"/>
          </a:p>
        </p:txBody>
      </p:sp>
      <p:sp>
        <p:nvSpPr>
          <p:cNvPr id="20" name="Shape 14"/>
          <p:cNvSpPr/>
          <p:nvPr/>
        </p:nvSpPr>
        <p:spPr>
          <a:xfrm>
            <a:off x="274320" y="288036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1024128" y="2990088"/>
            <a:ext cx="411480" cy="411480"/>
          </a:xfrm>
          <a:prstGeom prst="rect">
            <a:avLst/>
          </a:prstGeom>
        </p:spPr>
      </p:pic>
      <p:sp>
        <p:nvSpPr>
          <p:cNvPr id="22" name="Text 15"/>
          <p:cNvSpPr/>
          <p:nvPr/>
        </p:nvSpPr>
        <p:spPr>
          <a:xfrm>
            <a:off x="365760" y="347472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Security First</a:t>
            </a:r>
            <a:endParaRPr lang="en-US" sz="1100" dirty="0"/>
          </a:p>
        </p:txBody>
      </p:sp>
      <p:sp>
        <p:nvSpPr>
          <p:cNvPr id="23" name="Text 16"/>
          <p:cNvSpPr/>
          <p:nvPr/>
        </p:nvSpPr>
        <p:spPr>
          <a:xfrm>
            <a:off x="365760" y="379476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WAF, Secrets Manager, private subnets, and least-privilege IAM are not optional extras. Build security in from day one, not as an afterthought.</a:t>
            </a:r>
            <a:endParaRPr lang="en-US" sz="850" dirty="0"/>
          </a:p>
        </p:txBody>
      </p:sp>
      <p:sp>
        <p:nvSpPr>
          <p:cNvPr id="24" name="Shape 17"/>
          <p:cNvSpPr/>
          <p:nvPr/>
        </p:nvSpPr>
        <p:spPr>
          <a:xfrm>
            <a:off x="2468880" y="288036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25" name="Image 5" descr="preencoded.png">    </p:cNvPr>
          <p:cNvPicPr>
            <a:picLocks noChangeAspect="1"/>
          </p:cNvPicPr>
          <p:nvPr/>
        </p:nvPicPr>
        <p:blipFill>
          <a:blip r:embed="rId6"/>
          <a:stretch>
            <a:fillRect/>
          </a:stretch>
        </p:blipFill>
        <p:spPr>
          <a:xfrm>
            <a:off x="3218688" y="2990088"/>
            <a:ext cx="411480" cy="411480"/>
          </a:xfrm>
          <a:prstGeom prst="rect">
            <a:avLst/>
          </a:prstGeom>
        </p:spPr>
      </p:pic>
      <p:sp>
        <p:nvSpPr>
          <p:cNvPr id="26" name="Text 18"/>
          <p:cNvSpPr/>
          <p:nvPr/>
        </p:nvSpPr>
        <p:spPr>
          <a:xfrm>
            <a:off x="2560320" y="347472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Event-Driven Design</a:t>
            </a:r>
            <a:endParaRPr lang="en-US" sz="1100" dirty="0"/>
          </a:p>
        </p:txBody>
      </p:sp>
      <p:sp>
        <p:nvSpPr>
          <p:cNvPr id="27" name="Text 19"/>
          <p:cNvSpPr/>
          <p:nvPr/>
        </p:nvSpPr>
        <p:spPr>
          <a:xfrm>
            <a:off x="2560320" y="379476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Decoupling services with SQS/SNS/Lambda creates resilient, scalable systems. Async processing improves user experience and system reliability.</a:t>
            </a:r>
            <a:endParaRPr lang="en-US" sz="850" dirty="0"/>
          </a:p>
        </p:txBody>
      </p:sp>
      <p:sp>
        <p:nvSpPr>
          <p:cNvPr id="28" name="Shape 20"/>
          <p:cNvSpPr/>
          <p:nvPr/>
        </p:nvSpPr>
        <p:spPr>
          <a:xfrm>
            <a:off x="4663440" y="288036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29" name="Image 6" descr="preencoded.png">    </p:cNvPr>
          <p:cNvPicPr>
            <a:picLocks noChangeAspect="1"/>
          </p:cNvPicPr>
          <p:nvPr/>
        </p:nvPicPr>
        <p:blipFill>
          <a:blip r:embed="rId7"/>
          <a:stretch>
            <a:fillRect/>
          </a:stretch>
        </p:blipFill>
        <p:spPr>
          <a:xfrm>
            <a:off x="5413248" y="2990088"/>
            <a:ext cx="411480" cy="411480"/>
          </a:xfrm>
          <a:prstGeom prst="rect">
            <a:avLst/>
          </a:prstGeom>
        </p:spPr>
      </p:pic>
      <p:sp>
        <p:nvSpPr>
          <p:cNvPr id="30" name="Text 21"/>
          <p:cNvSpPr/>
          <p:nvPr/>
        </p:nvSpPr>
        <p:spPr>
          <a:xfrm>
            <a:off x="4754880" y="347472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Terraform IaC</a:t>
            </a:r>
            <a:endParaRPr lang="en-US" sz="1100" dirty="0"/>
          </a:p>
        </p:txBody>
      </p:sp>
      <p:sp>
        <p:nvSpPr>
          <p:cNvPr id="31" name="Text 22"/>
          <p:cNvSpPr/>
          <p:nvPr/>
        </p:nvSpPr>
        <p:spPr>
          <a:xfrm>
            <a:off x="4754880" y="379476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Infrastructure as code with remote state enables team collaboration, reproducible environments, and disaster recovery. Console-only architectures are a liability.</a:t>
            </a:r>
            <a:endParaRPr lang="en-US" sz="850" dirty="0"/>
          </a:p>
        </p:txBody>
      </p:sp>
      <p:sp>
        <p:nvSpPr>
          <p:cNvPr id="32" name="Shape 23"/>
          <p:cNvSpPr/>
          <p:nvPr/>
        </p:nvSpPr>
        <p:spPr>
          <a:xfrm>
            <a:off x="6858000" y="2880360"/>
            <a:ext cx="2011680" cy="1627632"/>
          </a:xfrm>
          <a:prstGeom prst="roundRect">
            <a:avLst>
              <a:gd name="adj" fmla="val 5618"/>
            </a:avLst>
          </a:prstGeom>
          <a:solidFill>
            <a:srgbClr val="1A3A6B"/>
          </a:solidFill>
          <a:ln w="10160">
            <a:solidFill>
              <a:srgbClr val="2563EB"/>
            </a:solidFill>
            <a:prstDash val="solid"/>
          </a:ln>
          <a:effectLst>
            <a:outerShdw sx="100000" sy="100000" kx="0" ky="0" algn="bl" rotWithShape="0" blurRad="127000" dist="25400" dir="2700000">
              <a:srgbClr val="000000">
                <a:alpha val="10000"/>
              </a:srgbClr>
            </a:outerShdw>
          </a:effectLst>
        </p:spPr>
      </p:sp>
      <p:pic>
        <p:nvPicPr>
          <p:cNvPr id="33" name="Image 7" descr="preencoded.png">    </p:cNvPr>
          <p:cNvPicPr>
            <a:picLocks noChangeAspect="1"/>
          </p:cNvPicPr>
          <p:nvPr/>
        </p:nvPicPr>
        <p:blipFill>
          <a:blip r:embed="rId8"/>
          <a:stretch>
            <a:fillRect/>
          </a:stretch>
        </p:blipFill>
        <p:spPr>
          <a:xfrm>
            <a:off x="7607808" y="2990088"/>
            <a:ext cx="411480" cy="411480"/>
          </a:xfrm>
          <a:prstGeom prst="rect">
            <a:avLst/>
          </a:prstGeom>
        </p:spPr>
      </p:pic>
      <p:sp>
        <p:nvSpPr>
          <p:cNvPr id="34" name="Text 24"/>
          <p:cNvSpPr/>
          <p:nvPr/>
        </p:nvSpPr>
        <p:spPr>
          <a:xfrm>
            <a:off x="6949440" y="3474720"/>
            <a:ext cx="1828800" cy="310896"/>
          </a:xfrm>
          <a:prstGeom prst="rect">
            <a:avLst/>
          </a:prstGeom>
          <a:noFill/>
          <a:ln/>
        </p:spPr>
        <p:txBody>
          <a:bodyPr wrap="square" lIns="0" tIns="0" rIns="0" bIns="0" rtlCol="0" anchor="ctr"/>
          <a:lstStyle/>
          <a:p>
            <a:pPr algn="ctr" indent="0" marL="0">
              <a:buNone/>
            </a:pPr>
            <a:r>
              <a:rPr lang="en-US" sz="1100" b="1" dirty="0">
                <a:solidFill>
                  <a:srgbClr val="FF9900"/>
                </a:solidFill>
                <a:latin typeface="Calibri" pitchFamily="34" charset="0"/>
                <a:ea typeface="Calibri" pitchFamily="34" charset="-122"/>
                <a:cs typeface="Calibri" pitchFamily="34" charset="-120"/>
              </a:rPr>
              <a:t>Production Troubleshooting</a:t>
            </a:r>
            <a:endParaRPr lang="en-US" sz="1100" dirty="0"/>
          </a:p>
        </p:txBody>
      </p:sp>
      <p:sp>
        <p:nvSpPr>
          <p:cNvPr id="35" name="Text 25"/>
          <p:cNvSpPr/>
          <p:nvPr/>
        </p:nvSpPr>
        <p:spPr>
          <a:xfrm>
            <a:off x="6949440" y="3794760"/>
            <a:ext cx="1828800" cy="621792"/>
          </a:xfrm>
          <a:prstGeom prst="rect">
            <a:avLst/>
          </a:prstGeom>
          <a:noFill/>
          <a:ln/>
        </p:spPr>
        <p:txBody>
          <a:bodyPr wrap="square" lIns="25400" tIns="25400" rIns="25400" bIns="25400" rtlCol="0" anchor="ctr"/>
          <a:lstStyle/>
          <a:p>
            <a:pPr algn="l" indent="0" marL="0">
              <a:buNone/>
            </a:pPr>
            <a:r>
              <a:rPr lang="en-US" sz="850" dirty="0">
                <a:solidFill>
                  <a:srgbClr val="BFDBFE"/>
                </a:solidFill>
                <a:latin typeface="Calibri" pitchFamily="34" charset="0"/>
                <a:ea typeface="Calibri" pitchFamily="34" charset="-122"/>
                <a:cs typeface="Calibri" pitchFamily="34" charset="-120"/>
              </a:rPr>
              <a:t>WAF false positives, state drift, DNS delays — real production incidents teach more than documentation. Embrace the chaos, document everything.</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486400" y="-457200"/>
            <a:ext cx="5486400" cy="5486400"/>
          </a:xfrm>
          <a:prstGeom prst="ellipse">
            <a:avLst/>
          </a:prstGeom>
          <a:solidFill>
            <a:srgbClr val="2563EB">
              <a:alpha val="12000"/>
            </a:srgbClr>
          </a:solidFill>
          <a:ln/>
        </p:spPr>
      </p:sp>
      <p:sp>
        <p:nvSpPr>
          <p:cNvPr id="3" name="Shape 1"/>
          <p:cNvSpPr/>
          <p:nvPr/>
        </p:nvSpPr>
        <p:spPr>
          <a:xfrm>
            <a:off x="-1828800" y="2286000"/>
            <a:ext cx="4572000" cy="4572000"/>
          </a:xfrm>
          <a:prstGeom prst="ellipse">
            <a:avLst/>
          </a:prstGeom>
          <a:solidFill>
            <a:srgbClr val="1A3A6B">
              <a:alpha val="20000"/>
            </a:srgbClr>
          </a:solidFill>
          <a:ln/>
        </p:spPr>
      </p:sp>
      <p:sp>
        <p:nvSpPr>
          <p:cNvPr id="4" name="Shape 2"/>
          <p:cNvSpPr/>
          <p:nvPr/>
        </p:nvSpPr>
        <p:spPr>
          <a:xfrm>
            <a:off x="457200" y="4297680"/>
            <a:ext cx="1005840" cy="411480"/>
          </a:xfrm>
          <a:prstGeom prst="roundRect">
            <a:avLst>
              <a:gd name="adj" fmla="val 17778"/>
            </a:avLst>
          </a:prstGeom>
          <a:solidFill>
            <a:srgbClr val="7C3AED"/>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5" name="Text 3"/>
          <p:cNvSpPr/>
          <p:nvPr/>
        </p:nvSpPr>
        <p:spPr>
          <a:xfrm>
            <a:off x="45720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WAF</a:t>
            </a:r>
            <a:endParaRPr lang="en-US" sz="800" dirty="0"/>
          </a:p>
        </p:txBody>
      </p:sp>
      <p:sp>
        <p:nvSpPr>
          <p:cNvPr id="6" name="Shape 4"/>
          <p:cNvSpPr/>
          <p:nvPr/>
        </p:nvSpPr>
        <p:spPr>
          <a:xfrm>
            <a:off x="1463040" y="4498848"/>
            <a:ext cx="91440" cy="0"/>
          </a:xfrm>
          <a:prstGeom prst="line">
            <a:avLst/>
          </a:prstGeom>
          <a:noFill/>
          <a:ln w="12700">
            <a:solidFill>
              <a:srgbClr val="FF9900"/>
            </a:solidFill>
            <a:prstDash val="solid"/>
          </a:ln>
        </p:spPr>
      </p:sp>
      <p:sp>
        <p:nvSpPr>
          <p:cNvPr id="7" name="Shape 5"/>
          <p:cNvSpPr/>
          <p:nvPr/>
        </p:nvSpPr>
        <p:spPr>
          <a:xfrm>
            <a:off x="1554480" y="4297680"/>
            <a:ext cx="1005840" cy="411480"/>
          </a:xfrm>
          <a:prstGeom prst="roundRect">
            <a:avLst>
              <a:gd name="adj" fmla="val 17778"/>
            </a:avLst>
          </a:prstGeom>
          <a:solidFill>
            <a:srgbClr val="2563EB"/>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8" name="Text 6"/>
          <p:cNvSpPr/>
          <p:nvPr/>
        </p:nvSpPr>
        <p:spPr>
          <a:xfrm>
            <a:off x="155448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ALB</a:t>
            </a:r>
            <a:endParaRPr lang="en-US" sz="800" dirty="0"/>
          </a:p>
        </p:txBody>
      </p:sp>
      <p:sp>
        <p:nvSpPr>
          <p:cNvPr id="9" name="Shape 7"/>
          <p:cNvSpPr/>
          <p:nvPr/>
        </p:nvSpPr>
        <p:spPr>
          <a:xfrm>
            <a:off x="2560320" y="4498848"/>
            <a:ext cx="91440" cy="0"/>
          </a:xfrm>
          <a:prstGeom prst="line">
            <a:avLst/>
          </a:prstGeom>
          <a:noFill/>
          <a:ln w="12700">
            <a:solidFill>
              <a:srgbClr val="FF9900"/>
            </a:solidFill>
            <a:prstDash val="solid"/>
          </a:ln>
        </p:spPr>
      </p:sp>
      <p:sp>
        <p:nvSpPr>
          <p:cNvPr id="10" name="Shape 8"/>
          <p:cNvSpPr/>
          <p:nvPr/>
        </p:nvSpPr>
        <p:spPr>
          <a:xfrm>
            <a:off x="2651760" y="4297680"/>
            <a:ext cx="1005840" cy="411480"/>
          </a:xfrm>
          <a:prstGeom prst="roundRect">
            <a:avLst>
              <a:gd name="adj" fmla="val 17778"/>
            </a:avLst>
          </a:prstGeom>
          <a:solidFill>
            <a:srgbClr val="065F4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1" name="Text 9"/>
          <p:cNvSpPr/>
          <p:nvPr/>
        </p:nvSpPr>
        <p:spPr>
          <a:xfrm>
            <a:off x="265176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Frontend</a:t>
            </a:r>
            <a:endParaRPr lang="en-US" sz="800" dirty="0"/>
          </a:p>
        </p:txBody>
      </p:sp>
      <p:sp>
        <p:nvSpPr>
          <p:cNvPr id="12" name="Shape 10"/>
          <p:cNvSpPr/>
          <p:nvPr/>
        </p:nvSpPr>
        <p:spPr>
          <a:xfrm>
            <a:off x="3657600" y="4498848"/>
            <a:ext cx="91440" cy="0"/>
          </a:xfrm>
          <a:prstGeom prst="line">
            <a:avLst/>
          </a:prstGeom>
          <a:noFill/>
          <a:ln w="12700">
            <a:solidFill>
              <a:srgbClr val="FF9900"/>
            </a:solidFill>
            <a:prstDash val="solid"/>
          </a:ln>
        </p:spPr>
      </p:sp>
      <p:sp>
        <p:nvSpPr>
          <p:cNvPr id="13" name="Shape 11"/>
          <p:cNvSpPr/>
          <p:nvPr/>
        </p:nvSpPr>
        <p:spPr>
          <a:xfrm>
            <a:off x="3931920" y="4297680"/>
            <a:ext cx="1005840" cy="411480"/>
          </a:xfrm>
          <a:prstGeom prst="roundRect">
            <a:avLst>
              <a:gd name="adj" fmla="val 17778"/>
            </a:avLst>
          </a:prstGeom>
          <a:solidFill>
            <a:srgbClr val="4338CA"/>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4" name="Text 12"/>
          <p:cNvSpPr/>
          <p:nvPr/>
        </p:nvSpPr>
        <p:spPr>
          <a:xfrm>
            <a:off x="393192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Private ALB</a:t>
            </a:r>
            <a:endParaRPr lang="en-US" sz="800" dirty="0"/>
          </a:p>
        </p:txBody>
      </p:sp>
      <p:sp>
        <p:nvSpPr>
          <p:cNvPr id="15" name="Shape 13"/>
          <p:cNvSpPr/>
          <p:nvPr/>
        </p:nvSpPr>
        <p:spPr>
          <a:xfrm>
            <a:off x="4937760" y="4498848"/>
            <a:ext cx="91440" cy="0"/>
          </a:xfrm>
          <a:prstGeom prst="line">
            <a:avLst/>
          </a:prstGeom>
          <a:noFill/>
          <a:ln w="12700">
            <a:solidFill>
              <a:srgbClr val="FF9900"/>
            </a:solidFill>
            <a:prstDash val="solid"/>
          </a:ln>
        </p:spPr>
      </p:sp>
      <p:sp>
        <p:nvSpPr>
          <p:cNvPr id="16" name="Shape 14"/>
          <p:cNvSpPr/>
          <p:nvPr/>
        </p:nvSpPr>
        <p:spPr>
          <a:xfrm>
            <a:off x="5303520" y="4297680"/>
            <a:ext cx="1005840" cy="411480"/>
          </a:xfrm>
          <a:prstGeom prst="roundRect">
            <a:avLst>
              <a:gd name="adj" fmla="val 17778"/>
            </a:avLst>
          </a:prstGeom>
          <a:solidFill>
            <a:srgbClr val="7C2D12"/>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17" name="Text 15"/>
          <p:cNvSpPr/>
          <p:nvPr/>
        </p:nvSpPr>
        <p:spPr>
          <a:xfrm>
            <a:off x="530352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Services</a:t>
            </a:r>
            <a:endParaRPr lang="en-US" sz="800" dirty="0"/>
          </a:p>
        </p:txBody>
      </p:sp>
      <p:sp>
        <p:nvSpPr>
          <p:cNvPr id="18" name="Shape 16"/>
          <p:cNvSpPr/>
          <p:nvPr/>
        </p:nvSpPr>
        <p:spPr>
          <a:xfrm>
            <a:off x="6309360" y="4498848"/>
            <a:ext cx="91440" cy="0"/>
          </a:xfrm>
          <a:prstGeom prst="line">
            <a:avLst/>
          </a:prstGeom>
          <a:noFill/>
          <a:ln w="12700">
            <a:solidFill>
              <a:srgbClr val="FF9900"/>
            </a:solidFill>
            <a:prstDash val="solid"/>
          </a:ln>
        </p:spPr>
      </p:sp>
      <p:sp>
        <p:nvSpPr>
          <p:cNvPr id="19" name="Shape 17"/>
          <p:cNvSpPr/>
          <p:nvPr/>
        </p:nvSpPr>
        <p:spPr>
          <a:xfrm>
            <a:off x="6400800" y="4297680"/>
            <a:ext cx="1005840" cy="411480"/>
          </a:xfrm>
          <a:prstGeom prst="roundRect">
            <a:avLst>
              <a:gd name="adj" fmla="val 17778"/>
            </a:avLst>
          </a:prstGeom>
          <a:solidFill>
            <a:srgbClr val="0D2149"/>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0" name="Text 18"/>
          <p:cNvSpPr/>
          <p:nvPr/>
        </p:nvSpPr>
        <p:spPr>
          <a:xfrm>
            <a:off x="640080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RDS</a:t>
            </a:r>
            <a:endParaRPr lang="en-US" sz="800" dirty="0"/>
          </a:p>
        </p:txBody>
      </p:sp>
      <p:sp>
        <p:nvSpPr>
          <p:cNvPr id="21" name="Shape 19"/>
          <p:cNvSpPr/>
          <p:nvPr/>
        </p:nvSpPr>
        <p:spPr>
          <a:xfrm>
            <a:off x="7406640" y="4498848"/>
            <a:ext cx="91440" cy="0"/>
          </a:xfrm>
          <a:prstGeom prst="line">
            <a:avLst/>
          </a:prstGeom>
          <a:noFill/>
          <a:ln w="12700">
            <a:solidFill>
              <a:srgbClr val="FF9900"/>
            </a:solidFill>
            <a:prstDash val="solid"/>
          </a:ln>
        </p:spPr>
      </p:sp>
      <p:sp>
        <p:nvSpPr>
          <p:cNvPr id="22" name="Shape 20"/>
          <p:cNvSpPr/>
          <p:nvPr/>
        </p:nvSpPr>
        <p:spPr>
          <a:xfrm>
            <a:off x="7498080" y="4297680"/>
            <a:ext cx="1005840" cy="411480"/>
          </a:xfrm>
          <a:prstGeom prst="roundRect">
            <a:avLst>
              <a:gd name="adj" fmla="val 17778"/>
            </a:avLst>
          </a:prstGeom>
          <a:solidFill>
            <a:srgbClr val="4A1D96"/>
          </a:solidFill>
          <a:ln w="15240">
            <a:solidFill>
              <a:srgbClr val="2563EB"/>
            </a:solidFill>
            <a:prstDash val="solid"/>
          </a:ln>
          <a:effectLst>
            <a:outerShdw sx="100000" sy="100000" kx="0" ky="0" algn="bl" rotWithShape="0" blurRad="127000" dist="25400" dir="2700000">
              <a:srgbClr val="000000">
                <a:alpha val="10000"/>
              </a:srgbClr>
            </a:outerShdw>
          </a:effectLst>
        </p:spPr>
      </p:sp>
      <p:sp>
        <p:nvSpPr>
          <p:cNvPr id="23" name="Text 21"/>
          <p:cNvSpPr/>
          <p:nvPr/>
        </p:nvSpPr>
        <p:spPr>
          <a:xfrm>
            <a:off x="7498080" y="4297680"/>
            <a:ext cx="1005840" cy="411480"/>
          </a:xfrm>
          <a:prstGeom prst="rect">
            <a:avLst/>
          </a:prstGeom>
          <a:noFill/>
          <a:ln/>
        </p:spPr>
        <p:txBody>
          <a:bodyPr wrap="square" lIns="50800" tIns="50800" rIns="50800" bIns="508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SQS→Lambda</a:t>
            </a:r>
            <a:endParaRPr lang="en-US" sz="800" dirty="0"/>
          </a:p>
        </p:txBody>
      </p:sp>
      <p:sp>
        <p:nvSpPr>
          <p:cNvPr id="24" name="Text 22"/>
          <p:cNvSpPr/>
          <p:nvPr/>
        </p:nvSpPr>
        <p:spPr>
          <a:xfrm>
            <a:off x="457200" y="4069080"/>
            <a:ext cx="82296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BlackTickets Architecture at a Glance</a:t>
            </a:r>
            <a:endParaRPr lang="en-US" sz="900" dirty="0"/>
          </a:p>
        </p:txBody>
      </p:sp>
      <p:sp>
        <p:nvSpPr>
          <p:cNvPr id="25" name="Text 23"/>
          <p:cNvSpPr/>
          <p:nvPr/>
        </p:nvSpPr>
        <p:spPr>
          <a:xfrm>
            <a:off x="548640" y="640080"/>
            <a:ext cx="8046720" cy="1097280"/>
          </a:xfrm>
          <a:prstGeom prst="rect">
            <a:avLst/>
          </a:prstGeom>
          <a:noFill/>
          <a:ln/>
        </p:spPr>
        <p:txBody>
          <a:bodyPr wrap="square" lIns="0" tIns="0" rIns="0" bIns="0" rtlCol="0" anchor="ctr"/>
          <a:lstStyle/>
          <a:p>
            <a:pPr algn="l" indent="0" marL="0">
              <a:buNone/>
            </a:pPr>
            <a:r>
              <a:rPr lang="en-US" sz="6200" b="1" dirty="0">
                <a:solidFill>
                  <a:srgbClr val="FFFFFF"/>
                </a:solidFill>
                <a:latin typeface="Calibri" pitchFamily="34" charset="0"/>
                <a:ea typeface="Calibri" pitchFamily="34" charset="-122"/>
                <a:cs typeface="Calibri" pitchFamily="34" charset="-120"/>
              </a:rPr>
              <a:t>Thank You</a:t>
            </a:r>
            <a:endParaRPr lang="en-US" sz="6200" dirty="0"/>
          </a:p>
        </p:txBody>
      </p:sp>
      <p:sp>
        <p:nvSpPr>
          <p:cNvPr id="26" name="Shape 24"/>
          <p:cNvSpPr/>
          <p:nvPr/>
        </p:nvSpPr>
        <p:spPr>
          <a:xfrm>
            <a:off x="548640" y="1792224"/>
            <a:ext cx="2743200" cy="64008"/>
          </a:xfrm>
          <a:prstGeom prst="rect">
            <a:avLst/>
          </a:prstGeom>
          <a:solidFill>
            <a:srgbClr val="FF9900"/>
          </a:solidFill>
          <a:ln/>
        </p:spPr>
      </p:sp>
      <p:sp>
        <p:nvSpPr>
          <p:cNvPr id="27" name="Text 25"/>
          <p:cNvSpPr/>
          <p:nvPr/>
        </p:nvSpPr>
        <p:spPr>
          <a:xfrm>
            <a:off x="548640" y="1965960"/>
            <a:ext cx="8046720" cy="502920"/>
          </a:xfrm>
          <a:prstGeom prst="rect">
            <a:avLst/>
          </a:prstGeom>
          <a:noFill/>
          <a:ln/>
        </p:spPr>
        <p:txBody>
          <a:bodyPr wrap="square" lIns="0" tIns="0" rIns="0" bIns="0" rtlCol="0" anchor="ctr"/>
          <a:lstStyle/>
          <a:p>
            <a:pPr algn="l" indent="0" marL="0">
              <a:buNone/>
            </a:pPr>
            <a:r>
              <a:rPr lang="en-US" sz="2400" dirty="0">
                <a:solidFill>
                  <a:srgbClr val="BFDBFE"/>
                </a:solidFill>
                <a:latin typeface="Calibri" pitchFamily="34" charset="0"/>
                <a:ea typeface="Calibri" pitchFamily="34" charset="-122"/>
                <a:cs typeface="Calibri" pitchFamily="34" charset="-120"/>
              </a:rPr>
              <a:t>Questions &amp; Discussion</a:t>
            </a:r>
            <a:endParaRPr lang="en-US" sz="2400" dirty="0"/>
          </a:p>
        </p:txBody>
      </p:sp>
      <p:sp>
        <p:nvSpPr>
          <p:cNvPr id="28" name="Text 26"/>
          <p:cNvSpPr/>
          <p:nvPr/>
        </p:nvSpPr>
        <p:spPr>
          <a:xfrm>
            <a:off x="548640" y="2606040"/>
            <a:ext cx="4572000" cy="292608"/>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Anticipated Questions:</a:t>
            </a:r>
            <a:endParaRPr lang="en-US" sz="1100" dirty="0"/>
          </a:p>
        </p:txBody>
      </p:sp>
      <p:sp>
        <p:nvSpPr>
          <p:cNvPr id="29" name="Text 27"/>
          <p:cNvSpPr/>
          <p:nvPr/>
        </p:nvSpPr>
        <p:spPr>
          <a:xfrm>
            <a:off x="640080" y="2944368"/>
            <a:ext cx="502920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How would you scale this to 10x traffic?</a:t>
            </a:r>
            <a:endParaRPr lang="en-US" sz="1000" dirty="0"/>
          </a:p>
        </p:txBody>
      </p:sp>
      <p:sp>
        <p:nvSpPr>
          <p:cNvPr id="30" name="Text 28"/>
          <p:cNvSpPr/>
          <p:nvPr/>
        </p:nvSpPr>
        <p:spPr>
          <a:xfrm>
            <a:off x="640080" y="3163824"/>
            <a:ext cx="502920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What's your approach to database connection pooling?</a:t>
            </a:r>
            <a:endParaRPr lang="en-US" sz="1000" dirty="0"/>
          </a:p>
        </p:txBody>
      </p:sp>
      <p:sp>
        <p:nvSpPr>
          <p:cNvPr id="31" name="Text 29"/>
          <p:cNvSpPr/>
          <p:nvPr/>
        </p:nvSpPr>
        <p:spPr>
          <a:xfrm>
            <a:off x="640080" y="3383280"/>
            <a:ext cx="502920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How do you handle secrets rotation in production?</a:t>
            </a:r>
            <a:endParaRPr lang="en-US" sz="1000" dirty="0"/>
          </a:p>
        </p:txBody>
      </p:sp>
      <p:sp>
        <p:nvSpPr>
          <p:cNvPr id="32" name="Text 30"/>
          <p:cNvSpPr/>
          <p:nvPr/>
        </p:nvSpPr>
        <p:spPr>
          <a:xfrm>
            <a:off x="640080" y="3602736"/>
            <a:ext cx="502920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What monitoring thresholds did you calibrate?</a:t>
            </a:r>
            <a:endParaRPr lang="en-US" sz="1000" dirty="0"/>
          </a:p>
        </p:txBody>
      </p:sp>
      <p:sp>
        <p:nvSpPr>
          <p:cNvPr id="33" name="Text 31"/>
          <p:cNvSpPr/>
          <p:nvPr/>
        </p:nvSpPr>
        <p:spPr>
          <a:xfrm>
            <a:off x="640080" y="3822192"/>
            <a:ext cx="502920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How does the WAF rate limiting work during flash sales?</a:t>
            </a:r>
            <a:endParaRPr lang="en-US" sz="1000" dirty="0"/>
          </a:p>
        </p:txBody>
      </p:sp>
      <p:sp>
        <p:nvSpPr>
          <p:cNvPr id="34" name="Shape 32"/>
          <p:cNvSpPr/>
          <p:nvPr/>
        </p:nvSpPr>
        <p:spPr>
          <a:xfrm>
            <a:off x="5760720" y="2468880"/>
            <a:ext cx="3017520" cy="1463040"/>
          </a:xfrm>
          <a:prstGeom prst="roundRect">
            <a:avLst>
              <a:gd name="adj" fmla="val 6250"/>
            </a:avLst>
          </a:prstGeom>
          <a:solidFill>
            <a:srgbClr val="1A3A6B">
              <a:alpha val="70000"/>
            </a:srgbClr>
          </a:solidFill>
          <a:ln w="12700">
            <a:solidFill>
              <a:srgbClr val="FF9900"/>
            </a:solidFill>
            <a:prstDash val="solid"/>
          </a:ln>
        </p:spPr>
      </p:sp>
      <p:sp>
        <p:nvSpPr>
          <p:cNvPr id="35" name="Text 33"/>
          <p:cNvSpPr/>
          <p:nvPr/>
        </p:nvSpPr>
        <p:spPr>
          <a:xfrm>
            <a:off x="5852160" y="2542032"/>
            <a:ext cx="2834640" cy="310896"/>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AWS Services Used: 20+</a:t>
            </a:r>
            <a:endParaRPr lang="en-US" sz="1200" dirty="0"/>
          </a:p>
        </p:txBody>
      </p:sp>
      <p:sp>
        <p:nvSpPr>
          <p:cNvPr id="36" name="Text 34"/>
          <p:cNvSpPr/>
          <p:nvPr/>
        </p:nvSpPr>
        <p:spPr>
          <a:xfrm>
            <a:off x="5852160" y="2880360"/>
            <a:ext cx="2834640" cy="201168"/>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VPC • ALB • EC2 • ASG</a:t>
            </a:r>
            <a:endParaRPr lang="en-US" sz="850" dirty="0"/>
          </a:p>
        </p:txBody>
      </p:sp>
      <p:sp>
        <p:nvSpPr>
          <p:cNvPr id="37" name="Text 35"/>
          <p:cNvSpPr/>
          <p:nvPr/>
        </p:nvSpPr>
        <p:spPr>
          <a:xfrm>
            <a:off x="5852160" y="3090672"/>
            <a:ext cx="2834640" cy="201168"/>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RDS • Secrets Manager • WAF</a:t>
            </a:r>
            <a:endParaRPr lang="en-US" sz="850" dirty="0"/>
          </a:p>
        </p:txBody>
      </p:sp>
      <p:sp>
        <p:nvSpPr>
          <p:cNvPr id="38" name="Text 36"/>
          <p:cNvSpPr/>
          <p:nvPr/>
        </p:nvSpPr>
        <p:spPr>
          <a:xfrm>
            <a:off x="5852160" y="3300984"/>
            <a:ext cx="2834640" cy="201168"/>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S3 • CloudFront • SQS</a:t>
            </a:r>
            <a:endParaRPr lang="en-US" sz="850" dirty="0"/>
          </a:p>
        </p:txBody>
      </p:sp>
      <p:sp>
        <p:nvSpPr>
          <p:cNvPr id="39" name="Text 37"/>
          <p:cNvSpPr/>
          <p:nvPr/>
        </p:nvSpPr>
        <p:spPr>
          <a:xfrm>
            <a:off x="5852160" y="3511296"/>
            <a:ext cx="2834640" cy="201168"/>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Lambda • SNS • CloudWatch</a:t>
            </a:r>
            <a:endParaRPr lang="en-US" sz="850" dirty="0"/>
          </a:p>
        </p:txBody>
      </p:sp>
      <p:sp>
        <p:nvSpPr>
          <p:cNvPr id="40" name="Text 38"/>
          <p:cNvSpPr/>
          <p:nvPr/>
        </p:nvSpPr>
        <p:spPr>
          <a:xfrm>
            <a:off x="5852160" y="3721608"/>
            <a:ext cx="2834640" cy="201168"/>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CloudTrail • Terraform IaC</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BlackTickets - Production-Style AWS Microservices Platform</dc:title>
  <dc:subject>PptxGenJS Presentation</dc:subject>
  <dc:creator>Cloud Engineering Team</dc:creator>
  <cp:lastModifiedBy>Cloud Engineering Team</cp:lastModifiedBy>
  <cp:revision>1</cp:revision>
  <dcterms:created xsi:type="dcterms:W3CDTF">2026-06-09T20:25:33Z</dcterms:created>
  <dcterms:modified xsi:type="dcterms:W3CDTF">2026-06-09T20:25:33Z</dcterms:modified>
</cp:coreProperties>
</file>